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4F8FC"/>
                </a:solidFill>
                <a:latin typeface="Aptos"/>
              </a:defRPr>
            </a:pPr>
            <a:r>
              <a:rPr sz="1400" b="0" i="0" u="none" strike="noStrike">
                <a:solidFill>
                  <a:srgbClr val="F4F8FC"/>
                </a:solidFill>
                <a:latin typeface="Aptos"/>
              </a:rPr>
              <a:t>Early result: realised cost per disrupted traveller ($)</a:t>
            </a:r>
          </a:p>
        </c:rich>
      </c:tx>
      <c:layout/>
      <c:overlay val="0"/>
    </c:title>
    <c:autoTitleDeleted val="0"/>
    <c:plotArea>
      <c:layout/>
      <c:barChart>
        <c:barDir val="bar"/>
        <c:grouping val="stacked"/>
        <c:varyColors val="0"/>
        <c:ser>
          <c:idx val="0"/>
          <c:order val="0"/>
          <c:tx>
            <c:strRef>
              <c:f>Sheet1!$B$1</c:f>
              <c:strCache>
                <c:ptCount val="1"/>
                <c:pt idx="0">
                  <c:v>ReRouteAI</c:v>
                </c:pt>
              </c:strCache>
            </c:strRef>
          </c:tx>
          <c:spPr>
            <a:solidFill>
              <a:srgbClr val="45D7E8"/>
            </a:solidFill>
            <a:effectLst/>
          </c:spPr>
          <c:invertIfNegative val="0"/>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ReRouteAI</c:v>
                  </c:pt>
                  <c:pt idx="1">
                    <c:v>Earliest arrival</c:v>
                  </c:pt>
                  <c:pt idx="2">
                    <c:v>Lowest fare</c:v>
                  </c:pt>
                  <c:pt idx="3">
                    <c:v>Next direct, same airline</c:v>
                  </c:pt>
                </c:lvl>
              </c:multiLvlStrCache>
            </c:multiLvlStrRef>
          </c:cat>
          <c:val>
            <c:numRef>
              <c:f>Sheet1!$B$2:$B$5</c:f>
              <c:numCache>
                <c:formatCode>General</c:formatCode>
                <c:ptCount val="4"/>
                <c:pt idx="0">
                  <c:v>729</c:v>
                </c:pt>
                <c:pt idx="1">
                  <c:v>0</c:v>
                </c:pt>
                <c:pt idx="2">
                  <c:v>0</c:v>
                </c:pt>
                <c:pt idx="3">
                  <c:v>0</c:v>
                </c:pt>
              </c:numCache>
            </c:numRef>
          </c:val>
        </c:ser>
        <c:ser>
          <c:idx val="1"/>
          <c:order val="1"/>
          <c:tx>
            <c:strRef>
              <c:f>Sheet1!$C$1</c:f>
              <c:strCache>
                <c:ptCount val="1"/>
                <c:pt idx="0">
                  <c:v>Baselines</c:v>
                </c:pt>
              </c:strCache>
            </c:strRef>
          </c:tx>
          <c:spPr>
            <a:solidFill>
              <a:srgbClr val="4A6A85"/>
            </a:solidFill>
            <a:effectLst/>
          </c:spPr>
          <c:invertIfNegative val="0"/>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ReRouteAI</c:v>
                  </c:pt>
                  <c:pt idx="1">
                    <c:v>Earliest arrival</c:v>
                  </c:pt>
                  <c:pt idx="2">
                    <c:v>Lowest fare</c:v>
                  </c:pt>
                  <c:pt idx="3">
                    <c:v>Next direct, same airline</c:v>
                  </c:pt>
                </c:lvl>
              </c:multiLvlStrCache>
            </c:multiLvlStrRef>
          </c:cat>
          <c:val>
            <c:numRef>
              <c:f>Sheet1!$C$2:$C$5</c:f>
              <c:numCache>
                <c:formatCode>General</c:formatCode>
                <c:ptCount val="4"/>
                <c:pt idx="0">
                  <c:v>0</c:v>
                </c:pt>
                <c:pt idx="1">
                  <c:v>806</c:v>
                </c:pt>
                <c:pt idx="2">
                  <c:v>866</c:v>
                </c:pt>
                <c:pt idx="3">
                  <c:v>962</c:v>
                </c:pt>
              </c:numCache>
            </c:numRef>
          </c:val>
        </c:ser>
        <c:dLbls>
          <c:numFmt formatCode="$#,##0;;" sourceLinked="0"/>
          <c:txPr>
            <a:bodyPr/>
            <a:lstStyle/>
            <a:p>
              <a:pPr>
                <a:defRPr b="1" i="0" strike="noStrike" sz="1200" u="none">
                  <a:solidFill>
                    <a:srgbClr val="071627"/>
                  </a:solidFill>
                  <a:latin typeface="Arial"/>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4F8FC"/>
                </a:solidFill>
                <a:latin typeface="Aptos"/>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1263B"/>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 few seconds). Name the team. Say up front that a working prototype already exists, so everything we propose is grounded in something that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A 95-minute inbound delay into Zürich means the traveller misses the Warsaw connection. The rebooking agent has minutes to evaluate 18 alternative recovery paths. And the stakes are statutory: under EU261, if the final arrival is more than 3 hours late the airline owes 300 euros per passenger, and 600 euros past 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Overwhelmed agents fall back on one rule: book the next flight on our own airline. That rule ignores three things: the chance the reroute itself fails, seats on rival carriers that could get the passenger there hours earlier, and the hotel, meal and compensation costs that pile up with each hour. Recent research backs this up: Lu and colleagues show the passenger transfer method drives recovery cost, and Wu and colleagues' 2025 review calls for passenger-centric, real-time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Why AI and not a better rule? Because three problems are tangled together. Delay uncertainty needs machine learning. Combinatorial routing needs graph search. Rigid regulatory rules need retrieval of the actual policy text. A static rule solves none of the three. And this is common: 21 percent of U.S. flights were delayed in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The system does three things: predict the real connection risk, score every feasible route by total cost, and recommend, while the human agent keeps the final decision. The next three slides take each step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3:40–4:50. Step 1. Instead of assuming flights land on time, we train a gradient-boosting model on U.S. BTS history. It predicts the whole delay distribution, so we can ask the exact question a connection needs: will this flight land early enough? Example: the Vienna reroute looks fine on the timetable, but the model gives it only a 65 percent chance of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4:50–6:00. Step 2. Graph search removes every impossible path: connections below the minimum connection time and full flights. Then each viable path gets one dollar score: ticket price, the value of the traveller's time, and the risk of missing a connection and falling back to a worse flight. For the airline we add the EU261 steps: zero below 3 hours, 300 euros from 3 to 4, 600 euros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6:00–8:00. Step 3, live demo. Move the priority slider: a student gets the free direct flight, a business traveller gets the paid nonstop. Switch to the airline view: buying a 260-dollar seat on a competitor is cheaper than a 600-euro compensation payment. Switch EU261 off, as for a weather delay, and the cheapest plan becomes a late-evening flight. Finally show the agent approve or override the recommendation, with the reason logged. Keep a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8:00–10:00. Roadmap: in October we train the delay model on real BTS data and build the policy retrieval. In November we build the agentic workflow, run backtests on real U.S. history, and test with five users. December is final delivery. Roles: Agnieszka owns data and the timetable, Regina the machine-learning delay model, Delice the graph search and cost optimizer, and Kofi the interface, retrieval and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10:00–11:00. We benchmark against the rules agents use today: earliest arrival, lowest fare, and the industry default of the next direct flight on our own airline. We track realised cost saved, the share of travellers arriving within 3 hours, and engine speed, about 0.2 seconds in the prototype. The early simulation shows the lowest realised cost for ReRouteAI. Be clear this is synthetic data: the real test is the backtest on 2024 BTS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Three safeguards. Human in the loop: the system is a copilot, a named agent signs off every rebooking and overrides are logged. Equity: hard priority rules for minors, medical needs and reduced mobility come before any economic value-of-time calculation. Legal integrity: the language model can only use retrieved, cited policy text, so it cannot invent passenger rights.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only. Positions ReRouteAI against the literature, including the two 2025 papers our team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questions only. Where the data comes from and what we do not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full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627"/>
        </a:solidFill>
      </p:bgPr>
    </p:bg>
    <p:spTree>
      <p:nvGrpSpPr>
        <p:cNvPr id="1" name=""/>
        <p:cNvGrpSpPr/>
        <p:nvPr/>
      </p:nvGrpSpPr>
      <p:grpSpPr>
        <a:xfrm>
          <a:off x="0" y="0"/>
          <a:ext cx="0" cy="0"/>
          <a:chOff x="0" y="0"/>
          <a:chExt cx="0" cy="0"/>
        </a:xfrm>
      </p:grpSpPr>
      <p:pic>
        <p:nvPicPr>
          <p:cNvPr id="2" name="Image 0" descr="/tmp/claude-0/-home-user-bsarfo-github-io/380a44b5-d2ae-5c84-8627-eefe537043e3/scratchpad/deck/u/ppt/media/image-1-1.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txBox="1"/>
          <p:nvPr/>
        </p:nvSpPr>
        <p:spPr>
          <a:xfrm>
            <a:off x="731520" y="10058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Aptos" pitchFamily="34" charset="0"/>
                <a:ea typeface="Aptos" pitchFamily="34" charset="-122"/>
                <a:cs typeface="Aptos" pitchFamily="34" charset="-120"/>
              </a:rPr>
              <a:t>ReRouteAI</a:t>
            </a:r>
            <a:endParaRPr lang="en-US" sz="4800" dirty="0"/>
          </a:p>
        </p:txBody>
      </p:sp>
      <p:sp>
        <p:nvSpPr>
          <p:cNvPr id="4" name="Text 1"/>
          <p:cNvSpPr txBox="1"/>
          <p:nvPr/>
        </p:nvSpPr>
        <p:spPr>
          <a:xfrm>
            <a:off x="758952" y="2011680"/>
            <a:ext cx="6675120" cy="548640"/>
          </a:xfrm>
          <a:prstGeom prst="rect">
            <a:avLst/>
          </a:prstGeom>
          <a:noFill/>
          <a:ln/>
        </p:spPr>
        <p:txBody>
          <a:bodyPr wrap="square" lIns="0" tIns="0" rIns="0" bIns="0" rtlCol="0" anchor="t"/>
          <a:lstStyle/>
          <a:p>
            <a:pPr indent="0" marL="0">
              <a:buNone/>
            </a:pPr>
            <a:r>
              <a:rPr lang="en-US" sz="2500" b="1" dirty="0">
                <a:solidFill>
                  <a:srgbClr val="F4F8FC"/>
                </a:solidFill>
                <a:latin typeface="Aptos" pitchFamily="34" charset="0"/>
                <a:ea typeface="Aptos" pitchFamily="34" charset="-122"/>
                <a:cs typeface="Aptos" pitchFamily="34" charset="-120"/>
              </a:rPr>
              <a:t>AI-assisted flight disruption recovery</a:t>
            </a:r>
            <a:endParaRPr lang="en-US" sz="2500" dirty="0"/>
          </a:p>
        </p:txBody>
      </p:sp>
      <p:sp>
        <p:nvSpPr>
          <p:cNvPr id="5" name="Text 2"/>
          <p:cNvSpPr txBox="1"/>
          <p:nvPr/>
        </p:nvSpPr>
        <p:spPr>
          <a:xfrm>
            <a:off x="758952" y="2834640"/>
            <a:ext cx="6400800" cy="365760"/>
          </a:xfrm>
          <a:prstGeom prst="rect">
            <a:avLst/>
          </a:prstGeom>
          <a:noFill/>
          <a:ln/>
        </p:spPr>
        <p:txBody>
          <a:bodyPr wrap="square" lIns="0" tIns="0" rIns="0" bIns="0" rtlCol="0" anchor="t"/>
          <a:lstStyle/>
          <a:p>
            <a:pPr indent="0" marL="0">
              <a:buNone/>
            </a:pPr>
            <a:r>
              <a:rPr lang="en-US" sz="1600" dirty="0">
                <a:solidFill>
                  <a:srgbClr val="AFC6D7"/>
                </a:solidFill>
                <a:latin typeface="Aptos" pitchFamily="34" charset="0"/>
                <a:ea typeface="Aptos" pitchFamily="34" charset="-122"/>
                <a:cs typeface="Aptos" pitchFamily="34" charset="-120"/>
              </a:rPr>
              <a:t>Business AI Application  |  Project proposal</a:t>
            </a:r>
            <a:endParaRPr lang="en-US" sz="1600" dirty="0"/>
          </a:p>
        </p:txBody>
      </p:sp>
      <p:sp>
        <p:nvSpPr>
          <p:cNvPr id="6" name="Text 3"/>
          <p:cNvSpPr txBox="1"/>
          <p:nvPr/>
        </p:nvSpPr>
        <p:spPr>
          <a:xfrm>
            <a:off x="758952" y="3246120"/>
            <a:ext cx="6400800" cy="365760"/>
          </a:xfrm>
          <a:prstGeom prst="rect">
            <a:avLst/>
          </a:prstGeom>
          <a:noFill/>
          <a:ln/>
        </p:spPr>
        <p:txBody>
          <a:bodyPr wrap="square" lIns="0" tIns="0" rIns="0" bIns="0" rtlCol="0" anchor="t"/>
          <a:lstStyle/>
          <a:p>
            <a:pPr indent="0" marL="0">
              <a:buNone/>
            </a:pPr>
            <a:r>
              <a:rPr lang="en-US" sz="1600" dirty="0">
                <a:solidFill>
                  <a:srgbClr val="AFC6D7"/>
                </a:solidFill>
                <a:latin typeface="Aptos" pitchFamily="34" charset="0"/>
                <a:ea typeface="Aptos" pitchFamily="34" charset="-122"/>
                <a:cs typeface="Aptos" pitchFamily="34" charset="-120"/>
              </a:rPr>
              <a:t>MIS520 · Worcester Polytechnic Institute · Fall 2026</a:t>
            </a:r>
            <a:endParaRPr lang="en-US" sz="1600" dirty="0"/>
          </a:p>
        </p:txBody>
      </p:sp>
      <p:sp>
        <p:nvSpPr>
          <p:cNvPr id="7" name="Text 4"/>
          <p:cNvSpPr txBox="1"/>
          <p:nvPr/>
        </p:nvSpPr>
        <p:spPr>
          <a:xfrm>
            <a:off x="758952" y="3749040"/>
            <a:ext cx="6400800" cy="365760"/>
          </a:xfrm>
          <a:prstGeom prst="rect">
            <a:avLst/>
          </a:prstGeom>
          <a:noFill/>
          <a:ln/>
        </p:spPr>
        <p:txBody>
          <a:bodyPr wrap="square" lIns="0" tIns="0" rIns="0" bIns="0" rtlCol="0" anchor="t"/>
          <a:lstStyle/>
          <a:p>
            <a:pPr indent="0" marL="0">
              <a:buNone/>
            </a:pPr>
            <a:r>
              <a:rPr lang="en-US" sz="1600" b="1" dirty="0">
                <a:solidFill>
                  <a:srgbClr val="F4F8FC"/>
                </a:solidFill>
                <a:latin typeface="Aptos" pitchFamily="34" charset="0"/>
                <a:ea typeface="Aptos" pitchFamily="34" charset="-122"/>
                <a:cs typeface="Aptos" pitchFamily="34" charset="-120"/>
              </a:rPr>
              <a:t>Agnieszka · Regina · Delice · Kofi</a:t>
            </a:r>
            <a:endParaRPr lang="en-US" sz="1600" dirty="0"/>
          </a:p>
        </p:txBody>
      </p:sp>
      <p:sp>
        <p:nvSpPr>
          <p:cNvPr id="8" name="Text 5"/>
          <p:cNvSpPr txBox="1"/>
          <p:nvPr/>
        </p:nvSpPr>
        <p:spPr>
          <a:xfrm>
            <a:off x="758952" y="6035040"/>
            <a:ext cx="8229600" cy="274320"/>
          </a:xfrm>
          <a:prstGeom prst="rect">
            <a:avLst/>
          </a:prstGeom>
          <a:noFill/>
          <a:ln/>
        </p:spPr>
        <p:txBody>
          <a:bodyPr wrap="square" lIns="0" tIns="0" rIns="0" bIns="0" rtlCol="0" anchor="t"/>
          <a:lstStyle/>
          <a:p>
            <a:pPr indent="0" marL="0">
              <a:buNone/>
            </a:pPr>
            <a:r>
              <a:rPr lang="en-US" sz="1200" b="1" spc="200" kern="0" dirty="0">
                <a:solidFill>
                  <a:srgbClr val="45D7E8"/>
                </a:solidFill>
                <a:latin typeface="Aptos" pitchFamily="34" charset="0"/>
                <a:ea typeface="Aptos" pitchFamily="34" charset="-122"/>
                <a:cs typeface="Aptos" pitchFamily="34" charset="-120"/>
              </a:rPr>
              <a:t>WORKING PROTOTYPE INCLUDED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0:00–1:00 · PROBLEM</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The crisis: a missed connection</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Minutes to decide between 18 reroutes, with compensation on the line</a:t>
            </a:r>
            <a:endParaRPr lang="en-US" sz="2000" dirty="0"/>
          </a:p>
        </p:txBody>
      </p:sp>
      <p:sp>
        <p:nvSpPr>
          <p:cNvPr id="6" name="Shape 4"/>
          <p:cNvSpPr/>
          <p:nvPr/>
        </p:nvSpPr>
        <p:spPr>
          <a:xfrm>
            <a:off x="1508760" y="2743200"/>
            <a:ext cx="3200400" cy="0"/>
          </a:xfrm>
          <a:prstGeom prst="line">
            <a:avLst/>
          </a:prstGeom>
          <a:noFill/>
          <a:ln w="38100">
            <a:solidFill>
              <a:srgbClr val="45D7E8"/>
            </a:solidFill>
            <a:prstDash val="solid"/>
          </a:ln>
        </p:spPr>
      </p:sp>
      <p:sp>
        <p:nvSpPr>
          <p:cNvPr id="7" name="Shape 5"/>
          <p:cNvSpPr/>
          <p:nvPr/>
        </p:nvSpPr>
        <p:spPr>
          <a:xfrm>
            <a:off x="4709160" y="2743200"/>
            <a:ext cx="3200400" cy="0"/>
          </a:xfrm>
          <a:prstGeom prst="line">
            <a:avLst/>
          </a:prstGeom>
          <a:noFill/>
          <a:ln w="38100">
            <a:solidFill>
              <a:srgbClr val="E0485F"/>
            </a:solidFill>
            <a:prstDash val="dash"/>
          </a:ln>
        </p:spPr>
      </p:sp>
      <p:sp>
        <p:nvSpPr>
          <p:cNvPr id="8" name="Shape 6"/>
          <p:cNvSpPr/>
          <p:nvPr/>
        </p:nvSpPr>
        <p:spPr>
          <a:xfrm>
            <a:off x="1280160" y="2514600"/>
            <a:ext cx="457200" cy="457200"/>
          </a:xfrm>
          <a:prstGeom prst="ellipse">
            <a:avLst/>
          </a:prstGeom>
          <a:solidFill>
            <a:srgbClr val="071627"/>
          </a:solidFill>
          <a:ln w="38100">
            <a:solidFill>
              <a:srgbClr val="45D7E8"/>
            </a:solidFill>
            <a:prstDash val="solid"/>
          </a:ln>
        </p:spPr>
      </p:sp>
      <p:sp>
        <p:nvSpPr>
          <p:cNvPr id="9" name="Text 7"/>
          <p:cNvSpPr txBox="1"/>
          <p:nvPr/>
        </p:nvSpPr>
        <p:spPr>
          <a:xfrm>
            <a:off x="9144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BOS</a:t>
            </a:r>
            <a:endParaRPr lang="en-US" sz="1800" dirty="0"/>
          </a:p>
        </p:txBody>
      </p:sp>
      <p:sp>
        <p:nvSpPr>
          <p:cNvPr id="10" name="Shape 8"/>
          <p:cNvSpPr/>
          <p:nvPr/>
        </p:nvSpPr>
        <p:spPr>
          <a:xfrm>
            <a:off x="4480560" y="2514600"/>
            <a:ext cx="457200" cy="457200"/>
          </a:xfrm>
          <a:prstGeom prst="ellipse">
            <a:avLst/>
          </a:prstGeom>
          <a:solidFill>
            <a:srgbClr val="071627"/>
          </a:solidFill>
          <a:ln w="38100">
            <a:solidFill>
              <a:srgbClr val="E0485F"/>
            </a:solidFill>
            <a:prstDash val="solid"/>
          </a:ln>
        </p:spPr>
      </p:sp>
      <p:sp>
        <p:nvSpPr>
          <p:cNvPr id="11" name="Text 9"/>
          <p:cNvSpPr txBox="1"/>
          <p:nvPr/>
        </p:nvSpPr>
        <p:spPr>
          <a:xfrm>
            <a:off x="41148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ZRH</a:t>
            </a:r>
            <a:endParaRPr lang="en-US" sz="1800" dirty="0"/>
          </a:p>
        </p:txBody>
      </p:sp>
      <p:sp>
        <p:nvSpPr>
          <p:cNvPr id="12" name="Shape 10"/>
          <p:cNvSpPr/>
          <p:nvPr/>
        </p:nvSpPr>
        <p:spPr>
          <a:xfrm>
            <a:off x="7680960" y="2514600"/>
            <a:ext cx="457200" cy="457200"/>
          </a:xfrm>
          <a:prstGeom prst="ellipse">
            <a:avLst/>
          </a:prstGeom>
          <a:solidFill>
            <a:srgbClr val="071627"/>
          </a:solidFill>
          <a:ln w="38100">
            <a:solidFill>
              <a:srgbClr val="AFC6D7"/>
            </a:solidFill>
            <a:prstDash val="solid"/>
          </a:ln>
        </p:spPr>
      </p:sp>
      <p:sp>
        <p:nvSpPr>
          <p:cNvPr id="13" name="Text 11"/>
          <p:cNvSpPr txBox="1"/>
          <p:nvPr/>
        </p:nvSpPr>
        <p:spPr>
          <a:xfrm>
            <a:off x="7315200" y="3063240"/>
            <a:ext cx="1188720" cy="365760"/>
          </a:xfrm>
          <a:prstGeom prst="rect">
            <a:avLst/>
          </a:prstGeom>
          <a:noFill/>
          <a:ln/>
        </p:spPr>
        <p:txBody>
          <a:bodyPr wrap="square" lIns="0" tIns="0" rIns="0" bIns="0" rtlCol="0" anchor="t"/>
          <a:lstStyle/>
          <a:p>
            <a:pPr algn="ctr" indent="0" marL="0">
              <a:buNone/>
            </a:pPr>
            <a:r>
              <a:rPr lang="en-US" sz="1800" b="1" dirty="0">
                <a:solidFill>
                  <a:srgbClr val="F4F8FC"/>
                </a:solidFill>
                <a:latin typeface="Aptos" pitchFamily="34" charset="0"/>
                <a:ea typeface="Aptos" pitchFamily="34" charset="-122"/>
                <a:cs typeface="Aptos" pitchFamily="34" charset="-120"/>
              </a:rPr>
              <a:t>WAW</a:t>
            </a:r>
            <a:endParaRPr lang="en-US" sz="1800" dirty="0"/>
          </a:p>
        </p:txBody>
      </p:sp>
      <p:sp>
        <p:nvSpPr>
          <p:cNvPr id="14" name="Text 12"/>
          <p:cNvSpPr txBox="1"/>
          <p:nvPr/>
        </p:nvSpPr>
        <p:spPr>
          <a:xfrm>
            <a:off x="1920240" y="2103120"/>
            <a:ext cx="2743200" cy="320040"/>
          </a:xfrm>
          <a:prstGeom prst="rect">
            <a:avLst/>
          </a:prstGeom>
          <a:noFill/>
          <a:ln/>
        </p:spPr>
        <p:txBody>
          <a:bodyPr wrap="square" lIns="0" tIns="0" rIns="0" bIns="0" rtlCol="0" anchor="t"/>
          <a:lstStyle/>
          <a:p>
            <a:pPr algn="ctr" indent="0" marL="0">
              <a:buNone/>
            </a:pPr>
            <a:r>
              <a:rPr lang="en-US" sz="1400" dirty="0">
                <a:solidFill>
                  <a:srgbClr val="AFC6D7"/>
                </a:solidFill>
                <a:latin typeface="Aptos" pitchFamily="34" charset="0"/>
                <a:ea typeface="Aptos" pitchFamily="34" charset="-122"/>
                <a:cs typeface="Aptos" pitchFamily="34" charset="-120"/>
              </a:rPr>
              <a:t>LX53 lands 95 min late</a:t>
            </a:r>
            <a:endParaRPr lang="en-US" sz="1400" dirty="0"/>
          </a:p>
        </p:txBody>
      </p:sp>
      <p:sp>
        <p:nvSpPr>
          <p:cNvPr id="15" name="Text 13"/>
          <p:cNvSpPr txBox="1"/>
          <p:nvPr/>
        </p:nvSpPr>
        <p:spPr>
          <a:xfrm>
            <a:off x="4937760" y="2103120"/>
            <a:ext cx="3108960" cy="320040"/>
          </a:xfrm>
          <a:prstGeom prst="rect">
            <a:avLst/>
          </a:prstGeom>
          <a:noFill/>
          <a:ln/>
        </p:spPr>
        <p:txBody>
          <a:bodyPr wrap="square" lIns="0" tIns="0" rIns="0" bIns="0" rtlCol="0" anchor="t"/>
          <a:lstStyle/>
          <a:p>
            <a:pPr algn="ctr" indent="0" marL="0">
              <a:buNone/>
            </a:pPr>
            <a:r>
              <a:rPr lang="en-US" sz="1400" dirty="0">
                <a:solidFill>
                  <a:srgbClr val="E0485F"/>
                </a:solidFill>
                <a:latin typeface="Aptos" pitchFamily="34" charset="0"/>
                <a:ea typeface="Aptos" pitchFamily="34" charset="-122"/>
                <a:cs typeface="Aptos" pitchFamily="34" charset="-120"/>
              </a:rPr>
              <a:t>Warsaw connection has already left</a:t>
            </a:r>
            <a:endParaRPr lang="en-US" sz="1400" dirty="0"/>
          </a:p>
        </p:txBody>
      </p:sp>
      <p:sp>
        <p:nvSpPr>
          <p:cNvPr id="16" name="Text 14"/>
          <p:cNvSpPr txBox="1"/>
          <p:nvPr/>
        </p:nvSpPr>
        <p:spPr>
          <a:xfrm>
            <a:off x="6126480" y="2532888"/>
            <a:ext cx="365760" cy="411480"/>
          </a:xfrm>
          <a:prstGeom prst="rect">
            <a:avLst/>
          </a:prstGeom>
          <a:noFill/>
          <a:ln/>
        </p:spPr>
        <p:txBody>
          <a:bodyPr wrap="square" lIns="0" tIns="0" rIns="0" bIns="0" rtlCol="0" anchor="ctr"/>
          <a:lstStyle/>
          <a:p>
            <a:pPr algn="ctr" indent="0" marL="0">
              <a:buNone/>
            </a:pPr>
            <a:r>
              <a:rPr lang="en-US" sz="2200" b="1" dirty="0">
                <a:solidFill>
                  <a:srgbClr val="E0485F"/>
                </a:solidFill>
                <a:latin typeface="Aptos" pitchFamily="34" charset="0"/>
                <a:ea typeface="Aptos" pitchFamily="34" charset="-122"/>
                <a:cs typeface="Aptos" pitchFamily="34" charset="-120"/>
              </a:rPr>
              <a:t>✕</a:t>
            </a:r>
            <a:endParaRPr lang="en-US" sz="2200" dirty="0"/>
          </a:p>
        </p:txBody>
      </p:sp>
      <p:sp>
        <p:nvSpPr>
          <p:cNvPr id="17" name="Text 15"/>
          <p:cNvSpPr txBox="1"/>
          <p:nvPr/>
        </p:nvSpPr>
        <p:spPr>
          <a:xfrm>
            <a:off x="8503920" y="2331720"/>
            <a:ext cx="3108960" cy="1005840"/>
          </a:xfrm>
          <a:prstGeom prst="rect">
            <a:avLst/>
          </a:prstGeom>
          <a:noFill/>
          <a:ln/>
        </p:spPr>
        <p:txBody>
          <a:bodyPr wrap="square" lIns="0" tIns="0" rIns="0" bIns="0" rtlCol="0" anchor="t"/>
          <a:lstStyle/>
          <a:p>
            <a:pPr indent="0" marL="0">
              <a:buNone/>
            </a:pPr>
            <a:r>
              <a:rPr lang="en-US" sz="1600" b="1" dirty="0">
                <a:solidFill>
                  <a:srgbClr val="F4F8FC"/>
                </a:solidFill>
                <a:latin typeface="Aptos" pitchFamily="34" charset="0"/>
                <a:ea typeface="Aptos" pitchFamily="34" charset="-122"/>
                <a:cs typeface="Aptos" pitchFamily="34" charset="-120"/>
              </a:rPr>
              <a:t>The agent has minutes to pick one of 18 feasible recovery paths.</a:t>
            </a:r>
            <a:endParaRPr lang="en-US" sz="1600" dirty="0"/>
          </a:p>
        </p:txBody>
      </p:sp>
      <p:sp>
        <p:nvSpPr>
          <p:cNvPr id="18" name="Shape 16"/>
          <p:cNvSpPr/>
          <p:nvPr/>
        </p:nvSpPr>
        <p:spPr>
          <a:xfrm>
            <a:off x="594360" y="3977640"/>
            <a:ext cx="3474720" cy="1828800"/>
          </a:xfrm>
          <a:prstGeom prst="roundRect">
            <a:avLst>
              <a:gd name="adj" fmla="val 4000"/>
            </a:avLst>
          </a:prstGeom>
          <a:solidFill>
            <a:srgbClr val="11263B"/>
          </a:solidFill>
          <a:ln w="12700">
            <a:solidFill>
              <a:srgbClr val="28536B"/>
            </a:solidFill>
            <a:prstDash val="solid"/>
          </a:ln>
        </p:spPr>
      </p:sp>
      <p:sp>
        <p:nvSpPr>
          <p:cNvPr id="19" name="Text 17"/>
          <p:cNvSpPr txBox="1"/>
          <p:nvPr/>
        </p:nvSpPr>
        <p:spPr>
          <a:xfrm>
            <a:off x="868680" y="4114800"/>
            <a:ext cx="3017520" cy="777240"/>
          </a:xfrm>
          <a:prstGeom prst="rect">
            <a:avLst/>
          </a:prstGeom>
          <a:noFill/>
          <a:ln/>
        </p:spPr>
        <p:txBody>
          <a:bodyPr wrap="square" lIns="0" tIns="0" rIns="0" bIns="0" rtlCol="0" anchor="t"/>
          <a:lstStyle/>
          <a:p>
            <a:pPr indent="0" marL="0">
              <a:buNone/>
            </a:pPr>
            <a:r>
              <a:rPr lang="en-US" sz="3800" b="1" dirty="0">
                <a:solidFill>
                  <a:srgbClr val="45D7E8"/>
                </a:solidFill>
                <a:latin typeface="Aptos" pitchFamily="34" charset="0"/>
                <a:ea typeface="Aptos" pitchFamily="34" charset="-122"/>
                <a:cs typeface="Aptos" pitchFamily="34" charset="-120"/>
              </a:rPr>
              <a:t>95 min</a:t>
            </a:r>
            <a:endParaRPr lang="en-US" sz="3800" dirty="0"/>
          </a:p>
        </p:txBody>
      </p:sp>
      <p:sp>
        <p:nvSpPr>
          <p:cNvPr id="20" name="Text 18"/>
          <p:cNvSpPr txBox="1"/>
          <p:nvPr/>
        </p:nvSpPr>
        <p:spPr>
          <a:xfrm>
            <a:off x="86868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inbound delay into Zürich; the traveller can board again at 09:50</a:t>
            </a:r>
            <a:endParaRPr lang="en-US" sz="1400" dirty="0"/>
          </a:p>
        </p:txBody>
      </p:sp>
      <p:sp>
        <p:nvSpPr>
          <p:cNvPr id="21" name="Shape 19"/>
          <p:cNvSpPr/>
          <p:nvPr/>
        </p:nvSpPr>
        <p:spPr>
          <a:xfrm>
            <a:off x="4343400" y="3977640"/>
            <a:ext cx="3474720" cy="1828800"/>
          </a:xfrm>
          <a:prstGeom prst="roundRect">
            <a:avLst>
              <a:gd name="adj" fmla="val 4000"/>
            </a:avLst>
          </a:prstGeom>
          <a:solidFill>
            <a:srgbClr val="11263B"/>
          </a:solidFill>
          <a:ln w="12700">
            <a:solidFill>
              <a:srgbClr val="28536B"/>
            </a:solidFill>
            <a:prstDash val="solid"/>
          </a:ln>
        </p:spPr>
      </p:sp>
      <p:sp>
        <p:nvSpPr>
          <p:cNvPr id="22" name="Text 20"/>
          <p:cNvSpPr txBox="1"/>
          <p:nvPr/>
        </p:nvSpPr>
        <p:spPr>
          <a:xfrm>
            <a:off x="4617720" y="4114800"/>
            <a:ext cx="3017520" cy="777240"/>
          </a:xfrm>
          <a:prstGeom prst="rect">
            <a:avLst/>
          </a:prstGeom>
          <a:noFill/>
          <a:ln/>
        </p:spPr>
        <p:txBody>
          <a:bodyPr wrap="square" lIns="0" tIns="0" rIns="0" bIns="0" rtlCol="0" anchor="t"/>
          <a:lstStyle/>
          <a:p>
            <a:pPr indent="0" marL="0">
              <a:buNone/>
            </a:pPr>
            <a:r>
              <a:rPr lang="en-US" sz="3800" b="1" dirty="0">
                <a:solidFill>
                  <a:srgbClr val="45D7E8"/>
                </a:solidFill>
                <a:latin typeface="Aptos" pitchFamily="34" charset="0"/>
                <a:ea typeface="Aptos" pitchFamily="34" charset="-122"/>
                <a:cs typeface="Aptos" pitchFamily="34" charset="-120"/>
              </a:rPr>
              <a:t>18</a:t>
            </a:r>
            <a:endParaRPr lang="en-US" sz="3800" dirty="0"/>
          </a:p>
        </p:txBody>
      </p:sp>
      <p:sp>
        <p:nvSpPr>
          <p:cNvPr id="23" name="Text 21"/>
          <p:cNvSpPr txBox="1"/>
          <p:nvPr/>
        </p:nvSpPr>
        <p:spPr>
          <a:xfrm>
            <a:off x="461772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feasible recovery paths, each with a different risk and cost</a:t>
            </a:r>
            <a:endParaRPr lang="en-US" sz="1400" dirty="0"/>
          </a:p>
        </p:txBody>
      </p:sp>
      <p:sp>
        <p:nvSpPr>
          <p:cNvPr id="24" name="Shape 22"/>
          <p:cNvSpPr/>
          <p:nvPr/>
        </p:nvSpPr>
        <p:spPr>
          <a:xfrm>
            <a:off x="8092440" y="3977640"/>
            <a:ext cx="3474720" cy="1828800"/>
          </a:xfrm>
          <a:prstGeom prst="roundRect">
            <a:avLst>
              <a:gd name="adj" fmla="val 4000"/>
            </a:avLst>
          </a:prstGeom>
          <a:solidFill>
            <a:srgbClr val="11263B"/>
          </a:solidFill>
          <a:ln w="12700">
            <a:solidFill>
              <a:srgbClr val="28536B"/>
            </a:solidFill>
            <a:prstDash val="solid"/>
          </a:ln>
        </p:spPr>
      </p:sp>
      <p:sp>
        <p:nvSpPr>
          <p:cNvPr id="25" name="Text 23"/>
          <p:cNvSpPr txBox="1"/>
          <p:nvPr/>
        </p:nvSpPr>
        <p:spPr>
          <a:xfrm>
            <a:off x="8366760" y="4114800"/>
            <a:ext cx="3017520" cy="777240"/>
          </a:xfrm>
          <a:prstGeom prst="rect">
            <a:avLst/>
          </a:prstGeom>
          <a:noFill/>
          <a:ln/>
        </p:spPr>
        <p:txBody>
          <a:bodyPr wrap="square" lIns="0" tIns="0" rIns="0" bIns="0" rtlCol="0" anchor="t"/>
          <a:lstStyle/>
          <a:p>
            <a:pPr indent="0" marL="0">
              <a:buNone/>
            </a:pPr>
            <a:r>
              <a:rPr lang="en-US" sz="3800" b="1" dirty="0">
                <a:solidFill>
                  <a:srgbClr val="F2B84B"/>
                </a:solidFill>
                <a:latin typeface="Aptos" pitchFamily="34" charset="0"/>
                <a:ea typeface="Aptos" pitchFamily="34" charset="-122"/>
                <a:cs typeface="Aptos" pitchFamily="34" charset="-120"/>
              </a:rPr>
              <a:t>€300–€600</a:t>
            </a:r>
            <a:endParaRPr lang="en-US" sz="3800" dirty="0"/>
          </a:p>
        </p:txBody>
      </p:sp>
      <p:sp>
        <p:nvSpPr>
          <p:cNvPr id="26" name="Text 24"/>
          <p:cNvSpPr txBox="1"/>
          <p:nvPr/>
        </p:nvSpPr>
        <p:spPr>
          <a:xfrm>
            <a:off x="8366760" y="4937760"/>
            <a:ext cx="3017520" cy="7772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EU261 compensation per passenger if final arrival is 3–4+ hours late</a:t>
            </a:r>
            <a:endParaRPr lang="en-US" sz="1400" dirty="0"/>
          </a:p>
        </p:txBody>
      </p:sp>
      <p:sp>
        <p:nvSpPr>
          <p:cNvPr id="27" name="Text 2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Scenario from a teammate's trip · EU261: Regulation (EC) No 261/2004 (Boston–Warsaw journey &gt; 3,500 km)</a:t>
            </a:r>
            <a:endParaRPr lang="en-US" sz="1100" dirty="0"/>
          </a:p>
        </p:txBody>
      </p:sp>
      <p:sp>
        <p:nvSpPr>
          <p:cNvPr id="28" name="Text 2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1:00–2:00 · PROBLEM</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The agent dilemma</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Under pressure, agents default to “book the next flight on our airline”</a:t>
            </a:r>
            <a:endParaRPr lang="en-US" sz="2000" dirty="0"/>
          </a:p>
        </p:txBody>
      </p:sp>
      <p:sp>
        <p:nvSpPr>
          <p:cNvPr id="6" name="Shape 4"/>
          <p:cNvSpPr/>
          <p:nvPr/>
        </p:nvSpPr>
        <p:spPr>
          <a:xfrm>
            <a:off x="594360" y="2103120"/>
            <a:ext cx="5394960" cy="2743200"/>
          </a:xfrm>
          <a:prstGeom prst="roundRect">
            <a:avLst>
              <a:gd name="adj" fmla="val 2667"/>
            </a:avLst>
          </a:prstGeom>
          <a:solidFill>
            <a:srgbClr val="11263B"/>
          </a:solidFill>
          <a:ln w="12700">
            <a:solidFill>
              <a:srgbClr val="28536B"/>
            </a:solidFill>
            <a:prstDash val="solid"/>
          </a:ln>
        </p:spPr>
      </p:sp>
      <p:sp>
        <p:nvSpPr>
          <p:cNvPr id="7" name="Text 5"/>
          <p:cNvSpPr txBox="1"/>
          <p:nvPr/>
        </p:nvSpPr>
        <p:spPr>
          <a:xfrm>
            <a:off x="868680" y="2240280"/>
            <a:ext cx="493776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What the default rule ignores</a:t>
            </a:r>
            <a:endParaRPr lang="en-US" sz="1800" dirty="0"/>
          </a:p>
        </p:txBody>
      </p:sp>
      <p:sp>
        <p:nvSpPr>
          <p:cNvPr id="8" name="Text 6"/>
          <p:cNvSpPr txBox="1"/>
          <p:nvPr/>
        </p:nvSpPr>
        <p:spPr>
          <a:xfrm>
            <a:off x="868680" y="2697480"/>
            <a:ext cx="4937760" cy="292608"/>
          </a:xfrm>
          <a:prstGeom prst="rect">
            <a:avLst/>
          </a:prstGeom>
          <a:noFill/>
          <a:ln/>
        </p:spPr>
        <p:txBody>
          <a:bodyPr wrap="square" lIns="0" tIns="0" rIns="0" bIns="0" rtlCol="0" anchor="t"/>
          <a:lstStyle/>
          <a:p>
            <a:pPr indent="0" marL="0">
              <a:buNone/>
            </a:pPr>
            <a:r>
              <a:rPr lang="en-US" sz="1500" b="1" dirty="0">
                <a:solidFill>
                  <a:srgbClr val="F4F8FC"/>
                </a:solidFill>
                <a:latin typeface="Aptos" pitchFamily="34" charset="0"/>
                <a:ea typeface="Aptos" pitchFamily="34" charset="-122"/>
                <a:cs typeface="Aptos" pitchFamily="34" charset="-120"/>
              </a:rPr>
              <a:t>Connection failure risk</a:t>
            </a:r>
            <a:endParaRPr lang="en-US" sz="1500" dirty="0"/>
          </a:p>
        </p:txBody>
      </p:sp>
      <p:sp>
        <p:nvSpPr>
          <p:cNvPr id="9" name="Text 7"/>
          <p:cNvSpPr txBox="1"/>
          <p:nvPr/>
        </p:nvSpPr>
        <p:spPr>
          <a:xfrm>
            <a:off x="868680" y="2990088"/>
            <a:ext cx="4937760" cy="384048"/>
          </a:xfrm>
          <a:prstGeom prst="rect">
            <a:avLst/>
          </a:prstGeom>
          <a:noFill/>
          <a:ln/>
        </p:spPr>
        <p:txBody>
          <a:bodyPr wrap="square" lIns="0" tIns="0" rIns="0" bIns="0" rtlCol="0" anchor="t"/>
          <a:lstStyle/>
          <a:p>
            <a:pPr indent="0" marL="0">
              <a:buNone/>
            </a:pPr>
            <a:r>
              <a:rPr lang="en-US" sz="1250" dirty="0">
                <a:solidFill>
                  <a:srgbClr val="AFC6D7"/>
                </a:solidFill>
                <a:latin typeface="Aptos" pitchFamily="34" charset="0"/>
                <a:ea typeface="Aptos" pitchFamily="34" charset="-122"/>
                <a:cs typeface="Aptos" pitchFamily="34" charset="-120"/>
              </a:rPr>
              <a:t>A tight reroute can fail too, and then the passenger waits again</a:t>
            </a:r>
            <a:endParaRPr lang="en-US" sz="1250" dirty="0"/>
          </a:p>
        </p:txBody>
      </p:sp>
      <p:sp>
        <p:nvSpPr>
          <p:cNvPr id="10" name="Text 8"/>
          <p:cNvSpPr txBox="1"/>
          <p:nvPr/>
        </p:nvSpPr>
        <p:spPr>
          <a:xfrm>
            <a:off x="868680" y="3383280"/>
            <a:ext cx="4937760" cy="292608"/>
          </a:xfrm>
          <a:prstGeom prst="rect">
            <a:avLst/>
          </a:prstGeom>
          <a:noFill/>
          <a:ln/>
        </p:spPr>
        <p:txBody>
          <a:bodyPr wrap="square" lIns="0" tIns="0" rIns="0" bIns="0" rtlCol="0" anchor="t"/>
          <a:lstStyle/>
          <a:p>
            <a:pPr indent="0" marL="0">
              <a:buNone/>
            </a:pPr>
            <a:r>
              <a:rPr lang="en-US" sz="1500" b="1" dirty="0">
                <a:solidFill>
                  <a:srgbClr val="F4F8FC"/>
                </a:solidFill>
                <a:latin typeface="Aptos" pitchFamily="34" charset="0"/>
                <a:ea typeface="Aptos" pitchFamily="34" charset="-122"/>
                <a:cs typeface="Aptos" pitchFamily="34" charset="-120"/>
              </a:rPr>
              <a:t>Seats on rival carriers</a:t>
            </a:r>
            <a:endParaRPr lang="en-US" sz="1500" dirty="0"/>
          </a:p>
        </p:txBody>
      </p:sp>
      <p:sp>
        <p:nvSpPr>
          <p:cNvPr id="11" name="Text 9"/>
          <p:cNvSpPr txBox="1"/>
          <p:nvPr/>
        </p:nvSpPr>
        <p:spPr>
          <a:xfrm>
            <a:off x="868680" y="3675888"/>
            <a:ext cx="4937760" cy="384048"/>
          </a:xfrm>
          <a:prstGeom prst="rect">
            <a:avLst/>
          </a:prstGeom>
          <a:noFill/>
          <a:ln/>
        </p:spPr>
        <p:txBody>
          <a:bodyPr wrap="square" lIns="0" tIns="0" rIns="0" bIns="0" rtlCol="0" anchor="t"/>
          <a:lstStyle/>
          <a:p>
            <a:pPr indent="0" marL="0">
              <a:buNone/>
            </a:pPr>
            <a:r>
              <a:rPr lang="en-US" sz="1250" dirty="0">
                <a:solidFill>
                  <a:srgbClr val="AFC6D7"/>
                </a:solidFill>
                <a:latin typeface="Aptos" pitchFamily="34" charset="0"/>
                <a:ea typeface="Aptos" pitchFamily="34" charset="-122"/>
                <a:cs typeface="Aptos" pitchFamily="34" charset="-120"/>
              </a:rPr>
              <a:t>A competitor seat may land hours earlier for less than the compensation</a:t>
            </a:r>
            <a:endParaRPr lang="en-US" sz="1250" dirty="0"/>
          </a:p>
        </p:txBody>
      </p:sp>
      <p:sp>
        <p:nvSpPr>
          <p:cNvPr id="12" name="Text 10"/>
          <p:cNvSpPr txBox="1"/>
          <p:nvPr/>
        </p:nvSpPr>
        <p:spPr>
          <a:xfrm>
            <a:off x="868680" y="4069080"/>
            <a:ext cx="4937760" cy="292608"/>
          </a:xfrm>
          <a:prstGeom prst="rect">
            <a:avLst/>
          </a:prstGeom>
          <a:noFill/>
          <a:ln/>
        </p:spPr>
        <p:txBody>
          <a:bodyPr wrap="square" lIns="0" tIns="0" rIns="0" bIns="0" rtlCol="0" anchor="t"/>
          <a:lstStyle/>
          <a:p>
            <a:pPr indent="0" marL="0">
              <a:buNone/>
            </a:pPr>
            <a:r>
              <a:rPr lang="en-US" sz="1500" b="1" dirty="0">
                <a:solidFill>
                  <a:srgbClr val="F4F8FC"/>
                </a:solidFill>
                <a:latin typeface="Aptos" pitchFamily="34" charset="0"/>
                <a:ea typeface="Aptos" pitchFamily="34" charset="-122"/>
                <a:cs typeface="Aptos" pitchFamily="34" charset="-120"/>
              </a:rPr>
              <a:t>Cascading costs</a:t>
            </a:r>
            <a:endParaRPr lang="en-US" sz="1500" dirty="0"/>
          </a:p>
        </p:txBody>
      </p:sp>
      <p:sp>
        <p:nvSpPr>
          <p:cNvPr id="13" name="Text 11"/>
          <p:cNvSpPr txBox="1"/>
          <p:nvPr/>
        </p:nvSpPr>
        <p:spPr>
          <a:xfrm>
            <a:off x="868680" y="4361688"/>
            <a:ext cx="4937760" cy="384048"/>
          </a:xfrm>
          <a:prstGeom prst="rect">
            <a:avLst/>
          </a:prstGeom>
          <a:noFill/>
          <a:ln/>
        </p:spPr>
        <p:txBody>
          <a:bodyPr wrap="square" lIns="0" tIns="0" rIns="0" bIns="0" rtlCol="0" anchor="t"/>
          <a:lstStyle/>
          <a:p>
            <a:pPr indent="0" marL="0">
              <a:buNone/>
            </a:pPr>
            <a:r>
              <a:rPr lang="en-US" sz="1250" dirty="0">
                <a:solidFill>
                  <a:srgbClr val="AFC6D7"/>
                </a:solidFill>
                <a:latin typeface="Aptos" pitchFamily="34" charset="0"/>
                <a:ea typeface="Aptos" pitchFamily="34" charset="-122"/>
                <a:cs typeface="Aptos" pitchFamily="34" charset="-120"/>
              </a:rPr>
              <a:t>Hotel, meals and EU261 grow with every hour of delay</a:t>
            </a:r>
            <a:endParaRPr lang="en-US" sz="1250" dirty="0"/>
          </a:p>
        </p:txBody>
      </p:sp>
      <p:sp>
        <p:nvSpPr>
          <p:cNvPr id="14" name="Shape 12"/>
          <p:cNvSpPr/>
          <p:nvPr/>
        </p:nvSpPr>
        <p:spPr>
          <a:xfrm>
            <a:off x="6263640" y="2103120"/>
            <a:ext cx="5303520" cy="2743200"/>
          </a:xfrm>
          <a:prstGeom prst="roundRect">
            <a:avLst>
              <a:gd name="adj" fmla="val 2667"/>
            </a:avLst>
          </a:prstGeom>
          <a:solidFill>
            <a:srgbClr val="11263B"/>
          </a:solidFill>
          <a:ln w="12700">
            <a:solidFill>
              <a:srgbClr val="28536B"/>
            </a:solidFill>
            <a:prstDash val="solid"/>
          </a:ln>
        </p:spPr>
      </p:sp>
      <p:sp>
        <p:nvSpPr>
          <p:cNvPr id="15" name="Text 13"/>
          <p:cNvSpPr txBox="1"/>
          <p:nvPr/>
        </p:nvSpPr>
        <p:spPr>
          <a:xfrm>
            <a:off x="6537960" y="2240280"/>
            <a:ext cx="484632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Research agrees</a:t>
            </a:r>
            <a:endParaRPr lang="en-US" sz="1800" dirty="0"/>
          </a:p>
        </p:txBody>
      </p:sp>
      <p:sp>
        <p:nvSpPr>
          <p:cNvPr id="16" name="Text 14"/>
          <p:cNvSpPr txBox="1"/>
          <p:nvPr/>
        </p:nvSpPr>
        <p:spPr>
          <a:xfrm>
            <a:off x="6537960" y="2743200"/>
            <a:ext cx="4846320" cy="20116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How passengers are transferred (refund, same-airline, other-airline rebooking, overnight stay) drives recovery cost, and recovering every flight is not always cheapest (Lu et al., 2025)</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The field is moving toward passenger-centric, real-time recovery that models human factors and uncertainty (Wu et al., 2025)</a:t>
            </a:r>
            <a:endParaRPr lang="en-US" sz="1500" dirty="0"/>
          </a:p>
        </p:txBody>
      </p:sp>
      <p:sp>
        <p:nvSpPr>
          <p:cNvPr id="17" name="Shape 15"/>
          <p:cNvSpPr/>
          <p:nvPr/>
        </p:nvSpPr>
        <p:spPr>
          <a:xfrm>
            <a:off x="594360" y="5074920"/>
            <a:ext cx="10972800" cy="914400"/>
          </a:xfrm>
          <a:prstGeom prst="roundRect">
            <a:avLst>
              <a:gd name="adj" fmla="val 8000"/>
            </a:avLst>
          </a:prstGeom>
          <a:solidFill>
            <a:srgbClr val="0D3345"/>
          </a:solidFill>
          <a:ln w="12700">
            <a:solidFill>
              <a:srgbClr val="28536B"/>
            </a:solidFill>
            <a:prstDash val="solid"/>
          </a:ln>
        </p:spPr>
      </p:sp>
      <p:sp>
        <p:nvSpPr>
          <p:cNvPr id="18" name="Text 16"/>
          <p:cNvSpPr txBox="1"/>
          <p:nvPr/>
        </p:nvSpPr>
        <p:spPr>
          <a:xfrm>
            <a:off x="868680" y="5074920"/>
            <a:ext cx="10424160" cy="914400"/>
          </a:xfrm>
          <a:prstGeom prst="rect">
            <a:avLst/>
          </a:prstGeom>
          <a:noFill/>
          <a:ln/>
        </p:spPr>
        <p:txBody>
          <a:bodyPr wrap="square" lIns="0" tIns="0" rIns="0" bIns="0" rtlCol="0" anchor="ctr"/>
          <a:lstStyle/>
          <a:p>
            <a:pPr indent="0" marL="0">
              <a:buNone/>
            </a:pPr>
            <a:r>
              <a:rPr lang="en-US" sz="1700" dirty="0">
                <a:solidFill>
                  <a:srgbClr val="F4F8FC"/>
                </a:solidFill>
                <a:latin typeface="Aptos" pitchFamily="34" charset="0"/>
                <a:ea typeface="Aptos" pitchFamily="34" charset="-122"/>
                <a:cs typeface="Aptos" pitchFamily="34" charset="-120"/>
              </a:rPr>
              <a:t>We help </a:t>
            </a:r>
            <a:pPr indent="0" marL="0">
              <a:buNone/>
            </a:pPr>
            <a:r>
              <a:rPr lang="en-US" sz="1700" b="1" dirty="0">
                <a:solidFill>
                  <a:srgbClr val="45D7E8"/>
                </a:solidFill>
                <a:latin typeface="Aptos" pitchFamily="34" charset="0"/>
                <a:ea typeface="Aptos" pitchFamily="34" charset="-122"/>
                <a:cs typeface="Aptos" pitchFamily="34" charset="-120"/>
              </a:rPr>
              <a:t>airline rebooking agents</a:t>
            </a:r>
            <a:pPr indent="0" marL="0">
              <a:buNone/>
            </a:pPr>
            <a:r>
              <a:rPr lang="en-US" sz="1700" dirty="0">
                <a:solidFill>
                  <a:srgbClr val="F4F8FC"/>
                </a:solidFill>
                <a:latin typeface="Aptos" pitchFamily="34" charset="0"/>
                <a:ea typeface="Aptos" pitchFamily="34" charset="-122"/>
                <a:cs typeface="Aptos" pitchFamily="34" charset="-120"/>
              </a:rPr>
              <a:t> pick the recovery route with the </a:t>
            </a:r>
            <a:pPr indent="0" marL="0">
              <a:buNone/>
            </a:pPr>
            <a:r>
              <a:rPr lang="en-US" sz="1700" b="1" dirty="0">
                <a:solidFill>
                  <a:srgbClr val="45D7E8"/>
                </a:solidFill>
                <a:latin typeface="Aptos" pitchFamily="34" charset="0"/>
                <a:ea typeface="Aptos" pitchFamily="34" charset="-122"/>
                <a:cs typeface="Aptos" pitchFamily="34" charset="-120"/>
              </a:rPr>
              <a:t>lowest expected total cost</a:t>
            </a:r>
            <a:pPr indent="0" marL="0">
              <a:buNone/>
            </a:pPr>
            <a:r>
              <a:rPr lang="en-US" sz="1700" dirty="0">
                <a:solidFill>
                  <a:srgbClr val="F4F8FC"/>
                </a:solidFill>
                <a:latin typeface="Aptos" pitchFamily="34" charset="0"/>
                <a:ea typeface="Aptos" pitchFamily="34" charset="-122"/>
                <a:cs typeface="Aptos" pitchFamily="34" charset="-120"/>
              </a:rPr>
              <a:t>, and keep them in charge of the decision.</a:t>
            </a:r>
            <a:endParaRPr lang="en-US" sz="1700" dirty="0"/>
          </a:p>
        </p:txBody>
      </p:sp>
      <p:sp>
        <p:nvSpPr>
          <p:cNvPr id="19" name="Text 17"/>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Lu et al. (2025), Operations Management Research · Wu et al. (2025), Computers &amp; Operations Research · full references in the appendix</a:t>
            </a:r>
            <a:endParaRPr lang="en-US" sz="1100" dirty="0"/>
          </a:p>
        </p:txBody>
      </p:sp>
      <p:sp>
        <p:nvSpPr>
          <p:cNvPr id="20" name="Text 18"/>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2:00–3:00 · PROBLEM</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Why AI: three problems static rules cannot solve</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Each challenge maps to one AI technique from the course</a:t>
            </a:r>
            <a:endParaRPr lang="en-US" sz="2000" dirty="0"/>
          </a:p>
        </p:txBody>
      </p:sp>
      <p:sp>
        <p:nvSpPr>
          <p:cNvPr id="6" name="Shape 4"/>
          <p:cNvSpPr/>
          <p:nvPr/>
        </p:nvSpPr>
        <p:spPr>
          <a:xfrm>
            <a:off x="594360" y="2148840"/>
            <a:ext cx="3474720" cy="3246120"/>
          </a:xfrm>
          <a:prstGeom prst="roundRect">
            <a:avLst>
              <a:gd name="adj" fmla="val 2254"/>
            </a:avLst>
          </a:prstGeom>
          <a:solidFill>
            <a:srgbClr val="11263B"/>
          </a:solidFill>
          <a:ln w="12700">
            <a:solidFill>
              <a:srgbClr val="28536B"/>
            </a:solidFill>
            <a:prstDash val="solid"/>
          </a:ln>
        </p:spPr>
      </p:sp>
      <p:sp>
        <p:nvSpPr>
          <p:cNvPr id="7" name="Shape 5"/>
          <p:cNvSpPr/>
          <p:nvPr/>
        </p:nvSpPr>
        <p:spPr>
          <a:xfrm>
            <a:off x="868680" y="2377440"/>
            <a:ext cx="457200" cy="457200"/>
          </a:xfrm>
          <a:prstGeom prst="ellipse">
            <a:avLst/>
          </a:prstGeom>
          <a:solidFill>
            <a:srgbClr val="45D7E8"/>
          </a:solidFill>
          <a:ln w="12700">
            <a:solidFill>
              <a:srgbClr val="45D7E8"/>
            </a:solidFill>
            <a:prstDash val="solid"/>
          </a:ln>
        </p:spPr>
      </p:sp>
      <p:sp>
        <p:nvSpPr>
          <p:cNvPr id="8" name="Text 6"/>
          <p:cNvSpPr txBox="1"/>
          <p:nvPr/>
        </p:nvSpPr>
        <p:spPr>
          <a:xfrm>
            <a:off x="86868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1</a:t>
            </a:r>
            <a:endParaRPr lang="en-US" sz="1500" dirty="0"/>
          </a:p>
        </p:txBody>
      </p:sp>
      <p:sp>
        <p:nvSpPr>
          <p:cNvPr id="9" name="Text 7"/>
          <p:cNvSpPr txBox="1"/>
          <p:nvPr/>
        </p:nvSpPr>
        <p:spPr>
          <a:xfrm>
            <a:off x="1463040" y="2331720"/>
            <a:ext cx="2468880" cy="320040"/>
          </a:xfrm>
          <a:prstGeom prst="rect">
            <a:avLst/>
          </a:prstGeom>
          <a:noFill/>
          <a:ln/>
        </p:spPr>
        <p:txBody>
          <a:bodyPr wrap="square" lIns="0" tIns="0" rIns="0" bIns="0" rtlCol="0" anchor="t"/>
          <a:lstStyle/>
          <a:p>
            <a:pPr indent="0" marL="0">
              <a:buNone/>
            </a:pPr>
            <a:r>
              <a:rPr lang="en-US" sz="1800" b="1" dirty="0">
                <a:solidFill>
                  <a:srgbClr val="F4F8FC"/>
                </a:solidFill>
                <a:latin typeface="Aptos" pitchFamily="34" charset="0"/>
                <a:ea typeface="Aptos" pitchFamily="34" charset="-122"/>
                <a:cs typeface="Aptos" pitchFamily="34" charset="-120"/>
              </a:rPr>
              <a:t>Delay uncertainty</a:t>
            </a:r>
            <a:endParaRPr lang="en-US" sz="1800" dirty="0"/>
          </a:p>
        </p:txBody>
      </p:sp>
      <p:sp>
        <p:nvSpPr>
          <p:cNvPr id="10" name="Text 8"/>
          <p:cNvSpPr txBox="1"/>
          <p:nvPr/>
        </p:nvSpPr>
        <p:spPr>
          <a:xfrm>
            <a:off x="1463040" y="2651760"/>
            <a:ext cx="2468880" cy="274320"/>
          </a:xfrm>
          <a:prstGeom prst="rect">
            <a:avLst/>
          </a:prstGeom>
          <a:noFill/>
          <a:ln/>
        </p:spPr>
        <p:txBody>
          <a:bodyPr wrap="square" lIns="0" tIns="0" rIns="0" bIns="0" rtlCol="0" anchor="t"/>
          <a:lstStyle/>
          <a:p>
            <a:pPr indent="0" marL="0">
              <a:buNone/>
            </a:pPr>
            <a:r>
              <a:rPr lang="en-US" sz="1400" b="1" dirty="0">
                <a:solidFill>
                  <a:srgbClr val="45D7E8"/>
                </a:solidFill>
                <a:latin typeface="Aptos" pitchFamily="34" charset="0"/>
                <a:ea typeface="Aptos" pitchFamily="34" charset="-122"/>
                <a:cs typeface="Aptos" pitchFamily="34" charset="-120"/>
              </a:rPr>
              <a:t>Machine learning</a:t>
            </a:r>
            <a:endParaRPr lang="en-US" sz="1400" dirty="0"/>
          </a:p>
        </p:txBody>
      </p:sp>
      <p:sp>
        <p:nvSpPr>
          <p:cNvPr id="11" name="Text 9"/>
          <p:cNvSpPr txBox="1"/>
          <p:nvPr/>
        </p:nvSpPr>
        <p:spPr>
          <a:xfrm>
            <a:off x="868680" y="3200400"/>
            <a:ext cx="2971800" cy="2011680"/>
          </a:xfrm>
          <a:prstGeom prst="rect">
            <a:avLst/>
          </a:prstGeom>
          <a:noFill/>
          <a:ln/>
        </p:spPr>
        <p:txBody>
          <a:bodyPr wrap="square" lIns="0" tIns="0" rIns="0" bIns="0" rtlCol="0" anchor="t"/>
          <a:lstStyle/>
          <a:p>
            <a:pPr indent="0" marL="0">
              <a:buNone/>
            </a:pPr>
            <a:r>
              <a:rPr lang="en-US" sz="1500" dirty="0">
                <a:solidFill>
                  <a:srgbClr val="AFC6D7"/>
                </a:solidFill>
                <a:latin typeface="Aptos" pitchFamily="34" charset="0"/>
                <a:ea typeface="Aptos" pitchFamily="34" charset="-122"/>
                <a:cs typeface="Aptos" pitchFamily="34" charset="-120"/>
              </a:rPr>
              <a:t>Will the inbound flight land in time? A timetable assumes yes; a gradient-boosting model gives the real probability.</a:t>
            </a:r>
            <a:endParaRPr lang="en-US" sz="1500" dirty="0"/>
          </a:p>
        </p:txBody>
      </p:sp>
      <p:sp>
        <p:nvSpPr>
          <p:cNvPr id="12" name="Shape 10"/>
          <p:cNvSpPr/>
          <p:nvPr/>
        </p:nvSpPr>
        <p:spPr>
          <a:xfrm>
            <a:off x="4343400" y="2148840"/>
            <a:ext cx="3474720" cy="3246120"/>
          </a:xfrm>
          <a:prstGeom prst="roundRect">
            <a:avLst>
              <a:gd name="adj" fmla="val 2254"/>
            </a:avLst>
          </a:prstGeom>
          <a:solidFill>
            <a:srgbClr val="11263B"/>
          </a:solidFill>
          <a:ln w="12700">
            <a:solidFill>
              <a:srgbClr val="28536B"/>
            </a:solidFill>
            <a:prstDash val="solid"/>
          </a:ln>
        </p:spPr>
      </p:sp>
      <p:sp>
        <p:nvSpPr>
          <p:cNvPr id="13" name="Shape 11"/>
          <p:cNvSpPr/>
          <p:nvPr/>
        </p:nvSpPr>
        <p:spPr>
          <a:xfrm>
            <a:off x="4617720" y="2377440"/>
            <a:ext cx="457200" cy="457200"/>
          </a:xfrm>
          <a:prstGeom prst="ellipse">
            <a:avLst/>
          </a:prstGeom>
          <a:solidFill>
            <a:srgbClr val="F2B84B"/>
          </a:solidFill>
          <a:ln w="12700">
            <a:solidFill>
              <a:srgbClr val="F2B84B"/>
            </a:solidFill>
            <a:prstDash val="solid"/>
          </a:ln>
        </p:spPr>
      </p:sp>
      <p:sp>
        <p:nvSpPr>
          <p:cNvPr id="14" name="Text 12"/>
          <p:cNvSpPr txBox="1"/>
          <p:nvPr/>
        </p:nvSpPr>
        <p:spPr>
          <a:xfrm>
            <a:off x="461772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5212080" y="2331720"/>
            <a:ext cx="2468880" cy="320040"/>
          </a:xfrm>
          <a:prstGeom prst="rect">
            <a:avLst/>
          </a:prstGeom>
          <a:noFill/>
          <a:ln/>
        </p:spPr>
        <p:txBody>
          <a:bodyPr wrap="square" lIns="0" tIns="0" rIns="0" bIns="0" rtlCol="0" anchor="t"/>
          <a:lstStyle/>
          <a:p>
            <a:pPr indent="0" marL="0">
              <a:buNone/>
            </a:pPr>
            <a:r>
              <a:rPr lang="en-US" sz="1800" b="1" dirty="0">
                <a:solidFill>
                  <a:srgbClr val="F4F8FC"/>
                </a:solidFill>
                <a:latin typeface="Aptos" pitchFamily="34" charset="0"/>
                <a:ea typeface="Aptos" pitchFamily="34" charset="-122"/>
                <a:cs typeface="Aptos" pitchFamily="34" charset="-120"/>
              </a:rPr>
              <a:t>Combinatorial routing</a:t>
            </a:r>
            <a:endParaRPr lang="en-US" sz="1800" dirty="0"/>
          </a:p>
        </p:txBody>
      </p:sp>
      <p:sp>
        <p:nvSpPr>
          <p:cNvPr id="16" name="Text 14"/>
          <p:cNvSpPr txBox="1"/>
          <p:nvPr/>
        </p:nvSpPr>
        <p:spPr>
          <a:xfrm>
            <a:off x="5212080" y="2651760"/>
            <a:ext cx="2468880" cy="274320"/>
          </a:xfrm>
          <a:prstGeom prst="rect">
            <a:avLst/>
          </a:prstGeom>
          <a:noFill/>
          <a:ln/>
        </p:spPr>
        <p:txBody>
          <a:bodyPr wrap="square" lIns="0" tIns="0" rIns="0" bIns="0" rtlCol="0" anchor="t"/>
          <a:lstStyle/>
          <a:p>
            <a:pPr indent="0" marL="0">
              <a:buNone/>
            </a:pPr>
            <a:r>
              <a:rPr lang="en-US" sz="1400" b="1" dirty="0">
                <a:solidFill>
                  <a:srgbClr val="F2B84B"/>
                </a:solidFill>
                <a:latin typeface="Aptos" pitchFamily="34" charset="0"/>
                <a:ea typeface="Aptos" pitchFamily="34" charset="-122"/>
                <a:cs typeface="Aptos" pitchFamily="34" charset="-120"/>
              </a:rPr>
              <a:t>Graph search</a:t>
            </a:r>
            <a:endParaRPr lang="en-US" sz="1400" dirty="0"/>
          </a:p>
        </p:txBody>
      </p:sp>
      <p:sp>
        <p:nvSpPr>
          <p:cNvPr id="17" name="Text 15"/>
          <p:cNvSpPr txBox="1"/>
          <p:nvPr/>
        </p:nvSpPr>
        <p:spPr>
          <a:xfrm>
            <a:off x="4617720" y="3200400"/>
            <a:ext cx="2971800" cy="2011680"/>
          </a:xfrm>
          <a:prstGeom prst="rect">
            <a:avLst/>
          </a:prstGeom>
          <a:noFill/>
          <a:ln/>
        </p:spPr>
        <p:txBody>
          <a:bodyPr wrap="square" lIns="0" tIns="0" rIns="0" bIns="0" rtlCol="0" anchor="t"/>
          <a:lstStyle/>
          <a:p>
            <a:pPr indent="0" marL="0">
              <a:buNone/>
            </a:pPr>
            <a:r>
              <a:rPr lang="en-US" sz="1500" dirty="0">
                <a:solidFill>
                  <a:srgbClr val="AFC6D7"/>
                </a:solidFill>
                <a:latin typeface="Aptos" pitchFamily="34" charset="0"/>
                <a:ea typeface="Aptos" pitchFamily="34" charset="-122"/>
                <a:cs typeface="Aptos" pitchFamily="34" charset="-120"/>
              </a:rPr>
              <a:t>Dozens of flights, three airlines, minimum connection times: Dijkstra / A* finds every feasible path in milliseconds.</a:t>
            </a:r>
            <a:endParaRPr lang="en-US" sz="1500" dirty="0"/>
          </a:p>
        </p:txBody>
      </p:sp>
      <p:sp>
        <p:nvSpPr>
          <p:cNvPr id="18" name="Shape 16"/>
          <p:cNvSpPr/>
          <p:nvPr/>
        </p:nvSpPr>
        <p:spPr>
          <a:xfrm>
            <a:off x="8092440" y="2148840"/>
            <a:ext cx="3474720" cy="3246120"/>
          </a:xfrm>
          <a:prstGeom prst="roundRect">
            <a:avLst>
              <a:gd name="adj" fmla="val 2254"/>
            </a:avLst>
          </a:prstGeom>
          <a:solidFill>
            <a:srgbClr val="11263B"/>
          </a:solidFill>
          <a:ln w="12700">
            <a:solidFill>
              <a:srgbClr val="28536B"/>
            </a:solidFill>
            <a:prstDash val="solid"/>
          </a:ln>
        </p:spPr>
      </p:sp>
      <p:sp>
        <p:nvSpPr>
          <p:cNvPr id="19" name="Shape 17"/>
          <p:cNvSpPr/>
          <p:nvPr/>
        </p:nvSpPr>
        <p:spPr>
          <a:xfrm>
            <a:off x="8366760" y="2377440"/>
            <a:ext cx="457200" cy="457200"/>
          </a:xfrm>
          <a:prstGeom prst="ellipse">
            <a:avLst/>
          </a:prstGeom>
          <a:solidFill>
            <a:srgbClr val="3CCB8F"/>
          </a:solidFill>
          <a:ln w="12700">
            <a:solidFill>
              <a:srgbClr val="3CCB8F"/>
            </a:solidFill>
            <a:prstDash val="solid"/>
          </a:ln>
        </p:spPr>
      </p:sp>
      <p:sp>
        <p:nvSpPr>
          <p:cNvPr id="20" name="Text 18"/>
          <p:cNvSpPr txBox="1"/>
          <p:nvPr/>
        </p:nvSpPr>
        <p:spPr>
          <a:xfrm>
            <a:off x="836676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3</a:t>
            </a:r>
            <a:endParaRPr lang="en-US" sz="1500" dirty="0"/>
          </a:p>
        </p:txBody>
      </p:sp>
      <p:sp>
        <p:nvSpPr>
          <p:cNvPr id="21" name="Text 19"/>
          <p:cNvSpPr txBox="1"/>
          <p:nvPr/>
        </p:nvSpPr>
        <p:spPr>
          <a:xfrm>
            <a:off x="8961120" y="2331720"/>
            <a:ext cx="2468880" cy="320040"/>
          </a:xfrm>
          <a:prstGeom prst="rect">
            <a:avLst/>
          </a:prstGeom>
          <a:noFill/>
          <a:ln/>
        </p:spPr>
        <p:txBody>
          <a:bodyPr wrap="square" lIns="0" tIns="0" rIns="0" bIns="0" rtlCol="0" anchor="t"/>
          <a:lstStyle/>
          <a:p>
            <a:pPr indent="0" marL="0">
              <a:buNone/>
            </a:pPr>
            <a:r>
              <a:rPr lang="en-US" sz="1800" b="1" dirty="0">
                <a:solidFill>
                  <a:srgbClr val="F4F8FC"/>
                </a:solidFill>
                <a:latin typeface="Aptos" pitchFamily="34" charset="0"/>
                <a:ea typeface="Aptos" pitchFamily="34" charset="-122"/>
                <a:cs typeface="Aptos" pitchFamily="34" charset="-120"/>
              </a:rPr>
              <a:t>Rigid regulatory rules</a:t>
            </a:r>
            <a:endParaRPr lang="en-US" sz="1800" dirty="0"/>
          </a:p>
        </p:txBody>
      </p:sp>
      <p:sp>
        <p:nvSpPr>
          <p:cNvPr id="22" name="Text 20"/>
          <p:cNvSpPr txBox="1"/>
          <p:nvPr/>
        </p:nvSpPr>
        <p:spPr>
          <a:xfrm>
            <a:off x="8961120" y="2651760"/>
            <a:ext cx="2468880" cy="274320"/>
          </a:xfrm>
          <a:prstGeom prst="rect">
            <a:avLst/>
          </a:prstGeom>
          <a:noFill/>
          <a:ln/>
        </p:spPr>
        <p:txBody>
          <a:bodyPr wrap="square" lIns="0" tIns="0" rIns="0" bIns="0" rtlCol="0" anchor="t"/>
          <a:lstStyle/>
          <a:p>
            <a:pPr indent="0" marL="0">
              <a:buNone/>
            </a:pPr>
            <a:r>
              <a:rPr lang="en-US" sz="1400" b="1" dirty="0">
                <a:solidFill>
                  <a:srgbClr val="3CCB8F"/>
                </a:solidFill>
                <a:latin typeface="Aptos" pitchFamily="34" charset="0"/>
                <a:ea typeface="Aptos" pitchFamily="34" charset="-122"/>
                <a:cs typeface="Aptos" pitchFamily="34" charset="-120"/>
              </a:rPr>
              <a:t>Policy RAG</a:t>
            </a:r>
            <a:endParaRPr lang="en-US" sz="1400" dirty="0"/>
          </a:p>
        </p:txBody>
      </p:sp>
      <p:sp>
        <p:nvSpPr>
          <p:cNvPr id="23" name="Text 21"/>
          <p:cNvSpPr txBox="1"/>
          <p:nvPr/>
        </p:nvSpPr>
        <p:spPr>
          <a:xfrm>
            <a:off x="8366760" y="3200400"/>
            <a:ext cx="2971800" cy="2011680"/>
          </a:xfrm>
          <a:prstGeom prst="rect">
            <a:avLst/>
          </a:prstGeom>
          <a:noFill/>
          <a:ln/>
        </p:spPr>
        <p:txBody>
          <a:bodyPr wrap="square" lIns="0" tIns="0" rIns="0" bIns="0" rtlCol="0" anchor="t"/>
          <a:lstStyle/>
          <a:p>
            <a:pPr indent="0" marL="0">
              <a:buNone/>
            </a:pPr>
            <a:r>
              <a:rPr lang="en-US" sz="1500" dirty="0">
                <a:solidFill>
                  <a:srgbClr val="AFC6D7"/>
                </a:solidFill>
                <a:latin typeface="Aptos" pitchFamily="34" charset="0"/>
                <a:ea typeface="Aptos" pitchFamily="34" charset="-122"/>
                <a:cs typeface="Aptos" pitchFamily="34" charset="-120"/>
              </a:rPr>
              <a:t>EU261 thresholds, carrier rebooking rules and baggage rules are retrieved and cited, not guessed.</a:t>
            </a:r>
            <a:endParaRPr lang="en-US" sz="1500" dirty="0"/>
          </a:p>
        </p:txBody>
      </p:sp>
      <p:sp>
        <p:nvSpPr>
          <p:cNvPr id="24" name="Shape 22"/>
          <p:cNvSpPr/>
          <p:nvPr/>
        </p:nvSpPr>
        <p:spPr>
          <a:xfrm>
            <a:off x="594360" y="5532120"/>
            <a:ext cx="10972800" cy="548640"/>
          </a:xfrm>
          <a:prstGeom prst="roundRect">
            <a:avLst>
              <a:gd name="adj" fmla="val 13333"/>
            </a:avLst>
          </a:prstGeom>
          <a:solidFill>
            <a:srgbClr val="0D3345"/>
          </a:solidFill>
          <a:ln w="12700">
            <a:solidFill>
              <a:srgbClr val="28536B"/>
            </a:solidFill>
            <a:prstDash val="solid"/>
          </a:ln>
        </p:spPr>
      </p:sp>
      <p:sp>
        <p:nvSpPr>
          <p:cNvPr id="25" name="Text 23"/>
          <p:cNvSpPr txBox="1"/>
          <p:nvPr/>
        </p:nvSpPr>
        <p:spPr>
          <a:xfrm>
            <a:off x="868680" y="5532120"/>
            <a:ext cx="10424160" cy="548640"/>
          </a:xfrm>
          <a:prstGeom prst="rect">
            <a:avLst/>
          </a:prstGeom>
          <a:noFill/>
          <a:ln/>
        </p:spPr>
        <p:txBody>
          <a:bodyPr wrap="square" lIns="0" tIns="0" rIns="0" bIns="0" rtlCol="0" anchor="ctr"/>
          <a:lstStyle/>
          <a:p>
            <a:pPr indent="0" marL="0">
              <a:buNone/>
            </a:pPr>
            <a:r>
              <a:rPr lang="en-US" sz="1500" b="1" dirty="0">
                <a:solidFill>
                  <a:srgbClr val="45D7E8"/>
                </a:solidFill>
                <a:latin typeface="Aptos" pitchFamily="34" charset="0"/>
                <a:ea typeface="Aptos" pitchFamily="34" charset="-122"/>
                <a:cs typeface="Aptos" pitchFamily="34" charset="-120"/>
              </a:rPr>
              <a:t>Scale of the problem: </a:t>
            </a:r>
            <a:pPr indent="0" marL="0">
              <a:buNone/>
            </a:pPr>
            <a:r>
              <a:rPr lang="en-US" sz="1500" dirty="0">
                <a:solidFill>
                  <a:srgbClr val="F4F8FC"/>
                </a:solidFill>
                <a:latin typeface="Aptos" pitchFamily="34" charset="0"/>
                <a:ea typeface="Aptos" pitchFamily="34" charset="-122"/>
                <a:cs typeface="Aptos" pitchFamily="34" charset="-120"/>
              </a:rPr>
              <a:t>21.3% of U.S. flights were delayed and 1.65% cancelled in 2023 (BTS, reported in Wu et al., 2025).</a:t>
            </a:r>
            <a:endParaRPr lang="en-US" sz="1500" dirty="0"/>
          </a:p>
        </p:txBody>
      </p:sp>
      <p:sp>
        <p:nvSpPr>
          <p:cNvPr id="26" name="Text 24"/>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Criteria: MIS520 Project Instructions, “What makes a good AI project?” (real problem · right tool · feasible)</a:t>
            </a:r>
            <a:endParaRPr lang="en-US" sz="1100" dirty="0"/>
          </a:p>
        </p:txBody>
      </p:sp>
      <p:sp>
        <p:nvSpPr>
          <p:cNvPr id="27" name="Text 25"/>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3:00–3:40 · TECHNICAL</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How ReRouteAI works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Three steps, one human decision</a:t>
            </a:r>
            <a:endParaRPr lang="en-US" sz="2000" dirty="0"/>
          </a:p>
        </p:txBody>
      </p:sp>
      <p:sp>
        <p:nvSpPr>
          <p:cNvPr id="6" name="Shape 4"/>
          <p:cNvSpPr/>
          <p:nvPr/>
        </p:nvSpPr>
        <p:spPr>
          <a:xfrm>
            <a:off x="594360" y="2148840"/>
            <a:ext cx="3200400" cy="2377440"/>
          </a:xfrm>
          <a:prstGeom prst="roundRect">
            <a:avLst>
              <a:gd name="adj" fmla="val 3077"/>
            </a:avLst>
          </a:prstGeom>
          <a:solidFill>
            <a:srgbClr val="11263B"/>
          </a:solidFill>
          <a:ln w="12700">
            <a:solidFill>
              <a:srgbClr val="28536B"/>
            </a:solidFill>
            <a:prstDash val="solid"/>
          </a:ln>
        </p:spPr>
      </p:sp>
      <p:sp>
        <p:nvSpPr>
          <p:cNvPr id="7" name="Shape 5"/>
          <p:cNvSpPr/>
          <p:nvPr/>
        </p:nvSpPr>
        <p:spPr>
          <a:xfrm>
            <a:off x="868680" y="2377440"/>
            <a:ext cx="457200" cy="457200"/>
          </a:xfrm>
          <a:prstGeom prst="ellipse">
            <a:avLst/>
          </a:prstGeom>
          <a:solidFill>
            <a:srgbClr val="45D7E8"/>
          </a:solidFill>
          <a:ln w="12700">
            <a:solidFill>
              <a:srgbClr val="45D7E8"/>
            </a:solidFill>
            <a:prstDash val="solid"/>
          </a:ln>
        </p:spPr>
      </p:sp>
      <p:sp>
        <p:nvSpPr>
          <p:cNvPr id="8" name="Text 6"/>
          <p:cNvSpPr txBox="1"/>
          <p:nvPr/>
        </p:nvSpPr>
        <p:spPr>
          <a:xfrm>
            <a:off x="86868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1</a:t>
            </a:r>
            <a:endParaRPr lang="en-US" sz="1500" dirty="0"/>
          </a:p>
        </p:txBody>
      </p:sp>
      <p:sp>
        <p:nvSpPr>
          <p:cNvPr id="9" name="Text 7"/>
          <p:cNvSpPr txBox="1"/>
          <p:nvPr/>
        </p:nvSpPr>
        <p:spPr>
          <a:xfrm>
            <a:off x="1463040" y="2331720"/>
            <a:ext cx="2194560" cy="411480"/>
          </a:xfrm>
          <a:prstGeom prst="rect">
            <a:avLst/>
          </a:prstGeom>
          <a:noFill/>
          <a:ln/>
        </p:spPr>
        <p:txBody>
          <a:bodyPr wrap="square" lIns="0" tIns="0" rIns="0" bIns="0" rtlCol="0" anchor="t"/>
          <a:lstStyle/>
          <a:p>
            <a:pPr indent="0" marL="0">
              <a:buNone/>
            </a:pPr>
            <a:r>
              <a:rPr lang="en-US" sz="2400" b="1" dirty="0">
                <a:solidFill>
                  <a:srgbClr val="F4F8FC"/>
                </a:solidFill>
                <a:latin typeface="Aptos" pitchFamily="34" charset="0"/>
                <a:ea typeface="Aptos" pitchFamily="34" charset="-122"/>
                <a:cs typeface="Aptos" pitchFamily="34" charset="-120"/>
              </a:rPr>
              <a:t>Predict</a:t>
            </a:r>
            <a:endParaRPr lang="en-US" sz="2400" dirty="0"/>
          </a:p>
        </p:txBody>
      </p:sp>
      <p:sp>
        <p:nvSpPr>
          <p:cNvPr id="10" name="Text 8"/>
          <p:cNvSpPr txBox="1"/>
          <p:nvPr/>
        </p:nvSpPr>
        <p:spPr>
          <a:xfrm>
            <a:off x="868680" y="3017520"/>
            <a:ext cx="2743200" cy="36576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real connection risk</a:t>
            </a:r>
            <a:endParaRPr lang="en-US" sz="1600" dirty="0"/>
          </a:p>
        </p:txBody>
      </p:sp>
      <p:sp>
        <p:nvSpPr>
          <p:cNvPr id="11" name="Text 9"/>
          <p:cNvSpPr txBox="1"/>
          <p:nvPr/>
        </p:nvSpPr>
        <p:spPr>
          <a:xfrm>
            <a:off x="868680" y="3474720"/>
            <a:ext cx="2743200" cy="8229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Gradient boosting on U.S. BTS history</a:t>
            </a:r>
            <a:endParaRPr lang="en-US" sz="1400" dirty="0"/>
          </a:p>
        </p:txBody>
      </p:sp>
      <p:sp>
        <p:nvSpPr>
          <p:cNvPr id="12" name="Shape 10"/>
          <p:cNvSpPr/>
          <p:nvPr/>
        </p:nvSpPr>
        <p:spPr>
          <a:xfrm>
            <a:off x="3840480" y="3337560"/>
            <a:ext cx="457200" cy="0"/>
          </a:xfrm>
          <a:prstGeom prst="line">
            <a:avLst/>
          </a:prstGeom>
          <a:noFill/>
          <a:ln w="25400">
            <a:solidFill>
              <a:srgbClr val="45D7E8"/>
            </a:solidFill>
            <a:prstDash val="solid"/>
            <a:tailEnd type="triangle"/>
          </a:ln>
        </p:spPr>
      </p:sp>
      <p:sp>
        <p:nvSpPr>
          <p:cNvPr id="13" name="Shape 11"/>
          <p:cNvSpPr/>
          <p:nvPr/>
        </p:nvSpPr>
        <p:spPr>
          <a:xfrm>
            <a:off x="4343400" y="2148840"/>
            <a:ext cx="3200400" cy="2377440"/>
          </a:xfrm>
          <a:prstGeom prst="roundRect">
            <a:avLst>
              <a:gd name="adj" fmla="val 3077"/>
            </a:avLst>
          </a:prstGeom>
          <a:solidFill>
            <a:srgbClr val="11263B"/>
          </a:solidFill>
          <a:ln w="12700">
            <a:solidFill>
              <a:srgbClr val="28536B"/>
            </a:solidFill>
            <a:prstDash val="solid"/>
          </a:ln>
        </p:spPr>
      </p:sp>
      <p:sp>
        <p:nvSpPr>
          <p:cNvPr id="14" name="Shape 12"/>
          <p:cNvSpPr/>
          <p:nvPr/>
        </p:nvSpPr>
        <p:spPr>
          <a:xfrm>
            <a:off x="4617720" y="2377440"/>
            <a:ext cx="457200" cy="457200"/>
          </a:xfrm>
          <a:prstGeom prst="ellipse">
            <a:avLst/>
          </a:prstGeom>
          <a:solidFill>
            <a:srgbClr val="F2B84B"/>
          </a:solidFill>
          <a:ln w="12700">
            <a:solidFill>
              <a:srgbClr val="F2B84B"/>
            </a:solidFill>
            <a:prstDash val="solid"/>
          </a:ln>
        </p:spPr>
      </p:sp>
      <p:sp>
        <p:nvSpPr>
          <p:cNvPr id="15" name="Text 13"/>
          <p:cNvSpPr txBox="1"/>
          <p:nvPr/>
        </p:nvSpPr>
        <p:spPr>
          <a:xfrm>
            <a:off x="461772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2</a:t>
            </a:r>
            <a:endParaRPr lang="en-US" sz="1500" dirty="0"/>
          </a:p>
        </p:txBody>
      </p:sp>
      <p:sp>
        <p:nvSpPr>
          <p:cNvPr id="16" name="Text 14"/>
          <p:cNvSpPr txBox="1"/>
          <p:nvPr/>
        </p:nvSpPr>
        <p:spPr>
          <a:xfrm>
            <a:off x="5212080" y="2331720"/>
            <a:ext cx="2194560" cy="411480"/>
          </a:xfrm>
          <a:prstGeom prst="rect">
            <a:avLst/>
          </a:prstGeom>
          <a:noFill/>
          <a:ln/>
        </p:spPr>
        <p:txBody>
          <a:bodyPr wrap="square" lIns="0" tIns="0" rIns="0" bIns="0" rtlCol="0" anchor="t"/>
          <a:lstStyle/>
          <a:p>
            <a:pPr indent="0" marL="0">
              <a:buNone/>
            </a:pPr>
            <a:r>
              <a:rPr lang="en-US" sz="2400" b="1" dirty="0">
                <a:solidFill>
                  <a:srgbClr val="F4F8FC"/>
                </a:solidFill>
                <a:latin typeface="Aptos" pitchFamily="34" charset="0"/>
                <a:ea typeface="Aptos" pitchFamily="34" charset="-122"/>
                <a:cs typeface="Aptos" pitchFamily="34" charset="-120"/>
              </a:rPr>
              <a:t>Score</a:t>
            </a:r>
            <a:endParaRPr lang="en-US" sz="2400" dirty="0"/>
          </a:p>
        </p:txBody>
      </p:sp>
      <p:sp>
        <p:nvSpPr>
          <p:cNvPr id="17" name="Text 15"/>
          <p:cNvSpPr txBox="1"/>
          <p:nvPr/>
        </p:nvSpPr>
        <p:spPr>
          <a:xfrm>
            <a:off x="4617720" y="3017520"/>
            <a:ext cx="2743200" cy="365760"/>
          </a:xfrm>
          <a:prstGeom prst="rect">
            <a:avLst/>
          </a:prstGeom>
          <a:noFill/>
          <a:ln/>
        </p:spPr>
        <p:txBody>
          <a:bodyPr wrap="square" lIns="0" tIns="0" rIns="0" bIns="0" rtlCol="0" anchor="t"/>
          <a:lstStyle/>
          <a:p>
            <a:pPr indent="0" marL="0">
              <a:buNone/>
            </a:pPr>
            <a:r>
              <a:rPr lang="en-US" sz="1600" b="1" dirty="0">
                <a:solidFill>
                  <a:srgbClr val="F2B84B"/>
                </a:solidFill>
                <a:latin typeface="Aptos" pitchFamily="34" charset="0"/>
                <a:ea typeface="Aptos" pitchFamily="34" charset="-122"/>
                <a:cs typeface="Aptos" pitchFamily="34" charset="-120"/>
              </a:rPr>
              <a:t>every route by total cost</a:t>
            </a:r>
            <a:endParaRPr lang="en-US" sz="1600" dirty="0"/>
          </a:p>
        </p:txBody>
      </p:sp>
      <p:sp>
        <p:nvSpPr>
          <p:cNvPr id="18" name="Text 16"/>
          <p:cNvSpPr txBox="1"/>
          <p:nvPr/>
        </p:nvSpPr>
        <p:spPr>
          <a:xfrm>
            <a:off x="4617720" y="3474720"/>
            <a:ext cx="2743200" cy="8229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Graph search + expected-cost model with EU261</a:t>
            </a:r>
            <a:endParaRPr lang="en-US" sz="1400" dirty="0"/>
          </a:p>
        </p:txBody>
      </p:sp>
      <p:sp>
        <p:nvSpPr>
          <p:cNvPr id="19" name="Shape 17"/>
          <p:cNvSpPr/>
          <p:nvPr/>
        </p:nvSpPr>
        <p:spPr>
          <a:xfrm>
            <a:off x="7589520" y="3337560"/>
            <a:ext cx="457200" cy="0"/>
          </a:xfrm>
          <a:prstGeom prst="line">
            <a:avLst/>
          </a:prstGeom>
          <a:noFill/>
          <a:ln w="25400">
            <a:solidFill>
              <a:srgbClr val="45D7E8"/>
            </a:solidFill>
            <a:prstDash val="solid"/>
            <a:tailEnd type="triangle"/>
          </a:ln>
        </p:spPr>
      </p:sp>
      <p:sp>
        <p:nvSpPr>
          <p:cNvPr id="20" name="Shape 18"/>
          <p:cNvSpPr/>
          <p:nvPr/>
        </p:nvSpPr>
        <p:spPr>
          <a:xfrm>
            <a:off x="8092440" y="2148840"/>
            <a:ext cx="3200400" cy="2377440"/>
          </a:xfrm>
          <a:prstGeom prst="roundRect">
            <a:avLst>
              <a:gd name="adj" fmla="val 3077"/>
            </a:avLst>
          </a:prstGeom>
          <a:solidFill>
            <a:srgbClr val="11263B"/>
          </a:solidFill>
          <a:ln w="12700">
            <a:solidFill>
              <a:srgbClr val="28536B"/>
            </a:solidFill>
            <a:prstDash val="solid"/>
          </a:ln>
        </p:spPr>
      </p:sp>
      <p:sp>
        <p:nvSpPr>
          <p:cNvPr id="21" name="Shape 19"/>
          <p:cNvSpPr/>
          <p:nvPr/>
        </p:nvSpPr>
        <p:spPr>
          <a:xfrm>
            <a:off x="8366760" y="2377440"/>
            <a:ext cx="457200" cy="457200"/>
          </a:xfrm>
          <a:prstGeom prst="ellipse">
            <a:avLst/>
          </a:prstGeom>
          <a:solidFill>
            <a:srgbClr val="3CCB8F"/>
          </a:solidFill>
          <a:ln w="12700">
            <a:solidFill>
              <a:srgbClr val="3CCB8F"/>
            </a:solidFill>
            <a:prstDash val="solid"/>
          </a:ln>
        </p:spPr>
      </p:sp>
      <p:sp>
        <p:nvSpPr>
          <p:cNvPr id="22" name="Text 20"/>
          <p:cNvSpPr txBox="1"/>
          <p:nvPr/>
        </p:nvSpPr>
        <p:spPr>
          <a:xfrm>
            <a:off x="8366760" y="2377440"/>
            <a:ext cx="457200" cy="457200"/>
          </a:xfrm>
          <a:prstGeom prst="rect">
            <a:avLst/>
          </a:prstGeom>
          <a:noFill/>
          <a:ln/>
        </p:spPr>
        <p:txBody>
          <a:bodyPr wrap="square" lIns="0" tIns="0" rIns="0" bIns="0" rtlCol="0" anchor="ctr"/>
          <a:lstStyle/>
          <a:p>
            <a:pPr algn="ctr" indent="0" marL="0">
              <a:buNone/>
            </a:pPr>
            <a:r>
              <a:rPr lang="en-US" sz="1500" b="1" dirty="0">
                <a:solidFill>
                  <a:srgbClr val="071627"/>
                </a:solidFill>
                <a:latin typeface="Aptos" pitchFamily="34" charset="0"/>
                <a:ea typeface="Aptos" pitchFamily="34" charset="-122"/>
                <a:cs typeface="Aptos" pitchFamily="34" charset="-120"/>
              </a:rPr>
              <a:t>3</a:t>
            </a:r>
            <a:endParaRPr lang="en-US" sz="1500" dirty="0"/>
          </a:p>
        </p:txBody>
      </p:sp>
      <p:sp>
        <p:nvSpPr>
          <p:cNvPr id="23" name="Text 21"/>
          <p:cNvSpPr txBox="1"/>
          <p:nvPr/>
        </p:nvSpPr>
        <p:spPr>
          <a:xfrm>
            <a:off x="8961120" y="2331720"/>
            <a:ext cx="2194560" cy="411480"/>
          </a:xfrm>
          <a:prstGeom prst="rect">
            <a:avLst/>
          </a:prstGeom>
          <a:noFill/>
          <a:ln/>
        </p:spPr>
        <p:txBody>
          <a:bodyPr wrap="square" lIns="0" tIns="0" rIns="0" bIns="0" rtlCol="0" anchor="t"/>
          <a:lstStyle/>
          <a:p>
            <a:pPr indent="0" marL="0">
              <a:buNone/>
            </a:pPr>
            <a:r>
              <a:rPr lang="en-US" sz="2400" b="1" dirty="0">
                <a:solidFill>
                  <a:srgbClr val="F4F8FC"/>
                </a:solidFill>
                <a:latin typeface="Aptos" pitchFamily="34" charset="0"/>
                <a:ea typeface="Aptos" pitchFamily="34" charset="-122"/>
                <a:cs typeface="Aptos" pitchFamily="34" charset="-120"/>
              </a:rPr>
              <a:t>Recommend</a:t>
            </a:r>
            <a:endParaRPr lang="en-US" sz="2400" dirty="0"/>
          </a:p>
        </p:txBody>
      </p:sp>
      <p:sp>
        <p:nvSpPr>
          <p:cNvPr id="24" name="Text 22"/>
          <p:cNvSpPr txBox="1"/>
          <p:nvPr/>
        </p:nvSpPr>
        <p:spPr>
          <a:xfrm>
            <a:off x="8366760" y="3017520"/>
            <a:ext cx="2743200" cy="365760"/>
          </a:xfrm>
          <a:prstGeom prst="rect">
            <a:avLst/>
          </a:prstGeom>
          <a:noFill/>
          <a:ln/>
        </p:spPr>
        <p:txBody>
          <a:bodyPr wrap="square" lIns="0" tIns="0" rIns="0" bIns="0" rtlCol="0" anchor="t"/>
          <a:lstStyle/>
          <a:p>
            <a:pPr indent="0" marL="0">
              <a:buNone/>
            </a:pPr>
            <a:r>
              <a:rPr lang="en-US" sz="1600" b="1" dirty="0">
                <a:solidFill>
                  <a:srgbClr val="3CCB8F"/>
                </a:solidFill>
                <a:latin typeface="Aptos" pitchFamily="34" charset="0"/>
                <a:ea typeface="Aptos" pitchFamily="34" charset="-122"/>
                <a:cs typeface="Aptos" pitchFamily="34" charset="-120"/>
              </a:rPr>
              <a:t>and adapt, live</a:t>
            </a:r>
            <a:endParaRPr lang="en-US" sz="1600" dirty="0"/>
          </a:p>
        </p:txBody>
      </p:sp>
      <p:sp>
        <p:nvSpPr>
          <p:cNvPr id="25" name="Text 23"/>
          <p:cNvSpPr txBox="1"/>
          <p:nvPr/>
        </p:nvSpPr>
        <p:spPr>
          <a:xfrm>
            <a:off x="8366760" y="3474720"/>
            <a:ext cx="2743200" cy="82296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Dashboard with cited explanation</a:t>
            </a:r>
            <a:endParaRPr lang="en-US" sz="1400" dirty="0"/>
          </a:p>
        </p:txBody>
      </p:sp>
      <p:sp>
        <p:nvSpPr>
          <p:cNvPr id="26" name="Shape 24"/>
          <p:cNvSpPr/>
          <p:nvPr/>
        </p:nvSpPr>
        <p:spPr>
          <a:xfrm>
            <a:off x="594360" y="4800600"/>
            <a:ext cx="10972800" cy="1188720"/>
          </a:xfrm>
          <a:prstGeom prst="roundRect">
            <a:avLst>
              <a:gd name="adj" fmla="val 6154"/>
            </a:avLst>
          </a:prstGeom>
          <a:solidFill>
            <a:srgbClr val="0D3345"/>
          </a:solidFill>
          <a:ln w="12700">
            <a:solidFill>
              <a:srgbClr val="28536B"/>
            </a:solidFill>
            <a:prstDash val="solid"/>
          </a:ln>
        </p:spPr>
      </p:sp>
      <p:sp>
        <p:nvSpPr>
          <p:cNvPr id="27" name="Text 25"/>
          <p:cNvSpPr txBox="1"/>
          <p:nvPr/>
        </p:nvSpPr>
        <p:spPr>
          <a:xfrm>
            <a:off x="868680" y="4800600"/>
            <a:ext cx="10424160" cy="1188720"/>
          </a:xfrm>
          <a:prstGeom prst="rect">
            <a:avLst/>
          </a:prstGeom>
          <a:noFill/>
          <a:ln/>
        </p:spPr>
        <p:txBody>
          <a:bodyPr wrap="square" lIns="0" tIns="0" rIns="0" bIns="0" rtlCol="0" anchor="ctr"/>
          <a:lstStyle/>
          <a:p>
            <a:pPr indent="0" marL="0">
              <a:buNone/>
            </a:pPr>
            <a:r>
              <a:rPr lang="en-US" sz="1700" b="1" dirty="0">
                <a:solidFill>
                  <a:srgbClr val="45D7E8"/>
                </a:solidFill>
                <a:latin typeface="Aptos" pitchFamily="34" charset="0"/>
                <a:ea typeface="Aptos" pitchFamily="34" charset="-122"/>
                <a:cs typeface="Aptos" pitchFamily="34" charset="-120"/>
              </a:rPr>
              <a:t>Human agent decides. </a:t>
            </a:r>
            <a:pPr indent="0" marL="0">
              <a:buNone/>
            </a:pPr>
            <a:r>
              <a:rPr lang="en-US" sz="1700" dirty="0">
                <a:solidFill>
                  <a:srgbClr val="F4F8FC"/>
                </a:solidFill>
                <a:latin typeface="Aptos" pitchFamily="34" charset="0"/>
                <a:ea typeface="Aptos" pitchFamily="34" charset="-122"/>
                <a:cs typeface="Aptos" pitchFamily="34" charset="-120"/>
              </a:rPr>
              <a:t>The agent approves the recommendation or picks another option; every override is logged with a reason. Nothing is booked automatically.</a:t>
            </a:r>
            <a:endParaRPr lang="en-US" sz="1700" dirty="0"/>
          </a:p>
        </p:txBody>
      </p:sp>
      <p:sp>
        <p:nvSpPr>
          <p:cNvPr id="28" name="Text 26"/>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Inputs: BTS on-time history · timetable, connection times, seats · traveller priority · policy text</a:t>
            </a:r>
            <a:endParaRPr lang="en-US" sz="1100" dirty="0"/>
          </a:p>
        </p:txBody>
      </p:sp>
      <p:sp>
        <p:nvSpPr>
          <p:cNvPr id="29" name="Text 27"/>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3:40–4:50 · TECHNICAL</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1 · Predict real connection risk, not timetables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Flights don't land on schedule, so the plan shouldn't assume they do</a:t>
            </a:r>
            <a:endParaRPr lang="en-US" sz="2000" dirty="0"/>
          </a:p>
        </p:txBody>
      </p:sp>
      <p:sp>
        <p:nvSpPr>
          <p:cNvPr id="6" name="Shape 4"/>
          <p:cNvSpPr/>
          <p:nvPr/>
        </p:nvSpPr>
        <p:spPr>
          <a:xfrm>
            <a:off x="594360" y="2103120"/>
            <a:ext cx="5394960" cy="3840480"/>
          </a:xfrm>
          <a:prstGeom prst="roundRect">
            <a:avLst>
              <a:gd name="adj" fmla="val 1905"/>
            </a:avLst>
          </a:prstGeom>
          <a:solidFill>
            <a:srgbClr val="11263B"/>
          </a:solidFill>
          <a:ln w="12700">
            <a:solidFill>
              <a:srgbClr val="28536B"/>
            </a:solidFill>
            <a:prstDash val="solid"/>
          </a:ln>
        </p:spPr>
      </p:sp>
      <p:sp>
        <p:nvSpPr>
          <p:cNvPr id="7" name="Text 5"/>
          <p:cNvSpPr txBox="1"/>
          <p:nvPr/>
        </p:nvSpPr>
        <p:spPr>
          <a:xfrm>
            <a:off x="868680" y="2240280"/>
            <a:ext cx="493776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Delay model (supervised learning)</a:t>
            </a:r>
            <a:endParaRPr lang="en-US" sz="1800" dirty="0"/>
          </a:p>
        </p:txBody>
      </p:sp>
      <p:sp>
        <p:nvSpPr>
          <p:cNvPr id="8" name="Text 6"/>
          <p:cNvSpPr txBox="1"/>
          <p:nvPr/>
        </p:nvSpPr>
        <p:spPr>
          <a:xfrm>
            <a:off x="868680" y="2743200"/>
            <a:ext cx="4937760" cy="3017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Gradient boosting trained on U.S. BTS on-time history</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Predicts the full delay distribution: 10 delay bands + cancelled</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Transferable features: hour, month, weekday, distance, airport busyness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Tested on held-out months, with calibration checks</a:t>
            </a:r>
            <a:endParaRPr lang="en-US" sz="1500" dirty="0"/>
          </a:p>
        </p:txBody>
      </p:sp>
      <p:sp>
        <p:nvSpPr>
          <p:cNvPr id="9" name="Shape 7"/>
          <p:cNvSpPr/>
          <p:nvPr/>
        </p:nvSpPr>
        <p:spPr>
          <a:xfrm>
            <a:off x="6263640" y="2103120"/>
            <a:ext cx="5303520" cy="3840480"/>
          </a:xfrm>
          <a:prstGeom prst="roundRect">
            <a:avLst>
              <a:gd name="adj" fmla="val 1905"/>
            </a:avLst>
          </a:prstGeom>
          <a:solidFill>
            <a:srgbClr val="11263B"/>
          </a:solidFill>
          <a:ln w="12700">
            <a:solidFill>
              <a:srgbClr val="28536B"/>
            </a:solidFill>
            <a:prstDash val="solid"/>
          </a:ln>
        </p:spPr>
      </p:sp>
      <p:sp>
        <p:nvSpPr>
          <p:cNvPr id="10" name="Text 8"/>
          <p:cNvSpPr txBox="1"/>
          <p:nvPr/>
        </p:nvSpPr>
        <p:spPr>
          <a:xfrm>
            <a:off x="6537960" y="2240280"/>
            <a:ext cx="484632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Timetable vs. reality</a:t>
            </a:r>
            <a:endParaRPr lang="en-US" sz="1800" dirty="0"/>
          </a:p>
        </p:txBody>
      </p:sp>
      <p:sp>
        <p:nvSpPr>
          <p:cNvPr id="11" name="Text 9"/>
          <p:cNvSpPr txBox="1"/>
          <p:nvPr/>
        </p:nvSpPr>
        <p:spPr>
          <a:xfrm>
            <a:off x="6537960" y="2697480"/>
            <a:ext cx="4846320" cy="45720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Zürich → Vienna → Warsaw, 50-minute connection in Vienna</a:t>
            </a:r>
            <a:endParaRPr lang="en-US" sz="1400" dirty="0"/>
          </a:p>
        </p:txBody>
      </p:sp>
      <p:sp>
        <p:nvSpPr>
          <p:cNvPr id="12" name="Text 10"/>
          <p:cNvSpPr txBox="1"/>
          <p:nvPr/>
        </p:nvSpPr>
        <p:spPr>
          <a:xfrm>
            <a:off x="6537960" y="3246120"/>
            <a:ext cx="2377440" cy="82296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Timetable says</a:t>
            </a:r>
            <a:endParaRPr lang="en-US" sz="1600" dirty="0"/>
          </a:p>
        </p:txBody>
      </p:sp>
      <p:sp>
        <p:nvSpPr>
          <p:cNvPr id="13" name="Text 11"/>
          <p:cNvSpPr txBox="1"/>
          <p:nvPr/>
        </p:nvSpPr>
        <p:spPr>
          <a:xfrm>
            <a:off x="8961120" y="3246120"/>
            <a:ext cx="2377440" cy="822960"/>
          </a:xfrm>
          <a:prstGeom prst="rect">
            <a:avLst/>
          </a:prstGeom>
          <a:noFill/>
          <a:ln/>
        </p:spPr>
        <p:txBody>
          <a:bodyPr wrap="square" lIns="0" tIns="0" rIns="0" bIns="0" rtlCol="0" anchor="ctr"/>
          <a:lstStyle/>
          <a:p>
            <a:pPr algn="r" indent="0" marL="0">
              <a:buNone/>
            </a:pPr>
            <a:r>
              <a:rPr lang="en-US" sz="4000" b="1" dirty="0">
                <a:solidFill>
                  <a:srgbClr val="AFC6D7"/>
                </a:solidFill>
                <a:latin typeface="Aptos" pitchFamily="34" charset="0"/>
                <a:ea typeface="Aptos" pitchFamily="34" charset="-122"/>
                <a:cs typeface="Aptos" pitchFamily="34" charset="-120"/>
              </a:rPr>
              <a:t>100%</a:t>
            </a:r>
            <a:endParaRPr lang="en-US" sz="4000" dirty="0"/>
          </a:p>
        </p:txBody>
      </p:sp>
      <p:sp>
        <p:nvSpPr>
          <p:cNvPr id="14" name="Text 12"/>
          <p:cNvSpPr txBox="1"/>
          <p:nvPr/>
        </p:nvSpPr>
        <p:spPr>
          <a:xfrm>
            <a:off x="6537960" y="4206240"/>
            <a:ext cx="2377440" cy="82296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Model says</a:t>
            </a:r>
            <a:endParaRPr lang="en-US" sz="1600" dirty="0"/>
          </a:p>
        </p:txBody>
      </p:sp>
      <p:sp>
        <p:nvSpPr>
          <p:cNvPr id="15" name="Text 13"/>
          <p:cNvSpPr txBox="1"/>
          <p:nvPr/>
        </p:nvSpPr>
        <p:spPr>
          <a:xfrm>
            <a:off x="8961120" y="4206240"/>
            <a:ext cx="2377440" cy="822960"/>
          </a:xfrm>
          <a:prstGeom prst="rect">
            <a:avLst/>
          </a:prstGeom>
          <a:noFill/>
          <a:ln/>
        </p:spPr>
        <p:txBody>
          <a:bodyPr wrap="square" lIns="0" tIns="0" rIns="0" bIns="0" rtlCol="0" anchor="ctr"/>
          <a:lstStyle/>
          <a:p>
            <a:pPr algn="r" indent="0" marL="0">
              <a:buNone/>
            </a:pPr>
            <a:r>
              <a:rPr lang="en-US" sz="4000" b="1" dirty="0">
                <a:solidFill>
                  <a:srgbClr val="F2B84B"/>
                </a:solidFill>
                <a:latin typeface="Aptos" pitchFamily="34" charset="0"/>
                <a:ea typeface="Aptos" pitchFamily="34" charset="-122"/>
                <a:cs typeface="Aptos" pitchFamily="34" charset="-120"/>
              </a:rPr>
              <a:t>65%</a:t>
            </a:r>
            <a:endParaRPr lang="en-US" sz="4000" dirty="0"/>
          </a:p>
        </p:txBody>
      </p:sp>
      <p:sp>
        <p:nvSpPr>
          <p:cNvPr id="16" name="Text 14"/>
          <p:cNvSpPr txBox="1"/>
          <p:nvPr/>
        </p:nvSpPr>
        <p:spPr>
          <a:xfrm>
            <a:off x="6537960" y="5166360"/>
            <a:ext cx="4846320" cy="5486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chance the traveller makes the connection</a:t>
            </a:r>
            <a:endParaRPr lang="en-US" sz="1400" dirty="0"/>
          </a:p>
        </p:txBody>
      </p:sp>
      <p:sp>
        <p:nvSpPr>
          <p:cNvPr id="17" name="Text 1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P(connection works) = P(inbound delay ≤ slack after minimum connection time) × P(onward flight operates) · prototype numbers</a:t>
            </a:r>
            <a:endParaRPr lang="en-US" sz="1100" dirty="0"/>
          </a:p>
        </p:txBody>
      </p:sp>
      <p:sp>
        <p:nvSpPr>
          <p:cNvPr id="18" name="Text 1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4:50–6:00 · TECHNICAL</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2 · Score routes by total business cost</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One number, in dollars, for every feasible route</a:t>
            </a:r>
            <a:endParaRPr lang="en-US" sz="2000" dirty="0"/>
          </a:p>
        </p:txBody>
      </p:sp>
      <p:sp>
        <p:nvSpPr>
          <p:cNvPr id="6" name="Shape 4"/>
          <p:cNvSpPr/>
          <p:nvPr/>
        </p:nvSpPr>
        <p:spPr>
          <a:xfrm>
            <a:off x="594360" y="2103120"/>
            <a:ext cx="6492240" cy="3840480"/>
          </a:xfrm>
          <a:prstGeom prst="roundRect">
            <a:avLst>
              <a:gd name="adj" fmla="val 1905"/>
            </a:avLst>
          </a:prstGeom>
          <a:solidFill>
            <a:srgbClr val="11263B"/>
          </a:solidFill>
          <a:ln w="12700">
            <a:solidFill>
              <a:srgbClr val="28536B"/>
            </a:solidFill>
            <a:prstDash val="solid"/>
          </a:ln>
        </p:spPr>
      </p:sp>
      <p:sp>
        <p:nvSpPr>
          <p:cNvPr id="7" name="Text 5"/>
          <p:cNvSpPr txBox="1"/>
          <p:nvPr/>
        </p:nvSpPr>
        <p:spPr>
          <a:xfrm>
            <a:off x="868680" y="2240280"/>
            <a:ext cx="603504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Graph search filters, cost model ranks</a:t>
            </a:r>
            <a:endParaRPr lang="en-US" sz="1800" dirty="0"/>
          </a:p>
        </p:txBody>
      </p:sp>
      <p:sp>
        <p:nvSpPr>
          <p:cNvPr id="8" name="Text 6"/>
          <p:cNvSpPr txBox="1"/>
          <p:nvPr/>
        </p:nvSpPr>
        <p:spPr>
          <a:xfrm>
            <a:off x="868680" y="2743200"/>
            <a:ext cx="6035040" cy="30175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Dijkstra / A* drop impossible paths: too-tight connections, full flights</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Each viable path is scored on: ticket price + value of time + missed-connection fallback risk</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Airline view adds EU261 step penalties, meals and hotel</a:t>
            </a:r>
            <a:endParaRPr lang="en-US" sz="1500" dirty="0"/>
          </a:p>
          <a:p>
            <a:pPr marL="203200" indent="-203200">
              <a:spcAft>
                <a:spcPts val="600"/>
              </a:spcAft>
              <a:buSzPct val="100000"/>
              <a:buChar char="•"/>
            </a:pPr>
            <a:r>
              <a:rPr lang="en-US" sz="1500" dirty="0">
                <a:solidFill>
                  <a:srgbClr val="F4F8FC"/>
                </a:solidFill>
                <a:latin typeface="Aptos" pitchFamily="34" charset="0"/>
                <a:ea typeface="Aptos" pitchFamily="34" charset="-122"/>
                <a:cs typeface="Aptos" pitchFamily="34" charset="-120"/>
              </a:rPr>
              <a:t>A* reaches the same best route as Dijkstra while exploring half the nodes (4 vs 8)</a:t>
            </a:r>
            <a:endParaRPr lang="en-US" sz="1500" dirty="0"/>
          </a:p>
        </p:txBody>
      </p:sp>
      <p:sp>
        <p:nvSpPr>
          <p:cNvPr id="9" name="Text 7"/>
          <p:cNvSpPr txBox="1"/>
          <p:nvPr/>
        </p:nvSpPr>
        <p:spPr>
          <a:xfrm>
            <a:off x="7406640" y="2103120"/>
            <a:ext cx="4206240" cy="365760"/>
          </a:xfrm>
          <a:prstGeom prst="rect">
            <a:avLst/>
          </a:prstGeom>
          <a:noFill/>
          <a:ln/>
        </p:spPr>
        <p:txBody>
          <a:bodyPr wrap="square" lIns="0" tIns="0" rIns="0" bIns="0" rtlCol="0" anchor="t"/>
          <a:lstStyle/>
          <a:p>
            <a:pPr indent="0" marL="0">
              <a:buNone/>
            </a:pPr>
            <a:r>
              <a:rPr lang="en-US" sz="1700" b="1" dirty="0">
                <a:solidFill>
                  <a:srgbClr val="F4F8FC"/>
                </a:solidFill>
                <a:latin typeface="Aptos" pitchFamily="34" charset="0"/>
                <a:ea typeface="Aptos" pitchFamily="34" charset="-122"/>
                <a:cs typeface="Aptos" pitchFamily="34" charset="-120"/>
              </a:rPr>
              <a:t>EU261 is a step, not a slope</a:t>
            </a:r>
            <a:endParaRPr lang="en-US" sz="1700" dirty="0"/>
          </a:p>
        </p:txBody>
      </p:sp>
      <p:sp>
        <p:nvSpPr>
          <p:cNvPr id="10" name="Shape 8"/>
          <p:cNvSpPr/>
          <p:nvPr/>
        </p:nvSpPr>
        <p:spPr>
          <a:xfrm>
            <a:off x="7406640" y="2606040"/>
            <a:ext cx="4160520" cy="777240"/>
          </a:xfrm>
          <a:prstGeom prst="roundRect">
            <a:avLst>
              <a:gd name="adj" fmla="val 9412"/>
            </a:avLst>
          </a:prstGeom>
          <a:solidFill>
            <a:srgbClr val="11263B"/>
          </a:solidFill>
          <a:ln w="12700">
            <a:solidFill>
              <a:srgbClr val="28536B"/>
            </a:solidFill>
            <a:prstDash val="solid"/>
          </a:ln>
        </p:spPr>
      </p:sp>
      <p:sp>
        <p:nvSpPr>
          <p:cNvPr id="11" name="Text 9"/>
          <p:cNvSpPr txBox="1"/>
          <p:nvPr/>
        </p:nvSpPr>
        <p:spPr>
          <a:xfrm>
            <a:off x="7680960" y="2606040"/>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&lt; 3 h late</a:t>
            </a:r>
            <a:endParaRPr lang="en-US" sz="1600" dirty="0"/>
          </a:p>
        </p:txBody>
      </p:sp>
      <p:sp>
        <p:nvSpPr>
          <p:cNvPr id="12" name="Text 10"/>
          <p:cNvSpPr txBox="1"/>
          <p:nvPr/>
        </p:nvSpPr>
        <p:spPr>
          <a:xfrm>
            <a:off x="9692640" y="2606040"/>
            <a:ext cx="1645920" cy="777240"/>
          </a:xfrm>
          <a:prstGeom prst="rect">
            <a:avLst/>
          </a:prstGeom>
          <a:noFill/>
          <a:ln/>
        </p:spPr>
        <p:txBody>
          <a:bodyPr wrap="square" lIns="0" tIns="0" rIns="0" bIns="0" rtlCol="0" anchor="ctr"/>
          <a:lstStyle/>
          <a:p>
            <a:pPr algn="r" indent="0" marL="0">
              <a:buNone/>
            </a:pPr>
            <a:r>
              <a:rPr lang="en-US" sz="2600" b="1" dirty="0">
                <a:solidFill>
                  <a:srgbClr val="3CCB8F"/>
                </a:solidFill>
                <a:latin typeface="Aptos" pitchFamily="34" charset="0"/>
                <a:ea typeface="Aptos" pitchFamily="34" charset="-122"/>
                <a:cs typeface="Aptos" pitchFamily="34" charset="-120"/>
              </a:rPr>
              <a:t>€0</a:t>
            </a:r>
            <a:endParaRPr lang="en-US" sz="2600" dirty="0"/>
          </a:p>
        </p:txBody>
      </p:sp>
      <p:sp>
        <p:nvSpPr>
          <p:cNvPr id="13" name="Shape 11"/>
          <p:cNvSpPr/>
          <p:nvPr/>
        </p:nvSpPr>
        <p:spPr>
          <a:xfrm>
            <a:off x="7406640" y="3538728"/>
            <a:ext cx="4160520" cy="777240"/>
          </a:xfrm>
          <a:prstGeom prst="roundRect">
            <a:avLst>
              <a:gd name="adj" fmla="val 9412"/>
            </a:avLst>
          </a:prstGeom>
          <a:solidFill>
            <a:srgbClr val="11263B"/>
          </a:solidFill>
          <a:ln w="12700">
            <a:solidFill>
              <a:srgbClr val="28536B"/>
            </a:solidFill>
            <a:prstDash val="solid"/>
          </a:ln>
        </p:spPr>
      </p:sp>
      <p:sp>
        <p:nvSpPr>
          <p:cNvPr id="14" name="Text 12"/>
          <p:cNvSpPr txBox="1"/>
          <p:nvPr/>
        </p:nvSpPr>
        <p:spPr>
          <a:xfrm>
            <a:off x="7680960" y="3538728"/>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3–4 h late</a:t>
            </a:r>
            <a:endParaRPr lang="en-US" sz="1600" dirty="0"/>
          </a:p>
        </p:txBody>
      </p:sp>
      <p:sp>
        <p:nvSpPr>
          <p:cNvPr id="15" name="Text 13"/>
          <p:cNvSpPr txBox="1"/>
          <p:nvPr/>
        </p:nvSpPr>
        <p:spPr>
          <a:xfrm>
            <a:off x="9692640" y="3538728"/>
            <a:ext cx="1645920" cy="777240"/>
          </a:xfrm>
          <a:prstGeom prst="rect">
            <a:avLst/>
          </a:prstGeom>
          <a:noFill/>
          <a:ln/>
        </p:spPr>
        <p:txBody>
          <a:bodyPr wrap="square" lIns="0" tIns="0" rIns="0" bIns="0" rtlCol="0" anchor="ctr"/>
          <a:lstStyle/>
          <a:p>
            <a:pPr algn="r" indent="0" marL="0">
              <a:buNone/>
            </a:pPr>
            <a:r>
              <a:rPr lang="en-US" sz="2600" b="1" dirty="0">
                <a:solidFill>
                  <a:srgbClr val="F2B84B"/>
                </a:solidFill>
                <a:latin typeface="Aptos" pitchFamily="34" charset="0"/>
                <a:ea typeface="Aptos" pitchFamily="34" charset="-122"/>
                <a:cs typeface="Aptos" pitchFamily="34" charset="-120"/>
              </a:rPr>
              <a:t>€300</a:t>
            </a:r>
            <a:endParaRPr lang="en-US" sz="2600" dirty="0"/>
          </a:p>
        </p:txBody>
      </p:sp>
      <p:sp>
        <p:nvSpPr>
          <p:cNvPr id="16" name="Shape 14"/>
          <p:cNvSpPr/>
          <p:nvPr/>
        </p:nvSpPr>
        <p:spPr>
          <a:xfrm>
            <a:off x="7406640" y="4471416"/>
            <a:ext cx="4160520" cy="777240"/>
          </a:xfrm>
          <a:prstGeom prst="roundRect">
            <a:avLst>
              <a:gd name="adj" fmla="val 9412"/>
            </a:avLst>
          </a:prstGeom>
          <a:solidFill>
            <a:srgbClr val="11263B"/>
          </a:solidFill>
          <a:ln w="12700">
            <a:solidFill>
              <a:srgbClr val="28536B"/>
            </a:solidFill>
            <a:prstDash val="solid"/>
          </a:ln>
        </p:spPr>
      </p:sp>
      <p:sp>
        <p:nvSpPr>
          <p:cNvPr id="17" name="Text 15"/>
          <p:cNvSpPr txBox="1"/>
          <p:nvPr/>
        </p:nvSpPr>
        <p:spPr>
          <a:xfrm>
            <a:off x="7680960" y="4471416"/>
            <a:ext cx="2011680" cy="777240"/>
          </a:xfrm>
          <a:prstGeom prst="rect">
            <a:avLst/>
          </a:prstGeom>
          <a:noFill/>
          <a:ln/>
        </p:spPr>
        <p:txBody>
          <a:bodyPr wrap="square" lIns="0" tIns="0" rIns="0" bIns="0" rtlCol="0" anchor="ctr"/>
          <a:lstStyle/>
          <a:p>
            <a:pPr indent="0" marL="0">
              <a:buNone/>
            </a:pPr>
            <a:r>
              <a:rPr lang="en-US" sz="1600" dirty="0">
                <a:solidFill>
                  <a:srgbClr val="F4F8FC"/>
                </a:solidFill>
                <a:latin typeface="Aptos" pitchFamily="34" charset="0"/>
                <a:ea typeface="Aptos" pitchFamily="34" charset="-122"/>
                <a:cs typeface="Aptos" pitchFamily="34" charset="-120"/>
              </a:rPr>
              <a:t>4 h+ late</a:t>
            </a:r>
            <a:endParaRPr lang="en-US" sz="1600" dirty="0"/>
          </a:p>
        </p:txBody>
      </p:sp>
      <p:sp>
        <p:nvSpPr>
          <p:cNvPr id="18" name="Text 16"/>
          <p:cNvSpPr txBox="1"/>
          <p:nvPr/>
        </p:nvSpPr>
        <p:spPr>
          <a:xfrm>
            <a:off x="9692640" y="4471416"/>
            <a:ext cx="1645920" cy="777240"/>
          </a:xfrm>
          <a:prstGeom prst="rect">
            <a:avLst/>
          </a:prstGeom>
          <a:noFill/>
          <a:ln/>
        </p:spPr>
        <p:txBody>
          <a:bodyPr wrap="square" lIns="0" tIns="0" rIns="0" bIns="0" rtlCol="0" anchor="ctr"/>
          <a:lstStyle/>
          <a:p>
            <a:pPr algn="r" indent="0" marL="0">
              <a:buNone/>
            </a:pPr>
            <a:r>
              <a:rPr lang="en-US" sz="2600" b="1" dirty="0">
                <a:solidFill>
                  <a:srgbClr val="E0485F"/>
                </a:solidFill>
                <a:latin typeface="Aptos" pitchFamily="34" charset="0"/>
                <a:ea typeface="Aptos" pitchFamily="34" charset="-122"/>
                <a:cs typeface="Aptos" pitchFamily="34" charset="-120"/>
              </a:rPr>
              <a:t>€600</a:t>
            </a:r>
            <a:endParaRPr lang="en-US" sz="2600" dirty="0"/>
          </a:p>
        </p:txBody>
      </p:sp>
      <p:sp>
        <p:nvSpPr>
          <p:cNvPr id="19" name="Text 17"/>
          <p:cNvSpPr txBox="1"/>
          <p:nvPr/>
        </p:nvSpPr>
        <p:spPr>
          <a:xfrm>
            <a:off x="7406640" y="5440680"/>
            <a:ext cx="4160520" cy="548640"/>
          </a:xfrm>
          <a:prstGeom prst="rect">
            <a:avLst/>
          </a:prstGeom>
          <a:noFill/>
          <a:ln/>
        </p:spPr>
        <p:txBody>
          <a:bodyPr wrap="square" lIns="0" tIns="0" rIns="0" bIns="0" rtlCol="0" anchor="t"/>
          <a:lstStyle/>
          <a:p>
            <a:pPr indent="0" marL="0">
              <a:buNone/>
            </a:pPr>
            <a:r>
              <a:rPr lang="en-US" sz="1400" dirty="0">
                <a:solidFill>
                  <a:srgbClr val="AFC6D7"/>
                </a:solidFill>
                <a:latin typeface="Aptos" pitchFamily="34" charset="0"/>
                <a:ea typeface="Aptos" pitchFamily="34" charset="-122"/>
                <a:cs typeface="Aptos" pitchFamily="34" charset="-120"/>
              </a:rPr>
              <a:t>A few minutes can flip the cost, like the VectorDash late penalty.</a:t>
            </a:r>
            <a:endParaRPr lang="en-US" sz="1400" dirty="0"/>
          </a:p>
        </p:txBody>
      </p:sp>
      <p:sp>
        <p:nvSpPr>
          <p:cNvPr id="20" name="Text 18"/>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Compensation for a Boston–Warsaw journey (&gt; 3,500 km), halved when re-routing keeps the delay under 4 h · Regulation (EC) No 261/2004</a:t>
            </a:r>
            <a:endParaRPr lang="en-US" sz="1100" dirty="0"/>
          </a:p>
        </p:txBody>
      </p:sp>
      <p:sp>
        <p:nvSpPr>
          <p:cNvPr id="21" name="Text 19"/>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6:00–8:00 · TECHNICAL</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3 · Recommend and adapt: live demo</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Change the priority and the recommendation changes; the agent stays in control</a:t>
            </a:r>
            <a:endParaRPr lang="en-US" sz="2000" dirty="0"/>
          </a:p>
        </p:txBody>
      </p:sp>
      <p:pic>
        <p:nvPicPr>
          <p:cNvPr id="6" name="Image 0" descr="/tmp/claude-0/-home-user-bsarfo-github-io/380a44b5-d2ae-5c84-8627-eefe537043e3/scratchpad/deck/demo_shot.png">    </p:cNvPr>
          <p:cNvPicPr>
            <a:picLocks noChangeAspect="1"/>
          </p:cNvPicPr>
          <p:nvPr/>
        </p:nvPicPr>
        <p:blipFill>
          <a:blip r:embed="rId1"/>
          <a:stretch>
            <a:fillRect/>
          </a:stretch>
        </p:blipFill>
        <p:spPr>
          <a:xfrm>
            <a:off x="594360" y="2057400"/>
            <a:ext cx="5852160" cy="2670048"/>
          </a:xfrm>
          <a:prstGeom prst="rect">
            <a:avLst/>
          </a:prstGeom>
        </p:spPr>
      </p:pic>
      <p:sp>
        <p:nvSpPr>
          <p:cNvPr id="7" name="Shape 4"/>
          <p:cNvSpPr/>
          <p:nvPr/>
        </p:nvSpPr>
        <p:spPr>
          <a:xfrm>
            <a:off x="594360" y="2057400"/>
            <a:ext cx="5852160" cy="2670048"/>
          </a:xfrm>
          <a:prstGeom prst="rect">
            <a:avLst/>
          </a:prstGeom>
          <a:ln w="12700">
            <a:solidFill>
              <a:srgbClr val="28536B"/>
            </a:solidFill>
            <a:prstDash val="solid"/>
          </a:ln>
        </p:spPr>
      </p:sp>
      <p:sp>
        <p:nvSpPr>
          <p:cNvPr id="8" name="Shape 5"/>
          <p:cNvSpPr/>
          <p:nvPr/>
        </p:nvSpPr>
        <p:spPr>
          <a:xfrm>
            <a:off x="594360" y="4892040"/>
            <a:ext cx="5852160" cy="1097280"/>
          </a:xfrm>
          <a:prstGeom prst="roundRect">
            <a:avLst>
              <a:gd name="adj" fmla="val 6667"/>
            </a:avLst>
          </a:prstGeom>
          <a:solidFill>
            <a:srgbClr val="0D3345"/>
          </a:solidFill>
          <a:ln w="12700">
            <a:solidFill>
              <a:srgbClr val="28536B"/>
            </a:solidFill>
            <a:prstDash val="solid"/>
          </a:ln>
        </p:spPr>
      </p:sp>
      <p:sp>
        <p:nvSpPr>
          <p:cNvPr id="9" name="Text 6"/>
          <p:cNvSpPr txBox="1"/>
          <p:nvPr/>
        </p:nvSpPr>
        <p:spPr>
          <a:xfrm>
            <a:off x="822960" y="4892040"/>
            <a:ext cx="5486400" cy="1097280"/>
          </a:xfrm>
          <a:prstGeom prst="rect">
            <a:avLst/>
          </a:prstGeom>
          <a:noFill/>
          <a:ln/>
        </p:spPr>
        <p:txBody>
          <a:bodyPr wrap="square" lIns="0" tIns="0" rIns="0" bIns="0" rtlCol="0" anchor="ctr"/>
          <a:lstStyle/>
          <a:p>
            <a:pPr indent="0" marL="0">
              <a:buNone/>
            </a:pPr>
            <a:r>
              <a:rPr lang="en-US" sz="1600" b="1" dirty="0">
                <a:solidFill>
                  <a:srgbClr val="45D7E8"/>
                </a:solidFill>
                <a:latin typeface="Aptos" pitchFamily="34" charset="0"/>
                <a:ea typeface="Aptos" pitchFamily="34" charset="-122"/>
                <a:cs typeface="Aptos" pitchFamily="34" charset="-120"/>
              </a:rPr>
              <a:t>Headline case: </a:t>
            </a:r>
            <a:pPr indent="0" marL="0">
              <a:buNone/>
            </a:pPr>
            <a:r>
              <a:rPr lang="en-US" sz="1600" dirty="0">
                <a:solidFill>
                  <a:srgbClr val="F4F8FC"/>
                </a:solidFill>
                <a:latin typeface="Aptos" pitchFamily="34" charset="0"/>
                <a:ea typeface="Aptos" pitchFamily="34" charset="-122"/>
                <a:cs typeface="Aptos" pitchFamily="34" charset="-120"/>
              </a:rPr>
              <a:t>buy a $260 seat on a competitor to avoid a €600 compensation payment.</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20840" y="2057400"/>
          <a:ext cx="4846320" cy="914400"/>
        </p:xfrm>
        <a:graphic>
          <a:graphicData uri="http://schemas.openxmlformats.org/drawingml/2006/table">
            <a:tbl>
              <a:tblPr/>
              <a:tblGrid>
                <a:gridCol w="2148840"/>
                <a:gridCol w="2697480"/>
              </a:tblGrid>
              <a:tr h="475488">
                <a:tc>
                  <a:txBody>
                    <a:bodyPr/>
                    <a:lstStyle/>
                    <a:p>
                      <a:pPr indent="0" marL="0">
                        <a:buNone/>
                      </a:pPr>
                      <a:r>
                        <a:rPr lang="en-US" sz="1300" b="1" dirty="0">
                          <a:solidFill>
                            <a:srgbClr val="45D7E8"/>
                          </a:solidFill>
                          <a:latin typeface="Aptos" pitchFamily="34" charset="0"/>
                          <a:ea typeface="Aptos" pitchFamily="34" charset="-122"/>
                          <a:cs typeface="Aptos" pitchFamily="34" charset="-120"/>
                        </a:rPr>
                        <a:t>Who is deciding</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c>
                  <a:txBody>
                    <a:bodyPr/>
                    <a:lstStyle/>
                    <a:p>
                      <a:pPr indent="0" marL="0">
                        <a:buNone/>
                      </a:pPr>
                      <a:r>
                        <a:rPr lang="en-US" sz="1300" b="1" dirty="0">
                          <a:solidFill>
                            <a:srgbClr val="45D7E8"/>
                          </a:solidFill>
                          <a:latin typeface="Aptos" pitchFamily="34" charset="0"/>
                          <a:ea typeface="Aptos" pitchFamily="34" charset="-122"/>
                          <a:cs typeface="Aptos" pitchFamily="34" charset="-120"/>
                        </a:rPr>
                        <a:t>Recommended route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0D3345"/>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Student ($0–10/h)</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Next direct, 14:20 · free, 96%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Leisure ($25–100/h)</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Via Vienna · free, earliest, 65%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Business / urgent</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Paid nonstop, 11:15 · $260, 97% sure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Airline, EU261 applies</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Buy that $260 seat: cheaper than €600</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dirty="0">
                          <a:solidFill>
                            <a:srgbClr val="F4F8FC"/>
                          </a:solidFill>
                          <a:latin typeface="Aptos" pitchFamily="34" charset="0"/>
                          <a:ea typeface="Aptos" pitchFamily="34" charset="-122"/>
                          <a:cs typeface="Aptos" pitchFamily="34" charset="-120"/>
                        </a:rPr>
                        <a:t>Airline, weather delay</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F4F8FC"/>
                          </a:solidFill>
                          <a:latin typeface="Aptos" pitchFamily="34" charset="0"/>
                          <a:ea typeface="Aptos" pitchFamily="34" charset="-122"/>
                          <a:cs typeface="Aptos" pitchFamily="34" charset="-120"/>
                        </a:rPr>
                        <a:t>Late-evening flight · no compensation due</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r h="475488">
                <a:tc>
                  <a:txBody>
                    <a:bodyPr/>
                    <a:lstStyle/>
                    <a:p>
                      <a:pPr indent="0" marL="0">
                        <a:buNone/>
                      </a:pPr>
                      <a:r>
                        <a:rPr lang="en-US" sz="1300" b="1" dirty="0">
                          <a:solidFill>
                            <a:srgbClr val="3CCB8F"/>
                          </a:solidFill>
                          <a:latin typeface="Aptos" pitchFamily="34" charset="0"/>
                          <a:ea typeface="Aptos" pitchFamily="34" charset="-122"/>
                          <a:cs typeface="Aptos" pitchFamily="34" charset="-120"/>
                        </a:rPr>
                        <a:t>Agent</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c>
                  <a:txBody>
                    <a:bodyPr/>
                    <a:lstStyle/>
                    <a:p>
                      <a:pPr indent="0" marL="0">
                        <a:buNone/>
                      </a:pPr>
                      <a:r>
                        <a:rPr lang="en-US" sz="1300" dirty="0">
                          <a:solidFill>
                            <a:srgbClr val="3CCB8F"/>
                          </a:solidFill>
                          <a:latin typeface="Aptos" pitchFamily="34" charset="0"/>
                          <a:ea typeface="Aptos" pitchFamily="34" charset="-122"/>
                          <a:cs typeface="Aptos" pitchFamily="34" charset="-120"/>
                        </a:rPr>
                        <a:t>Approves, or overrides with a logged reason</a:t>
                      </a:r>
                      <a:endParaRPr lang="en-US" sz="1300" dirty="0">
                        <a:latin typeface="Aptos" charset="0"/>
                        <a:ea typeface="Aptos" charset="0"/>
                        <a:cs typeface="Aptos" charset="0"/>
                      </a:endParaRPr>
                    </a:p>
                  </a:txBody>
                  <a:tcPr marL="73152" marR="73152" marT="73152" marB="73152" anchor="ctr">
                    <a:lnL w="12700" cap="flat" cmpd="sng" algn="ctr">
                      <a:solidFill>
                        <a:srgbClr val="28536B"/>
                      </a:solidFill>
                      <a:prstDash val="solid"/>
                      <a:round/>
                      <a:headEnd type="none" w="med" len="med"/>
                      <a:tailEnd type="none" w="med" len="med"/>
                    </a:lnL>
                    <a:lnR w="12700" cap="flat" cmpd="sng" algn="ctr">
                      <a:solidFill>
                        <a:srgbClr val="28536B"/>
                      </a:solidFill>
                      <a:prstDash val="solid"/>
                      <a:round/>
                      <a:headEnd type="none" w="med" len="med"/>
                      <a:tailEnd type="none" w="med" len="med"/>
                    </a:lnR>
                    <a:lnT w="12700" cap="flat" cmpd="sng" algn="ctr">
                      <a:solidFill>
                        <a:srgbClr val="28536B"/>
                      </a:solidFill>
                      <a:prstDash val="solid"/>
                      <a:round/>
                      <a:headEnd type="none" w="med" len="med"/>
                      <a:tailEnd type="none" w="med" len="med"/>
                    </a:lnT>
                    <a:lnB w="12700" cap="flat" cmpd="sng" algn="ctr">
                      <a:solidFill>
                        <a:srgbClr val="28536B"/>
                      </a:solidFill>
                      <a:prstDash val="solid"/>
                      <a:round/>
                      <a:headEnd type="none" w="med" len="med"/>
                      <a:tailEnd type="none" w="med" len="med"/>
                    </a:lnB>
                    <a:solidFill>
                      <a:srgbClr val="11263B"/>
                    </a:solidFill>
                  </a:tcPr>
                </a:tc>
              </a:tr>
            </a:tbl>
          </a:graphicData>
        </a:graphic>
      </p:graphicFrame>
      <p:sp>
        <p:nvSpPr>
          <p:cNvPr id="11" name="Text 7"/>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Streamlit dashboard + offline class simulator · illustrative timetable; “AlpenJet” is fictional · delay model on synthetic BTS-format data until real data is loaded</a:t>
            </a:r>
            <a:endParaRPr lang="en-US" sz="1100" dirty="0"/>
          </a:p>
        </p:txBody>
      </p:sp>
      <p:sp>
        <p:nvSpPr>
          <p:cNvPr id="12" name="Text 8"/>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8:00–10:00 · IMPLEMENTATION</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Roadmap and roles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Each month tied to what we learn in class</a:t>
            </a:r>
            <a:endParaRPr lang="en-US" sz="2000" dirty="0"/>
          </a:p>
        </p:txBody>
      </p:sp>
      <p:sp>
        <p:nvSpPr>
          <p:cNvPr id="6" name="Shape 4"/>
          <p:cNvSpPr/>
          <p:nvPr/>
        </p:nvSpPr>
        <p:spPr>
          <a:xfrm>
            <a:off x="594360" y="2103120"/>
            <a:ext cx="2258568" cy="2834640"/>
          </a:xfrm>
          <a:prstGeom prst="roundRect">
            <a:avLst>
              <a:gd name="adj" fmla="val 3239"/>
            </a:avLst>
          </a:prstGeom>
          <a:solidFill>
            <a:srgbClr val="11263B"/>
          </a:solidFill>
          <a:ln w="12700">
            <a:solidFill>
              <a:srgbClr val="28536B"/>
            </a:solidFill>
            <a:prstDash val="solid"/>
          </a:ln>
        </p:spPr>
      </p:sp>
      <p:sp>
        <p:nvSpPr>
          <p:cNvPr id="7" name="Text 5"/>
          <p:cNvSpPr txBox="1"/>
          <p:nvPr/>
        </p:nvSpPr>
        <p:spPr>
          <a:xfrm>
            <a:off x="777240" y="2240280"/>
            <a:ext cx="192024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October</a:t>
            </a:r>
            <a:endParaRPr lang="en-US" sz="1800" dirty="0"/>
          </a:p>
        </p:txBody>
      </p:sp>
      <p:sp>
        <p:nvSpPr>
          <p:cNvPr id="8" name="Text 6"/>
          <p:cNvSpPr txBox="1"/>
          <p:nvPr/>
        </p:nvSpPr>
        <p:spPr>
          <a:xfrm>
            <a:off x="777240" y="2697480"/>
            <a:ext cx="1920240" cy="21488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Train the delay model on real BTS data</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Build the policy RAG (EU261, carrier rules)</a:t>
            </a:r>
            <a:endParaRPr lang="en-US" sz="1500" dirty="0"/>
          </a:p>
        </p:txBody>
      </p:sp>
      <p:sp>
        <p:nvSpPr>
          <p:cNvPr id="9" name="Shape 7"/>
          <p:cNvSpPr/>
          <p:nvPr/>
        </p:nvSpPr>
        <p:spPr>
          <a:xfrm>
            <a:off x="2990088" y="2103120"/>
            <a:ext cx="2258568" cy="2834640"/>
          </a:xfrm>
          <a:prstGeom prst="roundRect">
            <a:avLst>
              <a:gd name="adj" fmla="val 3239"/>
            </a:avLst>
          </a:prstGeom>
          <a:solidFill>
            <a:srgbClr val="11263B"/>
          </a:solidFill>
          <a:ln w="12700">
            <a:solidFill>
              <a:srgbClr val="28536B"/>
            </a:solidFill>
            <a:prstDash val="solid"/>
          </a:ln>
        </p:spPr>
      </p:sp>
      <p:sp>
        <p:nvSpPr>
          <p:cNvPr id="10" name="Text 8"/>
          <p:cNvSpPr txBox="1"/>
          <p:nvPr/>
        </p:nvSpPr>
        <p:spPr>
          <a:xfrm>
            <a:off x="3172968" y="2240280"/>
            <a:ext cx="192024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November</a:t>
            </a:r>
            <a:endParaRPr lang="en-US" sz="1800" dirty="0"/>
          </a:p>
        </p:txBody>
      </p:sp>
      <p:sp>
        <p:nvSpPr>
          <p:cNvPr id="11" name="Text 9"/>
          <p:cNvSpPr txBox="1"/>
          <p:nvPr/>
        </p:nvSpPr>
        <p:spPr>
          <a:xfrm>
            <a:off x="3172968" y="2697480"/>
            <a:ext cx="1920240" cy="21488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Build the agentic workflow</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Run U.S. historical backtests</a:t>
            </a:r>
            <a:endParaRPr lang="en-US" sz="1500" dirty="0"/>
          </a:p>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5-person user test</a:t>
            </a:r>
            <a:endParaRPr lang="en-US" sz="1500" dirty="0"/>
          </a:p>
        </p:txBody>
      </p:sp>
      <p:sp>
        <p:nvSpPr>
          <p:cNvPr id="12" name="Shape 10"/>
          <p:cNvSpPr/>
          <p:nvPr/>
        </p:nvSpPr>
        <p:spPr>
          <a:xfrm>
            <a:off x="5385816" y="2103120"/>
            <a:ext cx="2258568" cy="2834640"/>
          </a:xfrm>
          <a:prstGeom prst="roundRect">
            <a:avLst>
              <a:gd name="adj" fmla="val 3239"/>
            </a:avLst>
          </a:prstGeom>
          <a:solidFill>
            <a:srgbClr val="11263B"/>
          </a:solidFill>
          <a:ln w="12700">
            <a:solidFill>
              <a:srgbClr val="28536B"/>
            </a:solidFill>
            <a:prstDash val="solid"/>
          </a:ln>
        </p:spPr>
      </p:sp>
      <p:sp>
        <p:nvSpPr>
          <p:cNvPr id="13" name="Text 11"/>
          <p:cNvSpPr txBox="1"/>
          <p:nvPr/>
        </p:nvSpPr>
        <p:spPr>
          <a:xfrm>
            <a:off x="5568696" y="2240280"/>
            <a:ext cx="1920240" cy="365760"/>
          </a:xfrm>
          <a:prstGeom prst="rect">
            <a:avLst/>
          </a:prstGeom>
          <a:noFill/>
          <a:ln/>
        </p:spPr>
        <p:txBody>
          <a:bodyPr wrap="square" lIns="0" tIns="0" rIns="0" bIns="0" rtlCol="0" anchor="t"/>
          <a:lstStyle/>
          <a:p>
            <a:pPr indent="0" marL="0">
              <a:buNone/>
            </a:pPr>
            <a:r>
              <a:rPr lang="en-US" sz="1800" b="1" dirty="0">
                <a:solidFill>
                  <a:srgbClr val="3CCB8F"/>
                </a:solidFill>
                <a:latin typeface="Aptos" pitchFamily="34" charset="0"/>
                <a:ea typeface="Aptos" pitchFamily="34" charset="-122"/>
                <a:cs typeface="Aptos" pitchFamily="34" charset="-120"/>
              </a:rPr>
              <a:t>December</a:t>
            </a:r>
            <a:endParaRPr lang="en-US" sz="1800" dirty="0"/>
          </a:p>
        </p:txBody>
      </p:sp>
      <p:sp>
        <p:nvSpPr>
          <p:cNvPr id="14" name="Text 12"/>
          <p:cNvSpPr txBox="1"/>
          <p:nvPr/>
        </p:nvSpPr>
        <p:spPr>
          <a:xfrm>
            <a:off x="5568696" y="2697480"/>
            <a:ext cx="1920240" cy="21488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F4F8FC"/>
                </a:solidFill>
                <a:latin typeface="Aptos" pitchFamily="34" charset="0"/>
                <a:ea typeface="Aptos" pitchFamily="34" charset="-122"/>
                <a:cs typeface="Aptos" pitchFamily="34" charset="-120"/>
              </a:rPr>
              <a:t>Final delivery: live demo, results and slides</a:t>
            </a:r>
            <a:endParaRPr lang="en-US" sz="1500" dirty="0"/>
          </a:p>
        </p:txBody>
      </p:sp>
      <p:sp>
        <p:nvSpPr>
          <p:cNvPr id="15" name="Shape 13"/>
          <p:cNvSpPr/>
          <p:nvPr/>
        </p:nvSpPr>
        <p:spPr>
          <a:xfrm>
            <a:off x="7909560" y="2103120"/>
            <a:ext cx="3657600" cy="621792"/>
          </a:xfrm>
          <a:prstGeom prst="roundRect">
            <a:avLst>
              <a:gd name="adj" fmla="val 11765"/>
            </a:avLst>
          </a:prstGeom>
          <a:solidFill>
            <a:srgbClr val="11263B"/>
          </a:solidFill>
          <a:ln w="12700">
            <a:solidFill>
              <a:srgbClr val="28536B"/>
            </a:solidFill>
            <a:prstDash val="solid"/>
          </a:ln>
        </p:spPr>
      </p:sp>
      <p:sp>
        <p:nvSpPr>
          <p:cNvPr id="16" name="Text 14"/>
          <p:cNvSpPr txBox="1"/>
          <p:nvPr/>
        </p:nvSpPr>
        <p:spPr>
          <a:xfrm>
            <a:off x="8138160" y="2157984"/>
            <a:ext cx="329184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Agnieszka</a:t>
            </a:r>
            <a:endParaRPr lang="en-US" sz="1500" dirty="0"/>
          </a:p>
        </p:txBody>
      </p:sp>
      <p:sp>
        <p:nvSpPr>
          <p:cNvPr id="17" name="Text 15"/>
          <p:cNvSpPr txBox="1"/>
          <p:nvPr/>
        </p:nvSpPr>
        <p:spPr>
          <a:xfrm>
            <a:off x="8138160" y="2432304"/>
            <a:ext cx="3291840" cy="256032"/>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Data &amp; timetable</a:t>
            </a:r>
            <a:endParaRPr lang="en-US" sz="1300" dirty="0"/>
          </a:p>
        </p:txBody>
      </p:sp>
      <p:sp>
        <p:nvSpPr>
          <p:cNvPr id="18" name="Shape 16"/>
          <p:cNvSpPr/>
          <p:nvPr/>
        </p:nvSpPr>
        <p:spPr>
          <a:xfrm>
            <a:off x="7909560" y="2834640"/>
            <a:ext cx="3657600" cy="621792"/>
          </a:xfrm>
          <a:prstGeom prst="roundRect">
            <a:avLst>
              <a:gd name="adj" fmla="val 11765"/>
            </a:avLst>
          </a:prstGeom>
          <a:solidFill>
            <a:srgbClr val="11263B"/>
          </a:solidFill>
          <a:ln w="12700">
            <a:solidFill>
              <a:srgbClr val="28536B"/>
            </a:solidFill>
            <a:prstDash val="solid"/>
          </a:ln>
        </p:spPr>
      </p:sp>
      <p:sp>
        <p:nvSpPr>
          <p:cNvPr id="19" name="Text 17"/>
          <p:cNvSpPr txBox="1"/>
          <p:nvPr/>
        </p:nvSpPr>
        <p:spPr>
          <a:xfrm>
            <a:off x="8138160" y="2889504"/>
            <a:ext cx="329184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Regina</a:t>
            </a:r>
            <a:endParaRPr lang="en-US" sz="1500" dirty="0"/>
          </a:p>
        </p:txBody>
      </p:sp>
      <p:sp>
        <p:nvSpPr>
          <p:cNvPr id="20" name="Text 18"/>
          <p:cNvSpPr txBox="1"/>
          <p:nvPr/>
        </p:nvSpPr>
        <p:spPr>
          <a:xfrm>
            <a:off x="8138160" y="3163824"/>
            <a:ext cx="3291840" cy="256032"/>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ML delay model</a:t>
            </a:r>
            <a:endParaRPr lang="en-US" sz="1300" dirty="0"/>
          </a:p>
        </p:txBody>
      </p:sp>
      <p:sp>
        <p:nvSpPr>
          <p:cNvPr id="21" name="Shape 19"/>
          <p:cNvSpPr/>
          <p:nvPr/>
        </p:nvSpPr>
        <p:spPr>
          <a:xfrm>
            <a:off x="7909560" y="3566160"/>
            <a:ext cx="3657600" cy="621792"/>
          </a:xfrm>
          <a:prstGeom prst="roundRect">
            <a:avLst>
              <a:gd name="adj" fmla="val 11765"/>
            </a:avLst>
          </a:prstGeom>
          <a:solidFill>
            <a:srgbClr val="11263B"/>
          </a:solidFill>
          <a:ln w="12700">
            <a:solidFill>
              <a:srgbClr val="28536B"/>
            </a:solidFill>
            <a:prstDash val="solid"/>
          </a:ln>
        </p:spPr>
      </p:sp>
      <p:sp>
        <p:nvSpPr>
          <p:cNvPr id="22" name="Text 20"/>
          <p:cNvSpPr txBox="1"/>
          <p:nvPr/>
        </p:nvSpPr>
        <p:spPr>
          <a:xfrm>
            <a:off x="8138160" y="3621024"/>
            <a:ext cx="329184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Delice</a:t>
            </a:r>
            <a:endParaRPr lang="en-US" sz="1500" dirty="0"/>
          </a:p>
        </p:txBody>
      </p:sp>
      <p:sp>
        <p:nvSpPr>
          <p:cNvPr id="23" name="Text 21"/>
          <p:cNvSpPr txBox="1"/>
          <p:nvPr/>
        </p:nvSpPr>
        <p:spPr>
          <a:xfrm>
            <a:off x="8138160" y="3895344"/>
            <a:ext cx="3291840" cy="256032"/>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Graph search &amp; cost optimizer</a:t>
            </a:r>
            <a:endParaRPr lang="en-US" sz="1300" dirty="0"/>
          </a:p>
        </p:txBody>
      </p:sp>
      <p:sp>
        <p:nvSpPr>
          <p:cNvPr id="24" name="Shape 22"/>
          <p:cNvSpPr/>
          <p:nvPr/>
        </p:nvSpPr>
        <p:spPr>
          <a:xfrm>
            <a:off x="7909560" y="4297680"/>
            <a:ext cx="3657600" cy="621792"/>
          </a:xfrm>
          <a:prstGeom prst="roundRect">
            <a:avLst>
              <a:gd name="adj" fmla="val 11765"/>
            </a:avLst>
          </a:prstGeom>
          <a:solidFill>
            <a:srgbClr val="11263B"/>
          </a:solidFill>
          <a:ln w="12700">
            <a:solidFill>
              <a:srgbClr val="28536B"/>
            </a:solidFill>
            <a:prstDash val="solid"/>
          </a:ln>
        </p:spPr>
      </p:sp>
      <p:sp>
        <p:nvSpPr>
          <p:cNvPr id="25" name="Text 23"/>
          <p:cNvSpPr txBox="1"/>
          <p:nvPr/>
        </p:nvSpPr>
        <p:spPr>
          <a:xfrm>
            <a:off x="8138160" y="4352544"/>
            <a:ext cx="329184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Kofi</a:t>
            </a:r>
            <a:endParaRPr lang="en-US" sz="1500" dirty="0"/>
          </a:p>
        </p:txBody>
      </p:sp>
      <p:sp>
        <p:nvSpPr>
          <p:cNvPr id="26" name="Text 24"/>
          <p:cNvSpPr txBox="1"/>
          <p:nvPr/>
        </p:nvSpPr>
        <p:spPr>
          <a:xfrm>
            <a:off x="8138160" y="4626864"/>
            <a:ext cx="3291840" cy="256032"/>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UI, RAG &amp; ethics</a:t>
            </a:r>
            <a:endParaRPr lang="en-US" sz="1300" dirty="0"/>
          </a:p>
        </p:txBody>
      </p:sp>
      <p:sp>
        <p:nvSpPr>
          <p:cNvPr id="27" name="Shape 25"/>
          <p:cNvSpPr/>
          <p:nvPr/>
        </p:nvSpPr>
        <p:spPr>
          <a:xfrm>
            <a:off x="594360" y="5166360"/>
            <a:ext cx="10972800" cy="822960"/>
          </a:xfrm>
          <a:prstGeom prst="roundRect">
            <a:avLst>
              <a:gd name="adj" fmla="val 8889"/>
            </a:avLst>
          </a:prstGeom>
          <a:solidFill>
            <a:srgbClr val="0D3345"/>
          </a:solidFill>
          <a:ln w="12700">
            <a:solidFill>
              <a:srgbClr val="28536B"/>
            </a:solidFill>
            <a:prstDash val="solid"/>
          </a:ln>
        </p:spPr>
      </p:sp>
      <p:sp>
        <p:nvSpPr>
          <p:cNvPr id="28" name="Text 26"/>
          <p:cNvSpPr txBox="1"/>
          <p:nvPr/>
        </p:nvSpPr>
        <p:spPr>
          <a:xfrm>
            <a:off x="868680" y="5166360"/>
            <a:ext cx="10424160" cy="822960"/>
          </a:xfrm>
          <a:prstGeom prst="rect">
            <a:avLst/>
          </a:prstGeom>
          <a:noFill/>
          <a:ln/>
        </p:spPr>
        <p:txBody>
          <a:bodyPr wrap="square" lIns="0" tIns="0" rIns="0" bIns="0" rtlCol="0" anchor="ctr"/>
          <a:lstStyle/>
          <a:p>
            <a:pPr indent="0" marL="0">
              <a:buNone/>
            </a:pPr>
            <a:r>
              <a:rPr lang="en-US" sz="1500" dirty="0">
                <a:solidFill>
                  <a:srgbClr val="F4F8FC"/>
                </a:solidFill>
                <a:latin typeface="Aptos" pitchFamily="34" charset="0"/>
                <a:ea typeface="Aptos" pitchFamily="34" charset="-122"/>
                <a:cs typeface="Aptos" pitchFamily="34" charset="-120"/>
              </a:rPr>
              <a:t>Shared GitHub repository · weekly check-in · every change reviewed by a second teammate · backup demo video</a:t>
            </a:r>
            <a:endParaRPr lang="en-US" sz="1500" dirty="0"/>
          </a:p>
        </p:txBody>
      </p:sp>
      <p:sp>
        <p:nvSpPr>
          <p:cNvPr id="29" name="Text 27"/>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Final presentation date to be confirmed with the instructor (Dec 2 or Dec 9) · final slides due three days later</a:t>
            </a:r>
            <a:endParaRPr lang="en-US" sz="1100" dirty="0"/>
          </a:p>
        </p:txBody>
      </p:sp>
      <p:sp>
        <p:nvSpPr>
          <p:cNvPr id="30" name="Text 28"/>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10:00–11:00 · EVALUATION</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How we will prove it works</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Benchmarked against the rules agents use today</a:t>
            </a:r>
            <a:endParaRPr lang="en-US" sz="2000" dirty="0"/>
          </a:p>
        </p:txBody>
      </p:sp>
      <p:sp>
        <p:nvSpPr>
          <p:cNvPr id="6" name="Shape 4"/>
          <p:cNvSpPr/>
          <p:nvPr/>
        </p:nvSpPr>
        <p:spPr>
          <a:xfrm>
            <a:off x="594360" y="2057400"/>
            <a:ext cx="5486400" cy="1316736"/>
          </a:xfrm>
          <a:prstGeom prst="roundRect">
            <a:avLst>
              <a:gd name="adj" fmla="val 5556"/>
            </a:avLst>
          </a:prstGeom>
          <a:solidFill>
            <a:srgbClr val="11263B"/>
          </a:solidFill>
          <a:ln w="12700">
            <a:solidFill>
              <a:srgbClr val="28536B"/>
            </a:solidFill>
            <a:prstDash val="solid"/>
          </a:ln>
        </p:spPr>
      </p:sp>
      <p:sp>
        <p:nvSpPr>
          <p:cNvPr id="7" name="Text 5"/>
          <p:cNvSpPr txBox="1"/>
          <p:nvPr/>
        </p:nvSpPr>
        <p:spPr>
          <a:xfrm>
            <a:off x="868680" y="2148840"/>
            <a:ext cx="502920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Benchmarks</a:t>
            </a:r>
            <a:endParaRPr lang="en-US" sz="1500" dirty="0"/>
          </a:p>
        </p:txBody>
      </p:sp>
      <p:sp>
        <p:nvSpPr>
          <p:cNvPr id="8" name="Text 6"/>
          <p:cNvSpPr txBox="1"/>
          <p:nvPr/>
        </p:nvSpPr>
        <p:spPr>
          <a:xfrm>
            <a:off x="868680" y="2441448"/>
            <a:ext cx="5029200" cy="932688"/>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Earliest arrival</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Lowest fare</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Next direct on the same airline (industry default)</a:t>
            </a:r>
            <a:endParaRPr lang="en-US" sz="1500" dirty="0"/>
          </a:p>
        </p:txBody>
      </p:sp>
      <p:sp>
        <p:nvSpPr>
          <p:cNvPr id="9" name="Shape 7"/>
          <p:cNvSpPr/>
          <p:nvPr/>
        </p:nvSpPr>
        <p:spPr>
          <a:xfrm>
            <a:off x="594360" y="3557016"/>
            <a:ext cx="5486400" cy="1316736"/>
          </a:xfrm>
          <a:prstGeom prst="roundRect">
            <a:avLst>
              <a:gd name="adj" fmla="val 5556"/>
            </a:avLst>
          </a:prstGeom>
          <a:solidFill>
            <a:srgbClr val="11263B"/>
          </a:solidFill>
          <a:ln w="12700">
            <a:solidFill>
              <a:srgbClr val="28536B"/>
            </a:solidFill>
            <a:prstDash val="solid"/>
          </a:ln>
        </p:spPr>
      </p:sp>
      <p:sp>
        <p:nvSpPr>
          <p:cNvPr id="10" name="Text 8"/>
          <p:cNvSpPr txBox="1"/>
          <p:nvPr/>
        </p:nvSpPr>
        <p:spPr>
          <a:xfrm>
            <a:off x="868680" y="3648456"/>
            <a:ext cx="5029200" cy="274320"/>
          </a:xfrm>
          <a:prstGeom prst="rect">
            <a:avLst/>
          </a:prstGeom>
          <a:noFill/>
          <a:ln/>
        </p:spPr>
        <p:txBody>
          <a:bodyPr wrap="square" lIns="0" tIns="0" rIns="0" bIns="0" rtlCol="0" anchor="t"/>
          <a:lstStyle/>
          <a:p>
            <a:pPr indent="0" marL="0">
              <a:buNone/>
            </a:pPr>
            <a:r>
              <a:rPr lang="en-US" sz="1500" b="1" dirty="0">
                <a:solidFill>
                  <a:srgbClr val="45D7E8"/>
                </a:solidFill>
                <a:latin typeface="Aptos" pitchFamily="34" charset="0"/>
                <a:ea typeface="Aptos" pitchFamily="34" charset="-122"/>
                <a:cs typeface="Aptos" pitchFamily="34" charset="-120"/>
              </a:rPr>
              <a:t>What we track</a:t>
            </a:r>
            <a:endParaRPr lang="en-US" sz="1500" dirty="0"/>
          </a:p>
        </p:txBody>
      </p:sp>
      <p:sp>
        <p:nvSpPr>
          <p:cNvPr id="11" name="Text 9"/>
          <p:cNvSpPr txBox="1"/>
          <p:nvPr/>
        </p:nvSpPr>
        <p:spPr>
          <a:xfrm>
            <a:off x="868680" y="3941064"/>
            <a:ext cx="5029200" cy="932688"/>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Realised cost saved per disruption</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Share of travellers arriving within 3 hours</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Engine latency: ≈ 0.2 s in the prototype</a:t>
            </a:r>
            <a:endParaRPr lang="en-US" sz="1500" dirty="0"/>
          </a:p>
        </p:txBody>
      </p:sp>
      <p:sp>
        <p:nvSpPr>
          <p:cNvPr id="12" name="Shape 10"/>
          <p:cNvSpPr/>
          <p:nvPr/>
        </p:nvSpPr>
        <p:spPr>
          <a:xfrm>
            <a:off x="594360" y="5056632"/>
            <a:ext cx="5486400" cy="932688"/>
          </a:xfrm>
          <a:prstGeom prst="roundRect">
            <a:avLst>
              <a:gd name="adj" fmla="val 7843"/>
            </a:avLst>
          </a:prstGeom>
          <a:solidFill>
            <a:srgbClr val="0D3345"/>
          </a:solidFill>
          <a:ln w="12700">
            <a:solidFill>
              <a:srgbClr val="28536B"/>
            </a:solidFill>
            <a:prstDash val="solid"/>
          </a:ln>
        </p:spPr>
      </p:sp>
      <p:sp>
        <p:nvSpPr>
          <p:cNvPr id="13" name="Text 11"/>
          <p:cNvSpPr txBox="1"/>
          <p:nvPr/>
        </p:nvSpPr>
        <p:spPr>
          <a:xfrm>
            <a:off x="868680" y="5056632"/>
            <a:ext cx="5029200" cy="932688"/>
          </a:xfrm>
          <a:prstGeom prst="rect">
            <a:avLst/>
          </a:prstGeom>
          <a:noFill/>
          <a:ln/>
        </p:spPr>
        <p:txBody>
          <a:bodyPr wrap="square" lIns="0" tIns="0" rIns="0" bIns="0" rtlCol="0" anchor="ctr"/>
          <a:lstStyle/>
          <a:p>
            <a:pPr indent="0" marL="0">
              <a:buNone/>
            </a:pPr>
            <a:r>
              <a:rPr lang="en-US" sz="1400" dirty="0">
                <a:solidFill>
                  <a:srgbClr val="F4F8FC"/>
                </a:solidFill>
                <a:latin typeface="Aptos" pitchFamily="34" charset="0"/>
                <a:ea typeface="Aptos" pitchFamily="34" charset="-122"/>
                <a:cs typeface="Aptos" pitchFamily="34" charset="-120"/>
              </a:rPr>
              <a:t>Next: re-run on real BTS 2024 data and a U.S. historical backtest, plus a 5-person user test (task time, agreement with expert choice).</a:t>
            </a:r>
            <a:endParaRPr lang="en-US" sz="1400" dirty="0"/>
          </a:p>
        </p:txBody>
      </p:sp>
      <p:graphicFrame>
        <p:nvGraphicFramePr>
          <p:cNvPr id="14" name="Chart 0" descr=""/>
          <p:cNvGraphicFramePr/>
          <p:nvPr/>
        </p:nvGraphicFramePr>
        <p:xfrm>
          <a:off x="6355080" y="2057400"/>
          <a:ext cx="5212080" cy="39319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Prototype simulation, ≈120 traveller cases × 30 delay draws each, synthetic BTS-format data · to be re-run on real BTS 2024 data</a:t>
            </a:r>
            <a:endParaRPr lang="en-US" sz="1100" dirty="0"/>
          </a:p>
        </p:txBody>
      </p:sp>
      <p:sp>
        <p:nvSpPr>
          <p:cNvPr id="16" name="Text 13"/>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11:00–12:00 · ETHICS</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Safeguards built in</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A copilot for the agent, not an autopilot</a:t>
            </a:r>
            <a:endParaRPr lang="en-US" sz="2000" dirty="0"/>
          </a:p>
        </p:txBody>
      </p:sp>
      <p:sp>
        <p:nvSpPr>
          <p:cNvPr id="6" name="Shape 4"/>
          <p:cNvSpPr/>
          <p:nvPr/>
        </p:nvSpPr>
        <p:spPr>
          <a:xfrm>
            <a:off x="594360" y="2103120"/>
            <a:ext cx="3474720" cy="3017520"/>
          </a:xfrm>
          <a:prstGeom prst="roundRect">
            <a:avLst>
              <a:gd name="adj" fmla="val 2424"/>
            </a:avLst>
          </a:prstGeom>
          <a:solidFill>
            <a:srgbClr val="11263B"/>
          </a:solidFill>
          <a:ln w="12700">
            <a:solidFill>
              <a:srgbClr val="28536B"/>
            </a:solidFill>
            <a:prstDash val="solid"/>
          </a:ln>
        </p:spPr>
      </p:sp>
      <p:sp>
        <p:nvSpPr>
          <p:cNvPr id="7" name="Text 5"/>
          <p:cNvSpPr txBox="1"/>
          <p:nvPr/>
        </p:nvSpPr>
        <p:spPr>
          <a:xfrm>
            <a:off x="868680" y="2240280"/>
            <a:ext cx="2926080" cy="411480"/>
          </a:xfrm>
          <a:prstGeom prst="rect">
            <a:avLst/>
          </a:prstGeom>
          <a:noFill/>
          <a:ln/>
        </p:spPr>
        <p:txBody>
          <a:bodyPr wrap="square" lIns="0" tIns="0" rIns="0" bIns="0" rtlCol="0" anchor="t"/>
          <a:lstStyle/>
          <a:p>
            <a:pPr indent="0" marL="0">
              <a:buNone/>
            </a:pPr>
            <a:r>
              <a:rPr lang="en-US" sz="2000" b="1" dirty="0">
                <a:solidFill>
                  <a:srgbClr val="45D7E8"/>
                </a:solidFill>
                <a:latin typeface="Aptos" pitchFamily="34" charset="0"/>
                <a:ea typeface="Aptos" pitchFamily="34" charset="-122"/>
                <a:cs typeface="Aptos" pitchFamily="34" charset="-120"/>
              </a:rPr>
              <a:t>Human-in-the-loop</a:t>
            </a:r>
            <a:endParaRPr lang="en-US" sz="2000" dirty="0"/>
          </a:p>
        </p:txBody>
      </p:sp>
      <p:sp>
        <p:nvSpPr>
          <p:cNvPr id="8" name="Text 6"/>
          <p:cNvSpPr txBox="1"/>
          <p:nvPr/>
        </p:nvSpPr>
        <p:spPr>
          <a:xfrm>
            <a:off x="868680" y="2788920"/>
            <a:ext cx="2971800" cy="2240280"/>
          </a:xfrm>
          <a:prstGeom prst="rect">
            <a:avLst/>
          </a:prstGeom>
          <a:noFill/>
          <a:ln/>
        </p:spPr>
        <p:txBody>
          <a:bodyPr wrap="square" lIns="0" tIns="0" rIns="0" bIns="0" rtlCol="0" anchor="t"/>
          <a:lstStyle/>
          <a:p>
            <a:pPr indent="0" marL="0">
              <a:buNone/>
            </a:pPr>
            <a:r>
              <a:rPr lang="en-US" sz="1500" dirty="0">
                <a:solidFill>
                  <a:srgbClr val="F4F8FC"/>
                </a:solidFill>
                <a:latin typeface="Aptos" pitchFamily="34" charset="0"/>
                <a:ea typeface="Aptos" pitchFamily="34" charset="-122"/>
                <a:cs typeface="Aptos" pitchFamily="34" charset="-120"/>
              </a:rPr>
              <a:t>Agent copilot only. Every rebooking needs a named agent's sign-off; every override is logged with a reason and reviewed.</a:t>
            </a:r>
            <a:endParaRPr lang="en-US" sz="1500" dirty="0"/>
          </a:p>
        </p:txBody>
      </p:sp>
      <p:sp>
        <p:nvSpPr>
          <p:cNvPr id="9" name="Shape 7"/>
          <p:cNvSpPr/>
          <p:nvPr/>
        </p:nvSpPr>
        <p:spPr>
          <a:xfrm>
            <a:off x="4343400" y="2103120"/>
            <a:ext cx="3474720" cy="3017520"/>
          </a:xfrm>
          <a:prstGeom prst="roundRect">
            <a:avLst>
              <a:gd name="adj" fmla="val 2424"/>
            </a:avLst>
          </a:prstGeom>
          <a:solidFill>
            <a:srgbClr val="11263B"/>
          </a:solidFill>
          <a:ln w="12700">
            <a:solidFill>
              <a:srgbClr val="28536B"/>
            </a:solidFill>
            <a:prstDash val="solid"/>
          </a:ln>
        </p:spPr>
      </p:sp>
      <p:sp>
        <p:nvSpPr>
          <p:cNvPr id="10" name="Text 8"/>
          <p:cNvSpPr txBox="1"/>
          <p:nvPr/>
        </p:nvSpPr>
        <p:spPr>
          <a:xfrm>
            <a:off x="4617720" y="2240280"/>
            <a:ext cx="2926080" cy="411480"/>
          </a:xfrm>
          <a:prstGeom prst="rect">
            <a:avLst/>
          </a:prstGeom>
          <a:noFill/>
          <a:ln/>
        </p:spPr>
        <p:txBody>
          <a:bodyPr wrap="square" lIns="0" tIns="0" rIns="0" bIns="0" rtlCol="0" anchor="t"/>
          <a:lstStyle/>
          <a:p>
            <a:pPr indent="0" marL="0">
              <a:buNone/>
            </a:pPr>
            <a:r>
              <a:rPr lang="en-US" sz="2000" b="1" dirty="0">
                <a:solidFill>
                  <a:srgbClr val="F2B84B"/>
                </a:solidFill>
                <a:latin typeface="Aptos" pitchFamily="34" charset="0"/>
                <a:ea typeface="Aptos" pitchFamily="34" charset="-122"/>
                <a:cs typeface="Aptos" pitchFamily="34" charset="-120"/>
              </a:rPr>
              <a:t>Equity</a:t>
            </a:r>
            <a:endParaRPr lang="en-US" sz="2000" dirty="0"/>
          </a:p>
        </p:txBody>
      </p:sp>
      <p:sp>
        <p:nvSpPr>
          <p:cNvPr id="11" name="Text 9"/>
          <p:cNvSpPr txBox="1"/>
          <p:nvPr/>
        </p:nvSpPr>
        <p:spPr>
          <a:xfrm>
            <a:off x="4617720" y="2788920"/>
            <a:ext cx="2971800" cy="2240280"/>
          </a:xfrm>
          <a:prstGeom prst="rect">
            <a:avLst/>
          </a:prstGeom>
          <a:noFill/>
          <a:ln/>
        </p:spPr>
        <p:txBody>
          <a:bodyPr wrap="square" lIns="0" tIns="0" rIns="0" bIns="0" rtlCol="0" anchor="t"/>
          <a:lstStyle/>
          <a:p>
            <a:pPr indent="0" marL="0">
              <a:buNone/>
            </a:pPr>
            <a:r>
              <a:rPr lang="en-US" sz="1500" dirty="0">
                <a:solidFill>
                  <a:srgbClr val="F4F8FC"/>
                </a:solidFill>
                <a:latin typeface="Aptos" pitchFamily="34" charset="0"/>
                <a:ea typeface="Aptos" pitchFamily="34" charset="-122"/>
                <a:cs typeface="Aptos" pitchFamily="34" charset="-120"/>
              </a:rPr>
              <a:t>Hard priority rules (minors, medical needs, reduced mobility) come before any value-of-time calculation, so cheap-ticket passengers are not always left waiting.</a:t>
            </a:r>
            <a:endParaRPr lang="en-US" sz="1500" dirty="0"/>
          </a:p>
        </p:txBody>
      </p:sp>
      <p:sp>
        <p:nvSpPr>
          <p:cNvPr id="12" name="Shape 10"/>
          <p:cNvSpPr/>
          <p:nvPr/>
        </p:nvSpPr>
        <p:spPr>
          <a:xfrm>
            <a:off x="8092440" y="2103120"/>
            <a:ext cx="3474720" cy="3017520"/>
          </a:xfrm>
          <a:prstGeom prst="roundRect">
            <a:avLst>
              <a:gd name="adj" fmla="val 2424"/>
            </a:avLst>
          </a:prstGeom>
          <a:solidFill>
            <a:srgbClr val="11263B"/>
          </a:solidFill>
          <a:ln w="12700">
            <a:solidFill>
              <a:srgbClr val="28536B"/>
            </a:solidFill>
            <a:prstDash val="solid"/>
          </a:ln>
        </p:spPr>
      </p:sp>
      <p:sp>
        <p:nvSpPr>
          <p:cNvPr id="13" name="Text 11"/>
          <p:cNvSpPr txBox="1"/>
          <p:nvPr/>
        </p:nvSpPr>
        <p:spPr>
          <a:xfrm>
            <a:off x="8366760" y="2240280"/>
            <a:ext cx="2926080" cy="411480"/>
          </a:xfrm>
          <a:prstGeom prst="rect">
            <a:avLst/>
          </a:prstGeom>
          <a:noFill/>
          <a:ln/>
        </p:spPr>
        <p:txBody>
          <a:bodyPr wrap="square" lIns="0" tIns="0" rIns="0" bIns="0" rtlCol="0" anchor="t"/>
          <a:lstStyle/>
          <a:p>
            <a:pPr indent="0" marL="0">
              <a:buNone/>
            </a:pPr>
            <a:r>
              <a:rPr lang="en-US" sz="2000" b="1" dirty="0">
                <a:solidFill>
                  <a:srgbClr val="3CCB8F"/>
                </a:solidFill>
                <a:latin typeface="Aptos" pitchFamily="34" charset="0"/>
                <a:ea typeface="Aptos" pitchFamily="34" charset="-122"/>
                <a:cs typeface="Aptos" pitchFamily="34" charset="-120"/>
              </a:rPr>
              <a:t>Legal integrity</a:t>
            </a:r>
            <a:endParaRPr lang="en-US" sz="2000" dirty="0"/>
          </a:p>
        </p:txBody>
      </p:sp>
      <p:sp>
        <p:nvSpPr>
          <p:cNvPr id="14" name="Text 12"/>
          <p:cNvSpPr txBox="1"/>
          <p:nvPr/>
        </p:nvSpPr>
        <p:spPr>
          <a:xfrm>
            <a:off x="8366760" y="2788920"/>
            <a:ext cx="2971800" cy="2240280"/>
          </a:xfrm>
          <a:prstGeom prst="rect">
            <a:avLst/>
          </a:prstGeom>
          <a:noFill/>
          <a:ln/>
        </p:spPr>
        <p:txBody>
          <a:bodyPr wrap="square" lIns="0" tIns="0" rIns="0" bIns="0" rtlCol="0" anchor="t"/>
          <a:lstStyle/>
          <a:p>
            <a:pPr indent="0" marL="0">
              <a:buNone/>
            </a:pPr>
            <a:r>
              <a:rPr lang="en-US" sz="1500" dirty="0">
                <a:solidFill>
                  <a:srgbClr val="F4F8FC"/>
                </a:solidFill>
                <a:latin typeface="Aptos" pitchFamily="34" charset="0"/>
                <a:ea typeface="Aptos" pitchFamily="34" charset="-122"/>
                <a:cs typeface="Aptos" pitchFamily="34" charset="-120"/>
              </a:rPr>
              <a:t>The LLM explanation may only use retrieved, cited policy text and the optimizer's numbers, which prevents invented claims about passenger rights.</a:t>
            </a:r>
            <a:endParaRPr lang="en-US" sz="1500" dirty="0"/>
          </a:p>
        </p:txBody>
      </p:sp>
      <p:sp>
        <p:nvSpPr>
          <p:cNvPr id="15" name="Shape 13"/>
          <p:cNvSpPr/>
          <p:nvPr/>
        </p:nvSpPr>
        <p:spPr>
          <a:xfrm>
            <a:off x="594360" y="5349240"/>
            <a:ext cx="10972800" cy="640080"/>
          </a:xfrm>
          <a:prstGeom prst="roundRect">
            <a:avLst>
              <a:gd name="adj" fmla="val 11429"/>
            </a:avLst>
          </a:prstGeom>
          <a:solidFill>
            <a:srgbClr val="0D3345"/>
          </a:solidFill>
          <a:ln w="12700">
            <a:solidFill>
              <a:srgbClr val="28536B"/>
            </a:solidFill>
            <a:prstDash val="solid"/>
          </a:ln>
        </p:spPr>
      </p:sp>
      <p:sp>
        <p:nvSpPr>
          <p:cNvPr id="16" name="Text 14"/>
          <p:cNvSpPr txBox="1"/>
          <p:nvPr/>
        </p:nvSpPr>
        <p:spPr>
          <a:xfrm>
            <a:off x="868680" y="5349240"/>
            <a:ext cx="10424160" cy="640080"/>
          </a:xfrm>
          <a:prstGeom prst="rect">
            <a:avLst/>
          </a:prstGeom>
          <a:noFill/>
          <a:ln/>
        </p:spPr>
        <p:txBody>
          <a:bodyPr wrap="square" lIns="0" tIns="0" rIns="0" bIns="0" rtlCol="0" anchor="ctr"/>
          <a:lstStyle/>
          <a:p>
            <a:pPr indent="0" marL="0">
              <a:buNone/>
            </a:pPr>
            <a:r>
              <a:rPr lang="en-US" sz="1400" b="1" dirty="0">
                <a:solidFill>
                  <a:srgbClr val="45D7E8"/>
                </a:solidFill>
                <a:latin typeface="Aptos" pitchFamily="34" charset="0"/>
                <a:ea typeface="Aptos" pitchFamily="34" charset="-122"/>
                <a:cs typeface="Aptos" pitchFamily="34" charset="-120"/>
              </a:rPr>
              <a:t>Also: </a:t>
            </a:r>
            <a:pPr indent="0" marL="0">
              <a:buNone/>
            </a:pPr>
            <a:r>
              <a:rPr lang="en-US" sz="1400" dirty="0">
                <a:solidFill>
                  <a:srgbClr val="F4F8FC"/>
                </a:solidFill>
                <a:latin typeface="Aptos" pitchFamily="34" charset="0"/>
                <a:ea typeface="Aptos" pitchFamily="34" charset="-122"/>
                <a:cs typeface="Aptos" pitchFamily="34" charset="-120"/>
              </a:rPr>
              <a:t>itinerary data only, no payment data · separate-ticket options clearly labelled · stated limits of a U.S.-trained model</a:t>
            </a:r>
            <a:endParaRPr lang="en-US" sz="1400" dirty="0"/>
          </a:p>
        </p:txBody>
      </p:sp>
      <p:sp>
        <p:nvSpPr>
          <p:cNvPr id="17" name="Text 1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Q&amp;A: 3 minutes  •  Appendix: prior work, data sources, references</a:t>
            </a:r>
            <a:endParaRPr lang="en-US" sz="1100" dirty="0"/>
          </a:p>
        </p:txBody>
      </p:sp>
      <p:sp>
        <p:nvSpPr>
          <p:cNvPr id="18" name="Text 1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APPENDIX A</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Prior work, and what is new here</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Airline recovery research and where ReRouteAI fits</a:t>
            </a:r>
            <a:endParaRPr lang="en-US" sz="2000" dirty="0"/>
          </a:p>
        </p:txBody>
      </p:sp>
      <p:sp>
        <p:nvSpPr>
          <p:cNvPr id="6" name="Shape 4"/>
          <p:cNvSpPr/>
          <p:nvPr/>
        </p:nvSpPr>
        <p:spPr>
          <a:xfrm>
            <a:off x="594360" y="2103120"/>
            <a:ext cx="5486400" cy="1143000"/>
          </a:xfrm>
          <a:prstGeom prst="roundRect">
            <a:avLst>
              <a:gd name="adj" fmla="val 6400"/>
            </a:avLst>
          </a:prstGeom>
          <a:solidFill>
            <a:srgbClr val="11263B"/>
          </a:solidFill>
          <a:ln w="12700">
            <a:solidFill>
              <a:srgbClr val="28536B"/>
            </a:solidFill>
            <a:prstDash val="solid"/>
          </a:ln>
        </p:spPr>
      </p:sp>
      <p:sp>
        <p:nvSpPr>
          <p:cNvPr id="7" name="Text 5"/>
          <p:cNvSpPr txBox="1"/>
          <p:nvPr/>
        </p:nvSpPr>
        <p:spPr>
          <a:xfrm>
            <a:off x="868680" y="2194560"/>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Recovery research, reviewed</a:t>
            </a:r>
            <a:endParaRPr lang="en-US" sz="1600" dirty="0"/>
          </a:p>
        </p:txBody>
      </p:sp>
      <p:sp>
        <p:nvSpPr>
          <p:cNvPr id="8" name="Text 6"/>
          <p:cNvSpPr txBox="1"/>
          <p:nvPr/>
        </p:nvSpPr>
        <p:spPr>
          <a:xfrm>
            <a:off x="868680" y="2532888"/>
            <a:ext cx="5029200" cy="685800"/>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Wu et al. (2025) review 169 key studies; their future directions include dynamic, real-time recovery that handles uncertain parameters and human factors.</a:t>
            </a:r>
            <a:endParaRPr lang="en-US" sz="1300" dirty="0"/>
          </a:p>
        </p:txBody>
      </p:sp>
      <p:sp>
        <p:nvSpPr>
          <p:cNvPr id="9" name="Shape 7"/>
          <p:cNvSpPr/>
          <p:nvPr/>
        </p:nvSpPr>
        <p:spPr>
          <a:xfrm>
            <a:off x="594360" y="3383280"/>
            <a:ext cx="5486400" cy="1143000"/>
          </a:xfrm>
          <a:prstGeom prst="roundRect">
            <a:avLst>
              <a:gd name="adj" fmla="val 6400"/>
            </a:avLst>
          </a:prstGeom>
          <a:solidFill>
            <a:srgbClr val="11263B"/>
          </a:solidFill>
          <a:ln w="12700">
            <a:solidFill>
              <a:srgbClr val="28536B"/>
            </a:solidFill>
            <a:prstDash val="solid"/>
          </a:ln>
        </p:spPr>
      </p:sp>
      <p:sp>
        <p:nvSpPr>
          <p:cNvPr id="10" name="Text 8"/>
          <p:cNvSpPr txBox="1"/>
          <p:nvPr/>
        </p:nvSpPr>
        <p:spPr>
          <a:xfrm>
            <a:off x="868680" y="3474720"/>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Passenger transfer costs</a:t>
            </a:r>
            <a:endParaRPr lang="en-US" sz="1600" dirty="0"/>
          </a:p>
        </p:txBody>
      </p:sp>
      <p:sp>
        <p:nvSpPr>
          <p:cNvPr id="11" name="Text 9"/>
          <p:cNvSpPr txBox="1"/>
          <p:nvPr/>
        </p:nvSpPr>
        <p:spPr>
          <a:xfrm>
            <a:off x="868680" y="3813048"/>
            <a:ext cx="5029200" cy="685800"/>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Lu et al. (2025) model refunds, same-airline and other-airline rebooking and overnight stays; recovering every flight is not always the least-cost option.</a:t>
            </a:r>
            <a:endParaRPr lang="en-US" sz="1300" dirty="0"/>
          </a:p>
        </p:txBody>
      </p:sp>
      <p:sp>
        <p:nvSpPr>
          <p:cNvPr id="12" name="Shape 10"/>
          <p:cNvSpPr/>
          <p:nvPr/>
        </p:nvSpPr>
        <p:spPr>
          <a:xfrm>
            <a:off x="594360" y="4663440"/>
            <a:ext cx="5486400" cy="1143000"/>
          </a:xfrm>
          <a:prstGeom prst="roundRect">
            <a:avLst>
              <a:gd name="adj" fmla="val 6400"/>
            </a:avLst>
          </a:prstGeom>
          <a:solidFill>
            <a:srgbClr val="11263B"/>
          </a:solidFill>
          <a:ln w="12700">
            <a:solidFill>
              <a:srgbClr val="28536B"/>
            </a:solidFill>
            <a:prstDash val="solid"/>
          </a:ln>
        </p:spPr>
      </p:sp>
      <p:sp>
        <p:nvSpPr>
          <p:cNvPr id="13" name="Text 11"/>
          <p:cNvSpPr txBox="1"/>
          <p:nvPr/>
        </p:nvSpPr>
        <p:spPr>
          <a:xfrm>
            <a:off x="868680" y="4754880"/>
            <a:ext cx="5029200" cy="320040"/>
          </a:xfrm>
          <a:prstGeom prst="rect">
            <a:avLst/>
          </a:prstGeom>
          <a:noFill/>
          <a:ln/>
        </p:spPr>
        <p:txBody>
          <a:bodyPr wrap="square" lIns="0" tIns="0" rIns="0" bIns="0" rtlCol="0" anchor="t"/>
          <a:lstStyle/>
          <a:p>
            <a:pPr indent="0" marL="0">
              <a:buNone/>
            </a:pPr>
            <a:r>
              <a:rPr lang="en-US" sz="1600" b="1" dirty="0">
                <a:solidFill>
                  <a:srgbClr val="45D7E8"/>
                </a:solidFill>
                <a:latin typeface="Aptos" pitchFamily="34" charset="0"/>
                <a:ea typeface="Aptos" pitchFamily="34" charset="-122"/>
                <a:cs typeface="Aptos" pitchFamily="34" charset="-120"/>
              </a:rPr>
              <a:t>Foundations</a:t>
            </a:r>
            <a:endParaRPr lang="en-US" sz="1600" dirty="0"/>
          </a:p>
        </p:txBody>
      </p:sp>
      <p:sp>
        <p:nvSpPr>
          <p:cNvPr id="14" name="Text 12"/>
          <p:cNvSpPr txBox="1"/>
          <p:nvPr/>
        </p:nvSpPr>
        <p:spPr>
          <a:xfrm>
            <a:off x="868680" y="5093208"/>
            <a:ext cx="5029200" cy="685800"/>
          </a:xfrm>
          <a:prstGeom prst="rect">
            <a:avLst/>
          </a:prstGeom>
          <a:noFill/>
          <a:ln/>
        </p:spPr>
        <p:txBody>
          <a:bodyPr wrap="square" lIns="0" tIns="0" rIns="0" bIns="0" rtlCol="0" anchor="t"/>
          <a:lstStyle/>
          <a:p>
            <a:pPr indent="0" marL="0">
              <a:buNone/>
            </a:pPr>
            <a:r>
              <a:rPr lang="en-US" sz="1300" dirty="0">
                <a:solidFill>
                  <a:srgbClr val="AFC6D7"/>
                </a:solidFill>
                <a:latin typeface="Aptos" pitchFamily="34" charset="0"/>
                <a:ea typeface="Aptos" pitchFamily="34" charset="-122"/>
                <a:cs typeface="Aptos" pitchFamily="34" charset="-120"/>
              </a:rPr>
              <a:t>Disruption management concepts and models (Clausen et al., 2010); recovery that explicitly considers passengers (Bratu &amp; Barnhart, 2006).</a:t>
            </a:r>
            <a:endParaRPr lang="en-US" sz="1300" dirty="0"/>
          </a:p>
        </p:txBody>
      </p:sp>
      <p:sp>
        <p:nvSpPr>
          <p:cNvPr id="15" name="Shape 13"/>
          <p:cNvSpPr/>
          <p:nvPr/>
        </p:nvSpPr>
        <p:spPr>
          <a:xfrm>
            <a:off x="6355080" y="2103120"/>
            <a:ext cx="5212080" cy="3657600"/>
          </a:xfrm>
          <a:prstGeom prst="roundRect">
            <a:avLst>
              <a:gd name="adj" fmla="val 2000"/>
            </a:avLst>
          </a:prstGeom>
          <a:solidFill>
            <a:srgbClr val="0D3345"/>
          </a:solidFill>
          <a:ln w="12700">
            <a:solidFill>
              <a:srgbClr val="28536B"/>
            </a:solidFill>
            <a:prstDash val="solid"/>
          </a:ln>
        </p:spPr>
      </p:sp>
      <p:sp>
        <p:nvSpPr>
          <p:cNvPr id="16" name="Text 14"/>
          <p:cNvSpPr txBox="1"/>
          <p:nvPr/>
        </p:nvSpPr>
        <p:spPr>
          <a:xfrm>
            <a:off x="6629400" y="2240280"/>
            <a:ext cx="466344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Our edge</a:t>
            </a:r>
            <a:endParaRPr lang="en-US" sz="1800" dirty="0"/>
          </a:p>
        </p:txBody>
      </p:sp>
      <p:sp>
        <p:nvSpPr>
          <p:cNvPr id="17" name="Text 15"/>
          <p:cNvSpPr txBox="1"/>
          <p:nvPr/>
        </p:nvSpPr>
        <p:spPr>
          <a:xfrm>
            <a:off x="6629400" y="2743200"/>
            <a:ext cx="466344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400" dirty="0">
                <a:solidFill>
                  <a:srgbClr val="F4F8FC"/>
                </a:solidFill>
                <a:latin typeface="Aptos" pitchFamily="34" charset="0"/>
                <a:ea typeface="Aptos" pitchFamily="34" charset="-122"/>
                <a:cs typeface="Aptos" pitchFamily="34" charset="-120"/>
              </a:rPr>
              <a:t>Decides for one passenger in real time, where most models re-plan the whole schedule</a:t>
            </a:r>
            <a:endParaRPr lang="en-US" sz="1400" dirty="0"/>
          </a:p>
          <a:p>
            <a:pPr marL="342900" indent="-342900">
              <a:spcAft>
                <a:spcPts val="800"/>
              </a:spcAft>
              <a:buSzPct val="100000"/>
              <a:buFont typeface="+mj-lt"/>
              <a:buAutoNum type="arabicPeriod" startAt="1"/>
            </a:pPr>
            <a:r>
              <a:rPr lang="en-US" sz="1400" dirty="0">
                <a:solidFill>
                  <a:srgbClr val="F4F8FC"/>
                </a:solidFill>
                <a:latin typeface="Aptos" pitchFamily="34" charset="0"/>
                <a:ea typeface="Aptos" pitchFamily="34" charset="-122"/>
                <a:cs typeface="Aptos" pitchFamily="34" charset="-120"/>
              </a:rPr>
              <a:t>Uses a calibrated probability for each connection, not fixed rates</a:t>
            </a:r>
            <a:endParaRPr lang="en-US" sz="1400" dirty="0"/>
          </a:p>
          <a:p>
            <a:pPr marL="342900" indent="-342900">
              <a:spcAft>
                <a:spcPts val="800"/>
              </a:spcAft>
              <a:buSzPct val="100000"/>
              <a:buFont typeface="+mj-lt"/>
              <a:buAutoNum type="arabicPeriod" startAt="1"/>
            </a:pPr>
            <a:r>
              <a:rPr lang="en-US" sz="1400" dirty="0">
                <a:solidFill>
                  <a:srgbClr val="F4F8FC"/>
                </a:solidFill>
                <a:latin typeface="Aptos" pitchFamily="34" charset="0"/>
                <a:ea typeface="Aptos" pitchFamily="34" charset="-122"/>
                <a:cs typeface="Aptos" pitchFamily="34" charset="-120"/>
              </a:rPr>
              <a:t>Includes rival-carrier seats and EU261 step costs in one dollar score</a:t>
            </a:r>
            <a:endParaRPr lang="en-US" sz="1400" dirty="0"/>
          </a:p>
          <a:p>
            <a:pPr marL="342900" indent="-342900">
              <a:spcAft>
                <a:spcPts val="800"/>
              </a:spcAft>
              <a:buSzPct val="100000"/>
              <a:buFont typeface="+mj-lt"/>
              <a:buAutoNum type="arabicPeriod" startAt="1"/>
            </a:pPr>
            <a:r>
              <a:rPr lang="en-US" sz="1400" dirty="0">
                <a:solidFill>
                  <a:srgbClr val="F4F8FC"/>
                </a:solidFill>
                <a:latin typeface="Aptos" pitchFamily="34" charset="0"/>
                <a:ea typeface="Aptos" pitchFamily="34" charset="-122"/>
                <a:cs typeface="Aptos" pitchFamily="34" charset="-120"/>
              </a:rPr>
              <a:t>Lets the user set the time-versus-cost priority</a:t>
            </a:r>
            <a:endParaRPr lang="en-US" sz="1400" dirty="0"/>
          </a:p>
          <a:p>
            <a:pPr marL="342900" indent="-342900">
              <a:spcAft>
                <a:spcPts val="800"/>
              </a:spcAft>
              <a:buSzPct val="100000"/>
              <a:buFont typeface="+mj-lt"/>
              <a:buAutoNum type="arabicPeriod" startAt="1"/>
            </a:pPr>
            <a:r>
              <a:rPr lang="en-US" sz="1400" dirty="0">
                <a:solidFill>
                  <a:srgbClr val="F4F8FC"/>
                </a:solidFill>
                <a:latin typeface="Aptos" pitchFamily="34" charset="0"/>
                <a:ea typeface="Aptos" pitchFamily="34" charset="-122"/>
                <a:cs typeface="Aptos" pitchFamily="34" charset="-120"/>
              </a:rPr>
              <a:t>Explains with cited policy text; a human always approves</a:t>
            </a:r>
            <a:endParaRPr lang="en-US" sz="1400" dirty="0"/>
          </a:p>
        </p:txBody>
      </p:sp>
      <p:sp>
        <p:nvSpPr>
          <p:cNvPr id="18" name="Text 16"/>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Full references on the next slide</a:t>
            </a:r>
            <a:endParaRPr lang="en-US" sz="1100" dirty="0"/>
          </a:p>
        </p:txBody>
      </p:sp>
      <p:sp>
        <p:nvSpPr>
          <p:cNvPr id="19" name="Text 17"/>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APPENDIX B</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Data and feasibility</a:t>
            </a:r>
            <a:endParaRPr lang="en-US" sz="3100" dirty="0"/>
          </a:p>
        </p:txBody>
      </p:sp>
      <p:sp>
        <p:nvSpPr>
          <p:cNvPr id="5" name="Text 3"/>
          <p:cNvSpPr txBox="1"/>
          <p:nvPr/>
        </p:nvSpPr>
        <p:spPr>
          <a:xfrm>
            <a:off x="594360" y="1417320"/>
            <a:ext cx="10972800" cy="457200"/>
          </a:xfrm>
          <a:prstGeom prst="rect">
            <a:avLst/>
          </a:prstGeom>
          <a:noFill/>
          <a:ln/>
        </p:spPr>
        <p:txBody>
          <a:bodyPr wrap="square" lIns="0" tIns="0" rIns="0" bIns="0" rtlCol="0" anchor="ctr"/>
          <a:lstStyle/>
          <a:p>
            <a:pPr indent="0" marL="0">
              <a:buNone/>
            </a:pPr>
            <a:r>
              <a:rPr lang="en-US" sz="2000" dirty="0">
                <a:solidFill>
                  <a:srgbClr val="AFC6D7"/>
                </a:solidFill>
                <a:latin typeface="Aptos" pitchFamily="34" charset="0"/>
                <a:ea typeface="Aptos" pitchFamily="34" charset="-122"/>
                <a:cs typeface="Aptos" pitchFamily="34" charset="-120"/>
              </a:rPr>
              <a:t>Real history where it exists; clearly labelled scenarios where it does not</a:t>
            </a:r>
            <a:endParaRPr lang="en-US" sz="2000" dirty="0"/>
          </a:p>
        </p:txBody>
      </p:sp>
      <p:sp>
        <p:nvSpPr>
          <p:cNvPr id="6" name="Shape 4"/>
          <p:cNvSpPr/>
          <p:nvPr/>
        </p:nvSpPr>
        <p:spPr>
          <a:xfrm>
            <a:off x="594360" y="2103120"/>
            <a:ext cx="3474720" cy="2514600"/>
          </a:xfrm>
          <a:prstGeom prst="roundRect">
            <a:avLst>
              <a:gd name="adj" fmla="val 2909"/>
            </a:avLst>
          </a:prstGeom>
          <a:solidFill>
            <a:srgbClr val="11263B"/>
          </a:solidFill>
          <a:ln w="12700">
            <a:solidFill>
              <a:srgbClr val="28536B"/>
            </a:solidFill>
            <a:prstDash val="solid"/>
          </a:ln>
        </p:spPr>
      </p:sp>
      <p:sp>
        <p:nvSpPr>
          <p:cNvPr id="7" name="Text 5"/>
          <p:cNvSpPr txBox="1"/>
          <p:nvPr/>
        </p:nvSpPr>
        <p:spPr>
          <a:xfrm>
            <a:off x="868680" y="2240280"/>
            <a:ext cx="2926080" cy="365760"/>
          </a:xfrm>
          <a:prstGeom prst="rect">
            <a:avLst/>
          </a:prstGeom>
          <a:noFill/>
          <a:ln/>
        </p:spPr>
        <p:txBody>
          <a:bodyPr wrap="square" lIns="0" tIns="0" rIns="0" bIns="0" rtlCol="0" anchor="t"/>
          <a:lstStyle/>
          <a:p>
            <a:pPr indent="0" marL="0">
              <a:buNone/>
            </a:pPr>
            <a:r>
              <a:rPr lang="en-US" sz="1800" b="1" dirty="0">
                <a:solidFill>
                  <a:srgbClr val="45D7E8"/>
                </a:solidFill>
                <a:latin typeface="Aptos" pitchFamily="34" charset="0"/>
                <a:ea typeface="Aptos" pitchFamily="34" charset="-122"/>
                <a:cs typeface="Aptos" pitchFamily="34" charset="-120"/>
              </a:rPr>
              <a:t>Real history</a:t>
            </a:r>
            <a:endParaRPr lang="en-US" sz="1800" dirty="0"/>
          </a:p>
        </p:txBody>
      </p:sp>
      <p:sp>
        <p:nvSpPr>
          <p:cNvPr id="8" name="Text 6"/>
          <p:cNvSpPr txBox="1"/>
          <p:nvPr/>
        </p:nvSpPr>
        <p:spPr>
          <a:xfrm>
            <a:off x="86868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U.S. BTS TranStats: “Reporting Carrier On-Time Performance (1987–present)”, monthly files</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Train Jan–Sep, test Oct–Dec</a:t>
            </a:r>
            <a:endParaRPr lang="en-US" sz="1500" dirty="0"/>
          </a:p>
        </p:txBody>
      </p:sp>
      <p:sp>
        <p:nvSpPr>
          <p:cNvPr id="9" name="Shape 7"/>
          <p:cNvSpPr/>
          <p:nvPr/>
        </p:nvSpPr>
        <p:spPr>
          <a:xfrm>
            <a:off x="4343400" y="2103120"/>
            <a:ext cx="3474720" cy="2514600"/>
          </a:xfrm>
          <a:prstGeom prst="roundRect">
            <a:avLst>
              <a:gd name="adj" fmla="val 2909"/>
            </a:avLst>
          </a:prstGeom>
          <a:solidFill>
            <a:srgbClr val="11263B"/>
          </a:solidFill>
          <a:ln w="12700">
            <a:solidFill>
              <a:srgbClr val="28536B"/>
            </a:solidFill>
            <a:prstDash val="solid"/>
          </a:ln>
        </p:spPr>
      </p:sp>
      <p:sp>
        <p:nvSpPr>
          <p:cNvPr id="10" name="Text 8"/>
          <p:cNvSpPr txBox="1"/>
          <p:nvPr/>
        </p:nvSpPr>
        <p:spPr>
          <a:xfrm>
            <a:off x="4617720" y="2240280"/>
            <a:ext cx="2926080" cy="365760"/>
          </a:xfrm>
          <a:prstGeom prst="rect">
            <a:avLst/>
          </a:prstGeom>
          <a:noFill/>
          <a:ln/>
        </p:spPr>
        <p:txBody>
          <a:bodyPr wrap="square" lIns="0" tIns="0" rIns="0" bIns="0" rtlCol="0" anchor="t"/>
          <a:lstStyle/>
          <a:p>
            <a:pPr indent="0" marL="0">
              <a:buNone/>
            </a:pPr>
            <a:r>
              <a:rPr lang="en-US" sz="1800" b="1" dirty="0">
                <a:solidFill>
                  <a:srgbClr val="3CCB8F"/>
                </a:solidFill>
                <a:latin typeface="Aptos" pitchFamily="34" charset="0"/>
                <a:ea typeface="Aptos" pitchFamily="34" charset="-122"/>
                <a:cs typeface="Aptos" pitchFamily="34" charset="-120"/>
              </a:rPr>
              <a:t>Backtest scenario</a:t>
            </a:r>
            <a:endParaRPr lang="en-US" sz="1800" dirty="0"/>
          </a:p>
        </p:txBody>
      </p:sp>
      <p:sp>
        <p:nvSpPr>
          <p:cNvPr id="11" name="Text 9"/>
          <p:cNvSpPr txBox="1"/>
          <p:nvPr/>
        </p:nvSpPr>
        <p:spPr>
          <a:xfrm>
            <a:off x="461772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An all-U.S. connection (e.g. BOS → ORD → MSP)</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Replay real 2024 delays to test decisions on actual outcomes</a:t>
            </a:r>
            <a:endParaRPr lang="en-US" sz="1500" dirty="0"/>
          </a:p>
        </p:txBody>
      </p:sp>
      <p:sp>
        <p:nvSpPr>
          <p:cNvPr id="12" name="Shape 10"/>
          <p:cNvSpPr/>
          <p:nvPr/>
        </p:nvSpPr>
        <p:spPr>
          <a:xfrm>
            <a:off x="8092440" y="2103120"/>
            <a:ext cx="3474720" cy="2514600"/>
          </a:xfrm>
          <a:prstGeom prst="roundRect">
            <a:avLst>
              <a:gd name="adj" fmla="val 2909"/>
            </a:avLst>
          </a:prstGeom>
          <a:solidFill>
            <a:srgbClr val="11263B"/>
          </a:solidFill>
          <a:ln w="12700">
            <a:solidFill>
              <a:srgbClr val="28536B"/>
            </a:solidFill>
            <a:prstDash val="solid"/>
          </a:ln>
        </p:spPr>
      </p:sp>
      <p:sp>
        <p:nvSpPr>
          <p:cNvPr id="13" name="Text 11"/>
          <p:cNvSpPr txBox="1"/>
          <p:nvPr/>
        </p:nvSpPr>
        <p:spPr>
          <a:xfrm>
            <a:off x="8366760" y="2240280"/>
            <a:ext cx="2926080" cy="365760"/>
          </a:xfrm>
          <a:prstGeom prst="rect">
            <a:avLst/>
          </a:prstGeom>
          <a:noFill/>
          <a:ln/>
        </p:spPr>
        <p:txBody>
          <a:bodyPr wrap="square" lIns="0" tIns="0" rIns="0" bIns="0" rtlCol="0" anchor="t"/>
          <a:lstStyle/>
          <a:p>
            <a:pPr indent="0" marL="0">
              <a:buNone/>
            </a:pPr>
            <a:r>
              <a:rPr lang="en-US" sz="1800" b="1" dirty="0">
                <a:solidFill>
                  <a:srgbClr val="F2B84B"/>
                </a:solidFill>
                <a:latin typeface="Aptos" pitchFamily="34" charset="0"/>
                <a:ea typeface="Aptos" pitchFamily="34" charset="-122"/>
                <a:cs typeface="Aptos" pitchFamily="34" charset="-120"/>
              </a:rPr>
              <a:t>Motivating scenario</a:t>
            </a:r>
            <a:endParaRPr lang="en-US" sz="1800" dirty="0"/>
          </a:p>
        </p:txBody>
      </p:sp>
      <p:sp>
        <p:nvSpPr>
          <p:cNvPr id="14" name="Text 12"/>
          <p:cNvSpPr txBox="1"/>
          <p:nvPr/>
        </p:nvSpPr>
        <p:spPr>
          <a:xfrm>
            <a:off x="8366760" y="2743200"/>
            <a:ext cx="3017520" cy="18288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Zürich case uses a documented timetable</a:t>
            </a:r>
            <a:endParaRPr lang="en-US" sz="1500" dirty="0"/>
          </a:p>
          <a:p>
            <a:pPr marL="203200" indent="-203200">
              <a:spcAft>
                <a:spcPts val="600"/>
              </a:spcAft>
              <a:buSzPct val="100000"/>
              <a:buChar char="•"/>
            </a:pPr>
            <a:r>
              <a:rPr lang="en-US" sz="1400" dirty="0">
                <a:solidFill>
                  <a:srgbClr val="F4F8FC"/>
                </a:solidFill>
                <a:latin typeface="Aptos" pitchFamily="34" charset="0"/>
                <a:ea typeface="Aptos" pitchFamily="34" charset="-122"/>
                <a:cs typeface="Aptos" pitchFamily="34" charset="-120"/>
              </a:rPr>
              <a:t>Fares, seats and connection times labelled as illustrative</a:t>
            </a:r>
            <a:endParaRPr lang="en-US" sz="1500" dirty="0"/>
          </a:p>
        </p:txBody>
      </p:sp>
      <p:sp>
        <p:nvSpPr>
          <p:cNvPr id="15" name="Shape 13"/>
          <p:cNvSpPr/>
          <p:nvPr/>
        </p:nvSpPr>
        <p:spPr>
          <a:xfrm>
            <a:off x="594360" y="4846320"/>
            <a:ext cx="10972800" cy="1097280"/>
          </a:xfrm>
          <a:prstGeom prst="roundRect">
            <a:avLst>
              <a:gd name="adj" fmla="val 6667"/>
            </a:avLst>
          </a:prstGeom>
          <a:solidFill>
            <a:srgbClr val="3A1623"/>
          </a:solidFill>
          <a:ln w="12700">
            <a:solidFill>
              <a:srgbClr val="28536B"/>
            </a:solidFill>
            <a:prstDash val="solid"/>
          </a:ln>
        </p:spPr>
      </p:sp>
      <p:sp>
        <p:nvSpPr>
          <p:cNvPr id="16" name="Text 14"/>
          <p:cNvSpPr txBox="1"/>
          <p:nvPr/>
        </p:nvSpPr>
        <p:spPr>
          <a:xfrm>
            <a:off x="868680" y="4846320"/>
            <a:ext cx="10424160" cy="1097280"/>
          </a:xfrm>
          <a:prstGeom prst="rect">
            <a:avLst/>
          </a:prstGeom>
          <a:noFill/>
          <a:ln/>
        </p:spPr>
        <p:txBody>
          <a:bodyPr wrap="square" lIns="0" tIns="0" rIns="0" bIns="0" rtlCol="0" anchor="ctr"/>
          <a:lstStyle/>
          <a:p>
            <a:pPr indent="0" marL="0">
              <a:buNone/>
            </a:pPr>
            <a:r>
              <a:rPr lang="en-US" sz="1700" b="1" dirty="0">
                <a:solidFill>
                  <a:srgbClr val="E0485F"/>
                </a:solidFill>
                <a:latin typeface="Aptos" pitchFamily="34" charset="0"/>
                <a:ea typeface="Aptos" pitchFamily="34" charset="-122"/>
                <a:cs typeface="Aptos" pitchFamily="34" charset="-120"/>
              </a:rPr>
              <a:t>We do not claim: </a:t>
            </a:r>
            <a:pPr indent="0" marL="0">
              <a:buNone/>
            </a:pPr>
            <a:r>
              <a:rPr lang="en-US" sz="1700" dirty="0">
                <a:solidFill>
                  <a:srgbClr val="F4F8FC"/>
                </a:solidFill>
                <a:latin typeface="Aptos" pitchFamily="34" charset="0"/>
                <a:ea typeface="Aptos" pitchFamily="34" charset="-122"/>
                <a:cs typeface="Aptos" pitchFamily="34" charset="-120"/>
              </a:rPr>
              <a:t>live seat inventory, interline ticketing rights, or delay calibration for European airports.</a:t>
            </a:r>
            <a:endParaRPr lang="en-US" sz="1700" dirty="0"/>
          </a:p>
        </p:txBody>
      </p:sp>
      <p:sp>
        <p:nvSpPr>
          <p:cNvPr id="17" name="Text 15"/>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Download: transtats.bts.gov → Aviation → Airline On-Time Performance Data → Reporting Carrier On-Time Performance</a:t>
            </a:r>
            <a:endParaRPr lang="en-US" sz="1100" dirty="0"/>
          </a:p>
        </p:txBody>
      </p:sp>
      <p:sp>
        <p:nvSpPr>
          <p:cNvPr id="18" name="Text 16"/>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62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45D7E8"/>
          </a:solidFill>
          <a:ln w="12700">
            <a:solidFill>
              <a:srgbClr val="45D7E8"/>
            </a:solidFill>
            <a:prstDash val="solid"/>
          </a:ln>
        </p:spPr>
      </p:sp>
      <p:sp>
        <p:nvSpPr>
          <p:cNvPr id="3" name="Text 1"/>
          <p:cNvSpPr txBox="1"/>
          <p:nvPr/>
        </p:nvSpPr>
        <p:spPr>
          <a:xfrm>
            <a:off x="594360" y="384048"/>
            <a:ext cx="5486400" cy="320040"/>
          </a:xfrm>
          <a:prstGeom prst="rect">
            <a:avLst/>
          </a:prstGeom>
          <a:noFill/>
          <a:ln/>
        </p:spPr>
        <p:txBody>
          <a:bodyPr wrap="square" lIns="0" tIns="0" rIns="0" bIns="0" rtlCol="0" anchor="ctr"/>
          <a:lstStyle/>
          <a:p>
            <a:pPr indent="0" marL="0">
              <a:buNone/>
            </a:pPr>
            <a:r>
              <a:rPr lang="en-US" sz="1300" b="1" dirty="0">
                <a:solidFill>
                  <a:srgbClr val="45D7E8"/>
                </a:solidFill>
                <a:latin typeface="Aptos" pitchFamily="34" charset="0"/>
                <a:ea typeface="Aptos" pitchFamily="34" charset="-122"/>
                <a:cs typeface="Aptos" pitchFamily="34" charset="-120"/>
              </a:rPr>
              <a:t>APPENDIX C</a:t>
            </a:r>
            <a:endParaRPr lang="en-US" sz="1300" dirty="0"/>
          </a:p>
        </p:txBody>
      </p:sp>
      <p:sp>
        <p:nvSpPr>
          <p:cNvPr id="4" name="Text 2"/>
          <p:cNvSpPr txBox="1"/>
          <p:nvPr/>
        </p:nvSpPr>
        <p:spPr>
          <a:xfrm>
            <a:off x="594360" y="786384"/>
            <a:ext cx="10972800" cy="594360"/>
          </a:xfrm>
          <a:prstGeom prst="rect">
            <a:avLst/>
          </a:prstGeom>
          <a:noFill/>
          <a:ln/>
        </p:spPr>
        <p:txBody>
          <a:bodyPr wrap="square" lIns="0" tIns="0" rIns="0" bIns="0" rtlCol="0" anchor="ctr"/>
          <a:lstStyle/>
          <a:p>
            <a:pPr indent="0" marL="0">
              <a:buNone/>
            </a:pPr>
            <a:r>
              <a:rPr lang="en-US" sz="3100" b="1" dirty="0">
                <a:solidFill>
                  <a:srgbClr val="F4F8FC"/>
                </a:solidFill>
                <a:latin typeface="Aptos" pitchFamily="34" charset="0"/>
                <a:ea typeface="Aptos" pitchFamily="34" charset="-122"/>
                <a:cs typeface="Aptos" pitchFamily="34" charset="-120"/>
              </a:rPr>
              <a:t>References</a:t>
            </a:r>
            <a:endParaRPr lang="en-US" sz="3100" dirty="0"/>
          </a:p>
        </p:txBody>
      </p:sp>
      <p:sp>
        <p:nvSpPr>
          <p:cNvPr id="5" name="Text 3"/>
          <p:cNvSpPr txBox="1"/>
          <p:nvPr/>
        </p:nvSpPr>
        <p:spPr>
          <a:xfrm>
            <a:off x="594360" y="1554480"/>
            <a:ext cx="10972800" cy="4480560"/>
          </a:xfrm>
          <a:prstGeom prst="rect">
            <a:avLst/>
          </a:prstGeom>
          <a:noFill/>
          <a:ln/>
        </p:spPr>
        <p:txBody>
          <a:bodyPr wrap="square" lIns="0" tIns="0" rIns="0" bIns="0" rtlCol="0" anchor="t"/>
          <a:lstStyle/>
          <a:p>
            <a:pPr indent="0" marL="0">
              <a:spcAft>
                <a:spcPts val="900"/>
              </a:spcAft>
              <a:buNone/>
            </a:pPr>
            <a:r>
              <a:rPr lang="en-US" sz="1300" dirty="0">
                <a:solidFill>
                  <a:srgbClr val="F4F8FC"/>
                </a:solidFill>
                <a:latin typeface="Aptos" pitchFamily="34" charset="0"/>
                <a:ea typeface="Aptos" pitchFamily="34" charset="-122"/>
                <a:cs typeface="Aptos" pitchFamily="34" charset="-120"/>
              </a:rPr>
              <a:t>Bratu, S., &amp; Barnhart, C. (2006). Flight operations recovery: New approaches considering passenger recovery. Journal of Scheduling, 9(3), 279–298.</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Clausen, J., Larsen, A., Larsen, J., &amp; Rezanova, N. J. (2010). Disruption management in the airline industry: Concepts, models and methods. Computers &amp; Operations Research, 37(5), 809–821.</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Lu, L., Xu, Y., Fan, W., Pan, H., Ip, W., &amp; Yung, K. L. (2025). Research on the recovery method of disrupted flights considering passenger transfer and cancellation costs. Operations Management Research, 18, 691–717. https://doi.org/10.1007/s12063-024-00530-z</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Wu, S., Liu, E., Cao, R., &amp; Bai, Q. (2025). Airline recovery problem under disruptions: A review. Computers &amp; Operations Research, 175, 106915. https://doi.org/10.1016/j.cor.2024.106915</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Regulation (EC) No 261/2004 of the European Parliament and of the Council on compensation and assistance to passengers in the event of denied boarding, cancellation or long delay of flights. Official Journal of the European Union, L 46, 1–8.</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Court of Justice of the European Union: Sturgeon and Others, Joined Cases C-402/07 and C-432/07 (2009); Folkerts, Case C-11/11 (2013).</a:t>
            </a:r>
            <a:endParaRPr lang="en-US" sz="1300" dirty="0"/>
          </a:p>
          <a:p>
            <a:pPr indent="0" marL="0">
              <a:spcAft>
                <a:spcPts val="900"/>
              </a:spcAft>
              <a:buNone/>
            </a:pPr>
            <a:r>
              <a:rPr lang="en-US" sz="1300" dirty="0">
                <a:solidFill>
                  <a:srgbClr val="F4F8FC"/>
                </a:solidFill>
                <a:latin typeface="Aptos" pitchFamily="34" charset="0"/>
                <a:ea typeface="Aptos" pitchFamily="34" charset="-122"/>
                <a:cs typeface="Aptos" pitchFamily="34" charset="-120"/>
              </a:rPr>
              <a:t>U.S. Bureau of Transportation Statistics. Reporting Carrier On-Time Performance (1987–present). TranStats database.</a:t>
            </a:r>
            <a:endParaRPr lang="en-US" sz="1300" dirty="0"/>
          </a:p>
        </p:txBody>
      </p:sp>
      <p:sp>
        <p:nvSpPr>
          <p:cNvPr id="6" name="Text 4"/>
          <p:cNvSpPr txBox="1"/>
          <p:nvPr/>
        </p:nvSpPr>
        <p:spPr>
          <a:xfrm>
            <a:off x="594360" y="6199632"/>
            <a:ext cx="10424160" cy="292608"/>
          </a:xfrm>
          <a:prstGeom prst="rect">
            <a:avLst/>
          </a:prstGeom>
          <a:noFill/>
          <a:ln/>
        </p:spPr>
        <p:txBody>
          <a:bodyPr wrap="square" lIns="0" tIns="0" rIns="0" bIns="0" rtlCol="0" anchor="ctr"/>
          <a:lstStyle/>
          <a:p>
            <a:pPr indent="0" marL="0">
              <a:buNone/>
            </a:pPr>
            <a:r>
              <a:rPr lang="en-US" sz="1100" dirty="0">
                <a:solidFill>
                  <a:srgbClr val="AFC6D7"/>
                </a:solidFill>
                <a:latin typeface="Aptos" pitchFamily="34" charset="0"/>
                <a:ea typeface="Aptos" pitchFamily="34" charset="-122"/>
                <a:cs typeface="Aptos" pitchFamily="34" charset="-120"/>
              </a:rPr>
              <a:t>APA 7th edition style</a:t>
            </a:r>
            <a:endParaRPr lang="en-US" sz="1100" dirty="0"/>
          </a:p>
        </p:txBody>
      </p:sp>
      <p:sp>
        <p:nvSpPr>
          <p:cNvPr id="7" name="Text 5"/>
          <p:cNvSpPr txBox="1"/>
          <p:nvPr/>
        </p:nvSpPr>
        <p:spPr>
          <a:xfrm>
            <a:off x="11247120" y="6217920"/>
            <a:ext cx="365760" cy="237744"/>
          </a:xfrm>
          <a:prstGeom prst="rect">
            <a:avLst/>
          </a:prstGeom>
          <a:noFill/>
          <a:ln/>
        </p:spPr>
        <p:txBody>
          <a:bodyPr wrap="square" lIns="0" tIns="0" rIns="0" bIns="0" rtlCol="0" anchor="ctr"/>
          <a:lstStyle/>
          <a:p>
            <a:pPr algn="r" indent="0" marL="0">
              <a:buNone/>
            </a:pPr>
            <a:r>
              <a:rPr lang="en-US" sz="1100" b="1" dirty="0">
                <a:solidFill>
                  <a:srgbClr val="45D7E8"/>
                </a:solidFill>
                <a:latin typeface="Aptos" pitchFamily="34" charset="0"/>
                <a:ea typeface="Aptos" pitchFamily="34" charset="-122"/>
                <a:cs typeface="Aptos"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ReRouteAI - project proposal</dc:title>
  <dc:subject>PptxGenJS Presentation</dc:subject>
  <dc:creator>PptxGenJS</dc:creator>
  <cp:lastModifiedBy>PptxGenJS</cp:lastModifiedBy>
  <cp:revision>1</cp:revision>
  <dcterms:created xsi:type="dcterms:W3CDTF">2026-09-30T18:06:37Z</dcterms:created>
  <dcterms:modified xsi:type="dcterms:W3CDTF">2026-09-30T18:06:37Z</dcterms:modified>
</cp:coreProperties>
</file>