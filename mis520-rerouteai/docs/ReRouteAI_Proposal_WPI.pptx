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handoutMasterIdLst>
    <p:handoutMasterId r:id="rId25"/>
  </p:handout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Lst>
  <p:sldSz cx="12192000" cy="6858000"/>
  <p:notesSz cx="7010400" cy="9296400"/>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20" userDrawn="1">
          <p15:clr>
            <a:srgbClr val="A4A3A4"/>
          </p15:clr>
        </p15:guide>
        <p15:guide id="2" orient="horz" pos="960" userDrawn="1">
          <p15:clr>
            <a:srgbClr val="A4A3A4"/>
          </p15:clr>
        </p15:guide>
        <p15:guide id="3" orient="horz" pos="3888" userDrawn="1">
          <p15:clr>
            <a:srgbClr val="A4A3A4"/>
          </p15:clr>
        </p15:guide>
        <p15:guide id="4" pos="456" userDrawn="1">
          <p15:clr>
            <a:srgbClr val="A4A3A4"/>
          </p15:clr>
        </p15:guide>
        <p15:guide id="5" pos="7296"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C6569"/>
    <a:srgbClr val="5E7361"/>
    <a:srgbClr val="002E6D"/>
    <a:srgbClr val="272626"/>
    <a:srgbClr val="AB162B"/>
    <a:srgbClr val="B2B7BB"/>
    <a:srgbClr val="C78A3D"/>
    <a:srgbClr val="C4122F"/>
    <a:srgbClr val="343433"/>
    <a:srgbClr val="00B1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073"/>
    <p:restoredTop sz="94149"/>
  </p:normalViewPr>
  <p:slideViewPr>
    <p:cSldViewPr snapToGrid="0">
      <p:cViewPr varScale="1">
        <p:scale>
          <a:sx n="107" d="100"/>
          <a:sy n="107" d="100"/>
        </p:scale>
        <p:origin x="1224" y="160"/>
      </p:cViewPr>
      <p:guideLst>
        <p:guide orient="horz" pos="720"/>
        <p:guide orient="horz" pos="960"/>
        <p:guide orient="horz" pos="3888"/>
        <p:guide pos="456"/>
        <p:guide pos="7296"/>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102" d="100"/>
          <a:sy n="102" d="100"/>
        </p:scale>
        <p:origin x="4304" y="17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notesMaster" Target="notesMasters/notesMaster1.xml"/><Relationship Id="rId25" Type="http://schemas.openxmlformats.org/officeDocument/2006/relationships/handoutMaster" Target="handoutMasters/handoutMaster1.xml"/><Relationship Id="rId26" Type="http://schemas.openxmlformats.org/officeDocument/2006/relationships/tags" Target="tags/tag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t>Early result: average cost per disrupted passenger ($)</a:t>
            </a:r>
          </a:p>
        </c:rich>
      </c:tx>
      <c:layout/>
      <c:overlay val="0"/>
    </c:title>
    <c:autoTitleDeleted val="0"/>
    <c:plotArea>
      <c:barChart>
        <c:barDir val="bar"/>
        <c:grouping val="clustered"/>
        <c:ser>
          <c:idx val="0"/>
          <c:order val="0"/>
          <c:tx>
            <c:strRef>
              <c:f>Sheet1!$B$1</c:f>
              <c:strCache>
                <c:ptCount val="1"/>
                <c:pt idx="0">
                  <c:v>Average cost per disrupted passenger ($)</c:v>
                </c:pt>
              </c:strCache>
            </c:strRef>
          </c:tx>
          <c:dPt>
            <c:idx val="0"/>
            <c:spPr>
              <a:solidFill>
                <a:srgbClr val="AB192D"/>
              </a:solidFill>
            </c:spPr>
          </c:dPt>
          <c:dPt>
            <c:idx val="1"/>
            <c:spPr>
              <a:solidFill>
                <a:srgbClr val="B2B7BB"/>
              </a:solidFill>
            </c:spPr>
          </c:dPt>
          <c:dPt>
            <c:idx val="2"/>
            <c:spPr>
              <a:solidFill>
                <a:srgbClr val="B2B7BB"/>
              </a:solidFill>
            </c:spPr>
          </c:dPt>
          <c:dPt>
            <c:idx val="3"/>
            <c:spPr>
              <a:solidFill>
                <a:srgbClr val="B2B7BB"/>
              </a:solidFill>
            </c:spPr>
          </c:dPt>
          <c:cat>
            <c:strRef>
              <c:f>Sheet1!$A$2:$A$5</c:f>
              <c:strCache>
                <c:ptCount val="4"/>
                <c:pt idx="0">
                  <c:v>ReRouteAI</c:v>
                </c:pt>
                <c:pt idx="1">
                  <c:v>Earliest arrival</c:v>
                </c:pt>
                <c:pt idx="2">
                  <c:v>Lowest fare</c:v>
                </c:pt>
                <c:pt idx="3">
                  <c:v>Next direct, same airline</c:v>
                </c:pt>
              </c:strCache>
            </c:strRef>
          </c:cat>
          <c:val>
            <c:numRef>
              <c:f>Sheet1!$B$2:$B$5</c:f>
              <c:numCache>
                <c:formatCode>General</c:formatCode>
                <c:ptCount val="4"/>
                <c:pt idx="0">
                  <c:v>729</c:v>
                </c:pt>
                <c:pt idx="1">
                  <c:v>806</c:v>
                </c:pt>
                <c:pt idx="2">
                  <c:v>866</c:v>
                </c:pt>
                <c:pt idx="3">
                  <c:v>962</c:v>
                </c:pt>
              </c:numCache>
            </c:numRef>
          </c:val>
        </c:ser>
        <c:dLbls>
          <c:numFmt formatCode="$#,##0" sourceLinked="0"/>
          <c:txPr>
            <a:bodyPr/>
            <a:lstStyle/>
            <a:p>
              <a:pPr>
                <a:defRPr sz="12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max val="110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550449CD-19C8-44C0-A36B-1667EDB1312B}" type="datetimeFigureOut">
              <a:rPr lang="en-US" smtClean="0"/>
              <a:t>12/5/23</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B5C7A2D6-6A74-4789-8A27-67CDFFE8E463}" type="slidenum">
              <a:rPr lang="en-US" smtClean="0"/>
              <a:t>‹#›</a:t>
            </a:fld>
            <a:endParaRPr lang="en-US"/>
          </a:p>
        </p:txBody>
      </p:sp>
    </p:spTree>
    <p:extLst>
      <p:ext uri="{BB962C8B-B14F-4D97-AF65-F5344CB8AC3E}">
        <p14:creationId xmlns:p14="http://schemas.microsoft.com/office/powerpoint/2010/main" val="29090795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914C511E-AA3B-43E3-B946-406AB5E4C4BB}" type="datetimeFigureOut">
              <a:rPr lang="en-US" smtClean="0"/>
              <a:pPr/>
              <a:t>12/5/23</a:t>
            </a:fld>
            <a:endParaRPr lang="en-US"/>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78E4A049-8685-4352-9DC2-828F08FD542B}" type="slidenum">
              <a:rPr lang="en-US" smtClean="0"/>
              <a:pPr/>
              <a:t>‹#›</a:t>
            </a:fld>
            <a:endParaRPr lang="en-US"/>
          </a:p>
        </p:txBody>
      </p:sp>
    </p:spTree>
    <p:extLst>
      <p:ext uri="{BB962C8B-B14F-4D97-AF65-F5344CB8AC3E}">
        <p14:creationId xmlns:p14="http://schemas.microsoft.com/office/powerpoint/2010/main" val="544259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(a few seconds). Introduce the team. Mention that a working prototype already exists.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0:00–1:00 (Problem). A 95-minute inbound delay into Zürich means the passenger misses the Warsaw connection. The rebooking agent has minutes to evaluate 18 possible recovery paths. Under EU261, arriving more than 3 hours late costs the airline 300 euros per passenger, and more than 4 hours costs 600 euros.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1:00–2:00 (Problem). Under pressure, agents fall back on one rule: book the next flight on our own airline. That rule ignores the chance that the reroute fails, seats on other airlines, and the hotel, meal and compensation costs that build up. Lu et al. 2025 show that the way passengers are transferred drives recovery cost, and the 2025 review by Wu et al. calls for real-time recovery that handles uncertainty.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2:00–3:00 (Problem). Why AI and not a better rule? Three problems are tied together: delay uncertainty needs machine learning, the number of possible routes needs graph search, and the regulations need policy retrieval. A fixed rule handles none of them. And the scale is real: about 21 percent of U.S. flights were delayed in 2023.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3:00–3:40 (Technical). Three steps: predict the real connection risk, score every feasible route by total cost, and recommend. The agent keeps the final decision. The next slides cover each step.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3:40–4:50 (Technical). Step 1. We do not assume flights land on time. A gradient-boosting model trained on BTS history predicts the whole delay distribution, so we can estimate the chance of making each connection. Example: the Vienna reroute looks fine on the timetable, but the model gives it about a 65 percent chance.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4:50–6:00 (Technical). Step 2. Graph search removes impossible routes. Each remaining route gets one dollar score: ticket price, the value of the traveller's time, and the risk of missing a connection. For the airline we add EU261 compensation, which jumps at 3 and 4 hours.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6:00–8:00 (Technical). Step 3, live demo. Move the priority slider: a student gets the free direct flight, a business traveller gets the paid nonstop. In the airline view, buying a 260-dollar seat is cheaper than 600 euros of compensation. With EU261 turned off, as for a weather delay, the cheapest plan becomes a late-evening flight. Show the agent approving or overriding. Have a backup video ready.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8:00–10:00 (Implementation). October: train the delay model on real BTS data and build the policy retrieval. November: build the agent workflow, run backtests on real U.S. history and test with five users. December: final delivery. Roles: Agnieszka data and timetable, Regina the delay model, Delice graph search and the cost model, Kofi the interface, retrieval and ethics.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10:00–11:00 (Evaluation). We compare against the rules agents use today: earliest arrival, lowest fare, and the next direct flight on our own airline. We measure cost saved, the share arriving within 3 hours, response time, and a 5-person user test. The chart is an early prototype result on synthetic data; the real test is the backtest on 2024 BTS data.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11:00–12:00 (Ethics). Three safeguards. Human in the loop: a named agent signs off every rebooking and overrides are logged. Equity: priority rules for minors, medical needs and reduced mobility come before any value-of-time calculation. Legal accuracy: the explanation can only use retrieved, cited policy text. Then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use only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references.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C2D0595-5770-C96B-A9D1-4F753B181841}"/>
              </a:ext>
            </a:extLst>
          </p:cNvPr>
          <p:cNvSpPr>
            <a:spLocks noGrp="1"/>
          </p:cNvSpPr>
          <p:nvPr>
            <p:ph type="ctrTitle" hasCustomPrompt="1"/>
          </p:nvPr>
        </p:nvSpPr>
        <p:spPr>
          <a:xfrm>
            <a:off x="609600" y="2836309"/>
            <a:ext cx="9144000" cy="1524001"/>
          </a:xfrm>
        </p:spPr>
        <p:txBody>
          <a:bodyPr>
            <a:noAutofit/>
          </a:bodyPr>
          <a:lstStyle>
            <a:lvl1pPr>
              <a:lnSpc>
                <a:spcPts val="4200"/>
              </a:lnSpc>
              <a:defRPr sz="4000" b="1"/>
            </a:lvl1pPr>
          </a:lstStyle>
          <a:p>
            <a:r>
              <a:rPr lang="en-US" dirty="0"/>
              <a:t>Click to edit</a:t>
            </a:r>
            <a:br>
              <a:rPr lang="en-US" dirty="0"/>
            </a:br>
            <a:r>
              <a:rPr lang="en-US" dirty="0"/>
              <a:t>Master title style</a:t>
            </a:r>
          </a:p>
        </p:txBody>
      </p:sp>
      <p:sp>
        <p:nvSpPr>
          <p:cNvPr id="9" name="Subtitle 2">
            <a:extLst>
              <a:ext uri="{FF2B5EF4-FFF2-40B4-BE49-F238E27FC236}">
                <a16:creationId xmlns:a16="http://schemas.microsoft.com/office/drawing/2014/main" id="{CE14D3FB-B92A-0140-6727-1A2CFC21BC24}"/>
              </a:ext>
            </a:extLst>
          </p:cNvPr>
          <p:cNvSpPr>
            <a:spLocks noGrp="1"/>
          </p:cNvSpPr>
          <p:nvPr>
            <p:ph type="subTitle" idx="1"/>
          </p:nvPr>
        </p:nvSpPr>
        <p:spPr>
          <a:xfrm>
            <a:off x="609600" y="4591957"/>
            <a:ext cx="9144000" cy="990600"/>
          </a:xfrm>
        </p:spPr>
        <p:txBody>
          <a:bodyPr anchor="t" anchorCtr="0">
            <a:normAutofit/>
          </a:bodyPr>
          <a:lstStyle>
            <a:lvl1pPr marL="0" indent="0" algn="l">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11" name="Picture 10" descr="A red letter w on a black background&#10;&#10;Description automatically generated">
            <a:extLst>
              <a:ext uri="{FF2B5EF4-FFF2-40B4-BE49-F238E27FC236}">
                <a16:creationId xmlns:a16="http://schemas.microsoft.com/office/drawing/2014/main" id="{16AFF59A-392A-B90D-90C3-40ADAD4A640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2078" y="990600"/>
            <a:ext cx="3393650" cy="1097280"/>
          </a:xfrm>
          <a:prstGeom prst="rect">
            <a:avLst/>
          </a:prstGeom>
        </p:spPr>
      </p:pic>
      <p:pic>
        <p:nvPicPr>
          <p:cNvPr id="12" name="Picture 11" descr="A grey logo with text&#10;&#10;Description automatically generated">
            <a:extLst>
              <a:ext uri="{FF2B5EF4-FFF2-40B4-BE49-F238E27FC236}">
                <a16:creationId xmlns:a16="http://schemas.microsoft.com/office/drawing/2014/main" id="{4C1E441D-3FAC-DA36-0F0B-FE18196D7950}"/>
              </a:ext>
            </a:extLst>
          </p:cNvPr>
          <p:cNvPicPr>
            <a:picLocks noChangeAspect="1"/>
          </p:cNvPicPr>
          <p:nvPr userDrawn="1"/>
        </p:nvPicPr>
        <p:blipFill rotWithShape="1">
          <a:blip r:embed="rId3">
            <a:alphaModFix amt="20000"/>
            <a:extLst>
              <a:ext uri="{28A0092B-C50C-407E-A947-70E740481C1C}">
                <a14:useLocalDpi xmlns:a14="http://schemas.microsoft.com/office/drawing/2010/main" val="0"/>
              </a:ext>
            </a:extLst>
          </a:blip>
          <a:srcRect r="10769" b="12037"/>
          <a:stretch/>
        </p:blipFill>
        <p:spPr>
          <a:xfrm>
            <a:off x="8112370" y="2836309"/>
            <a:ext cx="4079630" cy="4021691"/>
          </a:xfrm>
          <a:prstGeom prst="rect">
            <a:avLst/>
          </a:prstGeom>
        </p:spPr>
      </p:pic>
    </p:spTree>
  </p:cSld>
  <p:clrMapOvr>
    <a:masterClrMapping/>
  </p:clrMapOvr>
  <p:hf hdr="0" dt="0"/>
  <p:extLst>
    <p:ext uri="{DCECCB84-F9BA-43D5-87BE-67443E8EF086}">
      <p15:sldGuideLst xmlns:p15="http://schemas.microsoft.com/office/powerpoint/2012/main">
        <p15:guide id="1" pos="45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FE98F50-F8E9-DD5D-F0F3-B177E05FE517}"/>
              </a:ext>
            </a:extLst>
          </p:cNvPr>
          <p:cNvSpPr/>
          <p:nvPr userDrawn="1"/>
        </p:nvSpPr>
        <p:spPr bwMode="auto">
          <a:xfrm>
            <a:off x="0" y="0"/>
            <a:ext cx="12192000" cy="1143000"/>
          </a:xfrm>
          <a:prstGeom prst="rect">
            <a:avLst/>
          </a:prstGeom>
          <a:solidFill>
            <a:srgbClr val="AB162B"/>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sp>
        <p:nvSpPr>
          <p:cNvPr id="15" name="Subtitle 2">
            <a:extLst>
              <a:ext uri="{FF2B5EF4-FFF2-40B4-BE49-F238E27FC236}">
                <a16:creationId xmlns:a16="http://schemas.microsoft.com/office/drawing/2014/main" id="{5CB2D455-4055-7480-CBDA-FD85C71EBDFE}"/>
              </a:ext>
            </a:extLst>
          </p:cNvPr>
          <p:cNvSpPr>
            <a:spLocks noGrp="1"/>
          </p:cNvSpPr>
          <p:nvPr>
            <p:ph type="subTitle" idx="1"/>
          </p:nvPr>
        </p:nvSpPr>
        <p:spPr>
          <a:xfrm>
            <a:off x="609600" y="4024064"/>
            <a:ext cx="9144000" cy="990600"/>
          </a:xfrm>
        </p:spPr>
        <p:txBody>
          <a:bodyPr anchor="t" anchorCtr="0">
            <a:normAutofit/>
          </a:bodyPr>
          <a:lstStyle>
            <a:lvl1pPr marL="0" indent="0" algn="l">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6" name="Title 1">
            <a:extLst>
              <a:ext uri="{FF2B5EF4-FFF2-40B4-BE49-F238E27FC236}">
                <a16:creationId xmlns:a16="http://schemas.microsoft.com/office/drawing/2014/main" id="{B1045F49-C082-20D9-8199-F2BED577C03E}"/>
              </a:ext>
            </a:extLst>
          </p:cNvPr>
          <p:cNvSpPr>
            <a:spLocks noGrp="1"/>
          </p:cNvSpPr>
          <p:nvPr>
            <p:ph type="ctrTitle"/>
          </p:nvPr>
        </p:nvSpPr>
        <p:spPr>
          <a:xfrm>
            <a:off x="609600" y="2268416"/>
            <a:ext cx="9144000" cy="1524001"/>
          </a:xfrm>
        </p:spPr>
        <p:txBody>
          <a:bodyPr>
            <a:noAutofit/>
          </a:bodyPr>
          <a:lstStyle>
            <a:lvl1pPr>
              <a:lnSpc>
                <a:spcPts val="4200"/>
              </a:lnSpc>
              <a:defRPr sz="4000" b="1"/>
            </a:lvl1pPr>
          </a:lstStyle>
          <a:p>
            <a:r>
              <a:rPr lang="en-US" dirty="0"/>
              <a:t>Click to edit Master title style</a:t>
            </a:r>
          </a:p>
        </p:txBody>
      </p:sp>
      <p:sp>
        <p:nvSpPr>
          <p:cNvPr id="17" name="TextBox 16">
            <a:extLst>
              <a:ext uri="{FF2B5EF4-FFF2-40B4-BE49-F238E27FC236}">
                <a16:creationId xmlns:a16="http://schemas.microsoft.com/office/drawing/2014/main" id="{04792277-BE88-7783-1DD4-5085D63F96DC}"/>
              </a:ext>
            </a:extLst>
          </p:cNvPr>
          <p:cNvSpPr txBox="1"/>
          <p:nvPr userDrawn="1"/>
        </p:nvSpPr>
        <p:spPr>
          <a:xfrm>
            <a:off x="-433137" y="4360244"/>
            <a:ext cx="0" cy="0"/>
          </a:xfrm>
          <a:prstGeom prst="rect">
            <a:avLst/>
          </a:prstGeom>
          <a:noFill/>
        </p:spPr>
        <p:txBody>
          <a:bodyPr wrap="none" rtlCol="0">
            <a:noAutofit/>
          </a:bodyPr>
          <a:lstStyle/>
          <a:p>
            <a:pPr algn="ctr"/>
            <a:endParaRPr lang="en-US" sz="1600" dirty="0" err="1"/>
          </a:p>
        </p:txBody>
      </p:sp>
      <p:pic>
        <p:nvPicPr>
          <p:cNvPr id="18" name="Picture 17" descr="A grey logo with text&#10;&#10;Description automatically generated">
            <a:extLst>
              <a:ext uri="{FF2B5EF4-FFF2-40B4-BE49-F238E27FC236}">
                <a16:creationId xmlns:a16="http://schemas.microsoft.com/office/drawing/2014/main" id="{5376143C-E399-5AFE-BF3E-718BB884008D}"/>
              </a:ext>
            </a:extLst>
          </p:cNvPr>
          <p:cNvPicPr>
            <a:picLocks noChangeAspect="1"/>
          </p:cNvPicPr>
          <p:nvPr userDrawn="1"/>
        </p:nvPicPr>
        <p:blipFill rotWithShape="1">
          <a:blip r:embed="rId2">
            <a:alphaModFix amt="20000"/>
            <a:extLst>
              <a:ext uri="{28A0092B-C50C-407E-A947-70E740481C1C}">
                <a14:useLocalDpi xmlns:a14="http://schemas.microsoft.com/office/drawing/2010/main" val="0"/>
              </a:ext>
            </a:extLst>
          </a:blip>
          <a:srcRect r="10769" b="12037"/>
          <a:stretch/>
        </p:blipFill>
        <p:spPr>
          <a:xfrm>
            <a:off x="8112370" y="2836309"/>
            <a:ext cx="4079630" cy="4021691"/>
          </a:xfrm>
          <a:prstGeom prst="rect">
            <a:avLst/>
          </a:prstGeom>
        </p:spPr>
      </p:pic>
    </p:spTree>
    <p:extLst>
      <p:ext uri="{BB962C8B-B14F-4D97-AF65-F5344CB8AC3E}">
        <p14:creationId xmlns:p14="http://schemas.microsoft.com/office/powerpoint/2010/main" val="2237983437"/>
      </p:ext>
    </p:extLst>
  </p:cSld>
  <p:clrMapOvr>
    <a:masterClrMapping/>
  </p:clrMapOvr>
  <p:hf hdr="0" dt="0"/>
  <p:extLst>
    <p:ext uri="{DCECCB84-F9BA-43D5-87BE-67443E8EF086}">
      <p15:sldGuideLst xmlns:p15="http://schemas.microsoft.com/office/powerpoint/2012/main">
        <p15:guide id="1" pos="45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b" anchorCtr="0"/>
          <a:lstStyle/>
          <a:p>
            <a:r>
              <a:rPr lang="en-US" noProof="1"/>
              <a:t>Click to edit Master title style</a:t>
            </a:r>
            <a:endParaRPr lang="en-US"/>
          </a:p>
        </p:txBody>
      </p:sp>
      <p:sp>
        <p:nvSpPr>
          <p:cNvPr id="14" name="Rectangle 6"/>
          <p:cNvSpPr>
            <a:spLocks noGrp="1"/>
          </p:cNvSpPr>
          <p:nvPr>
            <p:ph idx="1"/>
          </p:nvPr>
        </p:nvSpPr>
        <p:spPr>
          <a:xfrm>
            <a:off x="609600" y="1524000"/>
            <a:ext cx="10972800" cy="4648200"/>
          </a:xfrm>
        </p:spPr>
        <p:txBody>
          <a:bodyPr/>
          <a:lstStyle>
            <a:lvl1pPr>
              <a:buClr>
                <a:srgbClr val="C4122F"/>
              </a:buClr>
              <a:defRPr/>
            </a:lvl1pPr>
            <a:lvl2pPr>
              <a:buClr>
                <a:srgbClr val="C4122F"/>
              </a:buClr>
              <a:defRPr/>
            </a:lvl2pPr>
            <a:lvl3pPr>
              <a:buClr>
                <a:srgbClr val="C4122F"/>
              </a:buClr>
              <a:defRPr/>
            </a:lvl3pPr>
            <a:lvl4pPr>
              <a:buClr>
                <a:srgbClr val="C4122F"/>
              </a:buClr>
              <a:defRPr/>
            </a:lvl4pPr>
            <a:lvl5pPr>
              <a:buClr>
                <a:srgbClr val="C4122F"/>
              </a:buClr>
              <a:defRPr/>
            </a:lvl5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dirty="0"/>
          </a:p>
        </p:txBody>
      </p:sp>
    </p:spTree>
    <p:extLst>
      <p:ext uri="{BB962C8B-B14F-4D97-AF65-F5344CB8AC3E}">
        <p14:creationId xmlns:p14="http://schemas.microsoft.com/office/powerpoint/2010/main" val="4115709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b" anchorCtr="0"/>
          <a:lstStyle/>
          <a:p>
            <a:r>
              <a:rPr lang="en-US" noProof="1"/>
              <a:t>Click to edit Master title style</a:t>
            </a:r>
            <a:endParaRPr lang="en-US"/>
          </a:p>
        </p:txBody>
      </p:sp>
      <p:sp>
        <p:nvSpPr>
          <p:cNvPr id="14" name="Rectangle 6"/>
          <p:cNvSpPr>
            <a:spLocks noGrp="1"/>
          </p:cNvSpPr>
          <p:nvPr>
            <p:ph idx="1"/>
          </p:nvPr>
        </p:nvSpPr>
        <p:spPr>
          <a:xfrm>
            <a:off x="609600" y="1795464"/>
            <a:ext cx="3491097" cy="4189412"/>
          </a:xfrm>
        </p:spPr>
        <p:txBody>
          <a:bodyPr anchor="ctr" anchorCtr="0"/>
          <a:lstStyle>
            <a:lvl1pPr>
              <a:buClr>
                <a:srgbClr val="C4122F"/>
              </a:buClr>
              <a:defRPr/>
            </a:lvl1pPr>
            <a:lvl2pPr>
              <a:buClr>
                <a:srgbClr val="C4122F"/>
              </a:buClr>
              <a:defRPr/>
            </a:lvl2pPr>
            <a:lvl3pPr>
              <a:buClr>
                <a:srgbClr val="C4122F"/>
              </a:buClr>
              <a:defRPr/>
            </a:lvl3pPr>
            <a:lvl4pPr>
              <a:buClr>
                <a:srgbClr val="C4122F"/>
              </a:buClr>
              <a:defRPr/>
            </a:lvl4pPr>
            <a:lvl5pPr>
              <a:buClr>
                <a:srgbClr val="C4122F"/>
              </a:buClr>
              <a:defRPr/>
            </a:lvl5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dirty="0"/>
          </a:p>
        </p:txBody>
      </p:sp>
      <p:sp>
        <p:nvSpPr>
          <p:cNvPr id="19" name="Picture Placeholder 11">
            <a:extLst>
              <a:ext uri="{FF2B5EF4-FFF2-40B4-BE49-F238E27FC236}">
                <a16:creationId xmlns:a16="http://schemas.microsoft.com/office/drawing/2014/main" id="{951C2A1F-7537-C4F1-6B37-08D509AD72E4}"/>
              </a:ext>
            </a:extLst>
          </p:cNvPr>
          <p:cNvSpPr>
            <a:spLocks noGrp="1"/>
          </p:cNvSpPr>
          <p:nvPr>
            <p:ph type="pic" sz="quarter" idx="10"/>
          </p:nvPr>
        </p:nvSpPr>
        <p:spPr>
          <a:xfrm>
            <a:off x="4263325" y="1799550"/>
            <a:ext cx="3578225" cy="2012950"/>
          </a:xfrm>
        </p:spPr>
        <p:txBody>
          <a:bodyPr/>
          <a:lstStyle/>
          <a:p>
            <a:endParaRPr lang="en-US"/>
          </a:p>
        </p:txBody>
      </p:sp>
      <p:sp>
        <p:nvSpPr>
          <p:cNvPr id="20" name="Picture Placeholder 11">
            <a:extLst>
              <a:ext uri="{FF2B5EF4-FFF2-40B4-BE49-F238E27FC236}">
                <a16:creationId xmlns:a16="http://schemas.microsoft.com/office/drawing/2014/main" id="{92441D67-6FBE-E495-29AB-89B669EEECE6}"/>
              </a:ext>
            </a:extLst>
          </p:cNvPr>
          <p:cNvSpPr>
            <a:spLocks noGrp="1"/>
          </p:cNvSpPr>
          <p:nvPr>
            <p:ph type="pic" sz="quarter" idx="11"/>
          </p:nvPr>
        </p:nvSpPr>
        <p:spPr>
          <a:xfrm>
            <a:off x="4263322" y="3975484"/>
            <a:ext cx="3578225" cy="2012950"/>
          </a:xfrm>
        </p:spPr>
        <p:txBody>
          <a:bodyPr/>
          <a:lstStyle/>
          <a:p>
            <a:endParaRPr lang="en-US"/>
          </a:p>
        </p:txBody>
      </p:sp>
      <p:sp>
        <p:nvSpPr>
          <p:cNvPr id="21" name="Picture Placeholder 11">
            <a:extLst>
              <a:ext uri="{FF2B5EF4-FFF2-40B4-BE49-F238E27FC236}">
                <a16:creationId xmlns:a16="http://schemas.microsoft.com/office/drawing/2014/main" id="{EF4467BA-E9BA-5857-EAD9-76EDE888A9BB}"/>
              </a:ext>
            </a:extLst>
          </p:cNvPr>
          <p:cNvSpPr>
            <a:spLocks noGrp="1"/>
          </p:cNvSpPr>
          <p:nvPr>
            <p:ph type="pic" sz="quarter" idx="12"/>
          </p:nvPr>
        </p:nvSpPr>
        <p:spPr>
          <a:xfrm>
            <a:off x="8004175" y="1795464"/>
            <a:ext cx="3578225" cy="2012950"/>
          </a:xfrm>
        </p:spPr>
        <p:txBody>
          <a:bodyPr/>
          <a:lstStyle/>
          <a:p>
            <a:endParaRPr lang="en-US"/>
          </a:p>
        </p:txBody>
      </p:sp>
      <p:sp>
        <p:nvSpPr>
          <p:cNvPr id="22" name="Picture Placeholder 11">
            <a:extLst>
              <a:ext uri="{FF2B5EF4-FFF2-40B4-BE49-F238E27FC236}">
                <a16:creationId xmlns:a16="http://schemas.microsoft.com/office/drawing/2014/main" id="{EEE304F3-E1CB-FB4B-9A38-A4949DB383CE}"/>
              </a:ext>
            </a:extLst>
          </p:cNvPr>
          <p:cNvSpPr>
            <a:spLocks noGrp="1"/>
          </p:cNvSpPr>
          <p:nvPr>
            <p:ph type="pic" sz="quarter" idx="13"/>
          </p:nvPr>
        </p:nvSpPr>
        <p:spPr>
          <a:xfrm>
            <a:off x="8004172" y="3971398"/>
            <a:ext cx="3578225" cy="2012950"/>
          </a:xfrm>
        </p:spPr>
        <p:txBody>
          <a:bodyPr/>
          <a:lstStyle/>
          <a:p>
            <a:endParaRPr lang="en-US"/>
          </a:p>
        </p:txBody>
      </p:sp>
    </p:spTree>
    <p:extLst>
      <p:ext uri="{BB962C8B-B14F-4D97-AF65-F5344CB8AC3E}">
        <p14:creationId xmlns:p14="http://schemas.microsoft.com/office/powerpoint/2010/main" val="4205145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a:xfrm>
            <a:off x="609600" y="351367"/>
            <a:ext cx="10972800" cy="800100"/>
          </a:xfrm>
        </p:spPr>
        <p:txBody>
          <a:bodyPr anchor="b" anchorCtr="0"/>
          <a:lstStyle/>
          <a:p>
            <a:r>
              <a:rPr lang="en-US" noProof="1"/>
              <a:t>Click to edit Master title style</a:t>
            </a:r>
            <a:endParaRPr lang="en-US"/>
          </a:p>
        </p:txBody>
      </p:sp>
      <p:sp>
        <p:nvSpPr>
          <p:cNvPr id="14" name="Rectangle 6"/>
          <p:cNvSpPr>
            <a:spLocks noGrp="1"/>
          </p:cNvSpPr>
          <p:nvPr>
            <p:ph idx="1"/>
          </p:nvPr>
        </p:nvSpPr>
        <p:spPr>
          <a:xfrm>
            <a:off x="8091303" y="1795464"/>
            <a:ext cx="3491097" cy="4189412"/>
          </a:xfrm>
        </p:spPr>
        <p:txBody>
          <a:bodyPr anchor="ctr" anchorCtr="0"/>
          <a:lstStyle>
            <a:lvl1pPr>
              <a:buClr>
                <a:srgbClr val="C4122F"/>
              </a:buClr>
              <a:defRPr/>
            </a:lvl1pPr>
            <a:lvl2pPr>
              <a:buClr>
                <a:srgbClr val="C4122F"/>
              </a:buClr>
              <a:defRPr/>
            </a:lvl2pPr>
            <a:lvl3pPr>
              <a:buClr>
                <a:srgbClr val="C4122F"/>
              </a:buClr>
              <a:defRPr/>
            </a:lvl3pPr>
            <a:lvl4pPr>
              <a:buClr>
                <a:srgbClr val="C4122F"/>
              </a:buClr>
              <a:defRPr/>
            </a:lvl4pPr>
            <a:lvl5pPr>
              <a:buClr>
                <a:srgbClr val="C4122F"/>
              </a:buClr>
              <a:defRPr/>
            </a:lvl5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dirty="0"/>
          </a:p>
        </p:txBody>
      </p:sp>
      <p:sp>
        <p:nvSpPr>
          <p:cNvPr id="19" name="Picture Placeholder 11">
            <a:extLst>
              <a:ext uri="{FF2B5EF4-FFF2-40B4-BE49-F238E27FC236}">
                <a16:creationId xmlns:a16="http://schemas.microsoft.com/office/drawing/2014/main" id="{951C2A1F-7537-C4F1-6B37-08D509AD72E4}"/>
              </a:ext>
            </a:extLst>
          </p:cNvPr>
          <p:cNvSpPr>
            <a:spLocks noGrp="1"/>
          </p:cNvSpPr>
          <p:nvPr>
            <p:ph type="pic" sz="quarter" idx="10"/>
          </p:nvPr>
        </p:nvSpPr>
        <p:spPr>
          <a:xfrm>
            <a:off x="609603" y="1799550"/>
            <a:ext cx="3578225" cy="2012950"/>
          </a:xfrm>
        </p:spPr>
        <p:txBody>
          <a:bodyPr/>
          <a:lstStyle/>
          <a:p>
            <a:endParaRPr lang="en-US"/>
          </a:p>
        </p:txBody>
      </p:sp>
      <p:sp>
        <p:nvSpPr>
          <p:cNvPr id="20" name="Picture Placeholder 11">
            <a:extLst>
              <a:ext uri="{FF2B5EF4-FFF2-40B4-BE49-F238E27FC236}">
                <a16:creationId xmlns:a16="http://schemas.microsoft.com/office/drawing/2014/main" id="{92441D67-6FBE-E495-29AB-89B669EEECE6}"/>
              </a:ext>
            </a:extLst>
          </p:cNvPr>
          <p:cNvSpPr>
            <a:spLocks noGrp="1"/>
          </p:cNvSpPr>
          <p:nvPr>
            <p:ph type="pic" sz="quarter" idx="11"/>
          </p:nvPr>
        </p:nvSpPr>
        <p:spPr>
          <a:xfrm>
            <a:off x="609600" y="3975484"/>
            <a:ext cx="3578225" cy="2012950"/>
          </a:xfrm>
        </p:spPr>
        <p:txBody>
          <a:bodyPr/>
          <a:lstStyle/>
          <a:p>
            <a:endParaRPr lang="en-US"/>
          </a:p>
        </p:txBody>
      </p:sp>
      <p:sp>
        <p:nvSpPr>
          <p:cNvPr id="21" name="Picture Placeholder 11">
            <a:extLst>
              <a:ext uri="{FF2B5EF4-FFF2-40B4-BE49-F238E27FC236}">
                <a16:creationId xmlns:a16="http://schemas.microsoft.com/office/drawing/2014/main" id="{EF4467BA-E9BA-5857-EAD9-76EDE888A9BB}"/>
              </a:ext>
            </a:extLst>
          </p:cNvPr>
          <p:cNvSpPr>
            <a:spLocks noGrp="1"/>
          </p:cNvSpPr>
          <p:nvPr>
            <p:ph type="pic" sz="quarter" idx="12"/>
          </p:nvPr>
        </p:nvSpPr>
        <p:spPr>
          <a:xfrm>
            <a:off x="4350453" y="1795464"/>
            <a:ext cx="3578225" cy="2012950"/>
          </a:xfrm>
        </p:spPr>
        <p:txBody>
          <a:bodyPr/>
          <a:lstStyle/>
          <a:p>
            <a:endParaRPr lang="en-US"/>
          </a:p>
        </p:txBody>
      </p:sp>
      <p:sp>
        <p:nvSpPr>
          <p:cNvPr id="22" name="Picture Placeholder 11">
            <a:extLst>
              <a:ext uri="{FF2B5EF4-FFF2-40B4-BE49-F238E27FC236}">
                <a16:creationId xmlns:a16="http://schemas.microsoft.com/office/drawing/2014/main" id="{EEE304F3-E1CB-FB4B-9A38-A4949DB383CE}"/>
              </a:ext>
            </a:extLst>
          </p:cNvPr>
          <p:cNvSpPr>
            <a:spLocks noGrp="1"/>
          </p:cNvSpPr>
          <p:nvPr>
            <p:ph type="pic" sz="quarter" idx="13"/>
          </p:nvPr>
        </p:nvSpPr>
        <p:spPr>
          <a:xfrm>
            <a:off x="4350450" y="3971398"/>
            <a:ext cx="3578225" cy="2012950"/>
          </a:xfrm>
        </p:spPr>
        <p:txBody>
          <a:bodyPr/>
          <a:lstStyle/>
          <a:p>
            <a:endParaRPr lang="en-US"/>
          </a:p>
        </p:txBody>
      </p:sp>
    </p:spTree>
    <p:extLst>
      <p:ext uri="{BB962C8B-B14F-4D97-AF65-F5344CB8AC3E}">
        <p14:creationId xmlns:p14="http://schemas.microsoft.com/office/powerpoint/2010/main" val="4076799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b" anchorCtr="0"/>
          <a:lstStyle/>
          <a:p>
            <a:r>
              <a:rPr lang="en-US" noProof="1"/>
              <a:t>Click to edit Master title style</a:t>
            </a:r>
            <a:endParaRPr lang="en-US"/>
          </a:p>
        </p:txBody>
      </p:sp>
      <p:sp>
        <p:nvSpPr>
          <p:cNvPr id="14" name="Rectangle 6"/>
          <p:cNvSpPr>
            <a:spLocks noGrp="1"/>
          </p:cNvSpPr>
          <p:nvPr>
            <p:ph idx="1"/>
          </p:nvPr>
        </p:nvSpPr>
        <p:spPr>
          <a:xfrm>
            <a:off x="609600" y="1795464"/>
            <a:ext cx="4141304" cy="4189412"/>
          </a:xfrm>
        </p:spPr>
        <p:txBody>
          <a:bodyPr anchor="ctr" anchorCtr="0"/>
          <a:lstStyle>
            <a:lvl1pPr>
              <a:buClr>
                <a:srgbClr val="C4122F"/>
              </a:buClr>
              <a:defRPr/>
            </a:lvl1pPr>
            <a:lvl2pPr>
              <a:buClr>
                <a:srgbClr val="C4122F"/>
              </a:buClr>
              <a:defRPr/>
            </a:lvl2pPr>
            <a:lvl3pPr>
              <a:buClr>
                <a:srgbClr val="C4122F"/>
              </a:buClr>
              <a:defRPr/>
            </a:lvl3pPr>
            <a:lvl4pPr>
              <a:buClr>
                <a:srgbClr val="C4122F"/>
              </a:buClr>
              <a:defRPr/>
            </a:lvl4pPr>
            <a:lvl5pPr>
              <a:buClr>
                <a:srgbClr val="C4122F"/>
              </a:buClr>
              <a:defRPr/>
            </a:lvl5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dirty="0"/>
          </a:p>
        </p:txBody>
      </p:sp>
      <p:sp>
        <p:nvSpPr>
          <p:cNvPr id="6" name="Picture Placeholder 4">
            <a:extLst>
              <a:ext uri="{FF2B5EF4-FFF2-40B4-BE49-F238E27FC236}">
                <a16:creationId xmlns:a16="http://schemas.microsoft.com/office/drawing/2014/main" id="{47B081FF-3E29-3D08-F3F2-FAADD0528EAA}"/>
              </a:ext>
            </a:extLst>
          </p:cNvPr>
          <p:cNvSpPr>
            <a:spLocks noGrp="1"/>
          </p:cNvSpPr>
          <p:nvPr>
            <p:ph type="pic" sz="quarter" idx="10"/>
          </p:nvPr>
        </p:nvSpPr>
        <p:spPr>
          <a:xfrm>
            <a:off x="5119688" y="1795463"/>
            <a:ext cx="6462712" cy="4189412"/>
          </a:xfrm>
        </p:spPr>
        <p:txBody>
          <a:bodyPr/>
          <a:lstStyle/>
          <a:p>
            <a:endParaRPr lang="en-US"/>
          </a:p>
        </p:txBody>
      </p:sp>
    </p:spTree>
    <p:extLst>
      <p:ext uri="{BB962C8B-B14F-4D97-AF65-F5344CB8AC3E}">
        <p14:creationId xmlns:p14="http://schemas.microsoft.com/office/powerpoint/2010/main" val="3940525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b" anchorCtr="0"/>
          <a:lstStyle/>
          <a:p>
            <a:r>
              <a:rPr lang="en-US" noProof="1"/>
              <a:t>Click to edit Master title style</a:t>
            </a:r>
            <a:endParaRPr lang="en-US"/>
          </a:p>
        </p:txBody>
      </p:sp>
      <p:sp>
        <p:nvSpPr>
          <p:cNvPr id="14" name="Rectangle 6"/>
          <p:cNvSpPr>
            <a:spLocks noGrp="1"/>
          </p:cNvSpPr>
          <p:nvPr>
            <p:ph idx="1"/>
          </p:nvPr>
        </p:nvSpPr>
        <p:spPr>
          <a:xfrm>
            <a:off x="609600" y="1795464"/>
            <a:ext cx="4141304" cy="4189412"/>
          </a:xfrm>
        </p:spPr>
        <p:txBody>
          <a:bodyPr anchor="ctr" anchorCtr="0"/>
          <a:lstStyle>
            <a:lvl1pPr>
              <a:buClr>
                <a:srgbClr val="C4122F"/>
              </a:buClr>
              <a:defRPr/>
            </a:lvl1pPr>
            <a:lvl2pPr>
              <a:buClr>
                <a:srgbClr val="C4122F"/>
              </a:buClr>
              <a:defRPr/>
            </a:lvl2pPr>
            <a:lvl3pPr>
              <a:buClr>
                <a:srgbClr val="C4122F"/>
              </a:buClr>
              <a:defRPr/>
            </a:lvl3pPr>
            <a:lvl4pPr>
              <a:buClr>
                <a:srgbClr val="C4122F"/>
              </a:buClr>
              <a:defRPr/>
            </a:lvl4pPr>
            <a:lvl5pPr>
              <a:buClr>
                <a:srgbClr val="C4122F"/>
              </a:buClr>
              <a:defRPr/>
            </a:lvl5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dirty="0"/>
          </a:p>
        </p:txBody>
      </p:sp>
      <p:sp>
        <p:nvSpPr>
          <p:cNvPr id="4" name="Chart Placeholder 2">
            <a:extLst>
              <a:ext uri="{FF2B5EF4-FFF2-40B4-BE49-F238E27FC236}">
                <a16:creationId xmlns:a16="http://schemas.microsoft.com/office/drawing/2014/main" id="{6A0E3AFB-EF36-B596-ECF7-DB02E81A9E3B}"/>
              </a:ext>
            </a:extLst>
          </p:cNvPr>
          <p:cNvSpPr>
            <a:spLocks noGrp="1"/>
          </p:cNvSpPr>
          <p:nvPr>
            <p:ph type="chart" sz="quarter" idx="11"/>
          </p:nvPr>
        </p:nvSpPr>
        <p:spPr>
          <a:xfrm>
            <a:off x="5119688" y="1795463"/>
            <a:ext cx="6462712" cy="4189412"/>
          </a:xfrm>
        </p:spPr>
        <p:txBody>
          <a:bodyPr/>
          <a:lstStyle/>
          <a:p>
            <a:endParaRPr lang="en-US"/>
          </a:p>
        </p:txBody>
      </p:sp>
    </p:spTree>
    <p:extLst>
      <p:ext uri="{BB962C8B-B14F-4D97-AF65-F5344CB8AC3E}">
        <p14:creationId xmlns:p14="http://schemas.microsoft.com/office/powerpoint/2010/main" val="192888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b" anchorCtr="0"/>
          <a:lstStyle/>
          <a:p>
            <a:r>
              <a:rPr lang="en-US" noProof="1"/>
              <a:t>Click to edit Master title style</a:t>
            </a:r>
            <a:endParaRPr lang="en-US"/>
          </a:p>
        </p:txBody>
      </p:sp>
      <p:sp>
        <p:nvSpPr>
          <p:cNvPr id="14" name="Rectangle 6"/>
          <p:cNvSpPr>
            <a:spLocks noGrp="1"/>
          </p:cNvSpPr>
          <p:nvPr>
            <p:ph idx="1"/>
          </p:nvPr>
        </p:nvSpPr>
        <p:spPr>
          <a:xfrm>
            <a:off x="7441096" y="1795464"/>
            <a:ext cx="4141304" cy="4189412"/>
          </a:xfrm>
        </p:spPr>
        <p:txBody>
          <a:bodyPr anchor="ctr" anchorCtr="0"/>
          <a:lstStyle>
            <a:lvl1pPr>
              <a:buClr>
                <a:srgbClr val="C4122F"/>
              </a:buClr>
              <a:defRPr/>
            </a:lvl1pPr>
            <a:lvl2pPr>
              <a:buClr>
                <a:srgbClr val="C4122F"/>
              </a:buClr>
              <a:defRPr/>
            </a:lvl2pPr>
            <a:lvl3pPr>
              <a:buClr>
                <a:srgbClr val="C4122F"/>
              </a:buClr>
              <a:defRPr/>
            </a:lvl3pPr>
            <a:lvl4pPr>
              <a:buClr>
                <a:srgbClr val="C4122F"/>
              </a:buClr>
              <a:defRPr/>
            </a:lvl4pPr>
            <a:lvl5pPr>
              <a:buClr>
                <a:srgbClr val="C4122F"/>
              </a:buClr>
              <a:defRPr/>
            </a:lvl5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dirty="0"/>
          </a:p>
        </p:txBody>
      </p:sp>
      <p:sp>
        <p:nvSpPr>
          <p:cNvPr id="6" name="Picture Placeholder 4">
            <a:extLst>
              <a:ext uri="{FF2B5EF4-FFF2-40B4-BE49-F238E27FC236}">
                <a16:creationId xmlns:a16="http://schemas.microsoft.com/office/drawing/2014/main" id="{47B081FF-3E29-3D08-F3F2-FAADD0528EAA}"/>
              </a:ext>
            </a:extLst>
          </p:cNvPr>
          <p:cNvSpPr>
            <a:spLocks noGrp="1"/>
          </p:cNvSpPr>
          <p:nvPr>
            <p:ph type="pic" sz="quarter" idx="10"/>
          </p:nvPr>
        </p:nvSpPr>
        <p:spPr>
          <a:xfrm>
            <a:off x="609600" y="1795463"/>
            <a:ext cx="6462712" cy="4189412"/>
          </a:xfrm>
        </p:spPr>
        <p:txBody>
          <a:bodyPr/>
          <a:lstStyle/>
          <a:p>
            <a:endParaRPr lang="en-US"/>
          </a:p>
        </p:txBody>
      </p:sp>
    </p:spTree>
    <p:extLst>
      <p:ext uri="{BB962C8B-B14F-4D97-AF65-F5344CB8AC3E}">
        <p14:creationId xmlns:p14="http://schemas.microsoft.com/office/powerpoint/2010/main" val="3725992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527048"/>
            <a:ext cx="5283200" cy="4495800"/>
          </a:xfrm>
        </p:spPr>
        <p:txBody>
          <a:bodyPr>
            <a:normAutofit/>
          </a:bodyPr>
          <a:lstStyle>
            <a:lvl1pPr>
              <a:buClr>
                <a:srgbClr val="C4122F"/>
              </a:buClr>
              <a:defRPr sz="2400"/>
            </a:lvl1pPr>
            <a:lvl2pPr>
              <a:buClr>
                <a:srgbClr val="C4122F"/>
              </a:buClr>
              <a:defRPr sz="2000"/>
            </a:lvl2pPr>
            <a:lvl3pPr>
              <a:buClr>
                <a:srgbClr val="C4122F"/>
              </a:buClr>
              <a:defRPr sz="1800"/>
            </a:lvl3pPr>
            <a:lvl4pPr>
              <a:buClr>
                <a:srgbClr val="C4122F"/>
              </a:buClr>
              <a:defRPr sz="1600"/>
            </a:lvl4pPr>
            <a:lvl5pPr>
              <a:buClr>
                <a:srgbClr val="C4122F"/>
              </a:buCl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99202" y="1527048"/>
            <a:ext cx="5283200" cy="4495800"/>
          </a:xfrm>
        </p:spPr>
        <p:txBody>
          <a:bodyPr>
            <a:normAutofit/>
          </a:bodyPr>
          <a:lstStyle>
            <a:lvl1pPr>
              <a:buClr>
                <a:srgbClr val="C4122F"/>
              </a:buClr>
              <a:defRPr sz="2400"/>
            </a:lvl1pPr>
            <a:lvl2pPr>
              <a:buClr>
                <a:srgbClr val="C4122F"/>
              </a:buClr>
              <a:defRPr sz="2000"/>
            </a:lvl2pPr>
            <a:lvl3pPr>
              <a:buClr>
                <a:srgbClr val="C4122F"/>
              </a:buClr>
              <a:defRPr sz="1800"/>
            </a:lvl3pPr>
            <a:lvl4pPr>
              <a:buClr>
                <a:srgbClr val="C4122F"/>
              </a:buClr>
              <a:defRPr sz="1600"/>
            </a:lvl4pPr>
            <a:lvl5pPr>
              <a:buClr>
                <a:srgbClr val="C4122F"/>
              </a:buCl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lnSpc>
                <a:spcPts val="3800"/>
              </a:lnSpc>
              <a:defRPr/>
            </a:lvl1pPr>
          </a:lstStyle>
          <a:p>
            <a:r>
              <a:rPr lang="en-US" dirty="0"/>
              <a:t>Click to edit Master title style</a:t>
            </a:r>
            <a:br>
              <a:rPr lang="en-US" dirty="0"/>
            </a:br>
            <a:r>
              <a:rPr lang="en-US" dirty="0" err="1"/>
              <a:t>ghghghg</a:t>
            </a:r>
            <a:endParaRPr lang="en-US" dirty="0"/>
          </a:p>
        </p:txBody>
      </p:sp>
      <p:sp>
        <p:nvSpPr>
          <p:cNvPr id="36" name="Picture Placeholder 29">
            <a:extLst>
              <a:ext uri="{FF2B5EF4-FFF2-40B4-BE49-F238E27FC236}">
                <a16:creationId xmlns:a16="http://schemas.microsoft.com/office/drawing/2014/main" id="{5244BC53-C119-4F58-759C-4315A0FAAA39}"/>
              </a:ext>
            </a:extLst>
          </p:cNvPr>
          <p:cNvSpPr>
            <a:spLocks noGrp="1"/>
          </p:cNvSpPr>
          <p:nvPr>
            <p:ph type="pic" sz="quarter" idx="10"/>
          </p:nvPr>
        </p:nvSpPr>
        <p:spPr>
          <a:xfrm>
            <a:off x="609600" y="1798655"/>
            <a:ext cx="3560461" cy="2009669"/>
          </a:xfrm>
        </p:spPr>
        <p:txBody>
          <a:bodyPr/>
          <a:lstStyle/>
          <a:p>
            <a:endParaRPr lang="en-US"/>
          </a:p>
        </p:txBody>
      </p:sp>
      <p:sp>
        <p:nvSpPr>
          <p:cNvPr id="37" name="Picture Placeholder 29">
            <a:extLst>
              <a:ext uri="{FF2B5EF4-FFF2-40B4-BE49-F238E27FC236}">
                <a16:creationId xmlns:a16="http://schemas.microsoft.com/office/drawing/2014/main" id="{A49D9818-2411-344C-A56B-875F98535DE9}"/>
              </a:ext>
            </a:extLst>
          </p:cNvPr>
          <p:cNvSpPr>
            <a:spLocks noGrp="1"/>
          </p:cNvSpPr>
          <p:nvPr>
            <p:ph type="pic" sz="quarter" idx="11"/>
          </p:nvPr>
        </p:nvSpPr>
        <p:spPr>
          <a:xfrm>
            <a:off x="609599" y="3971259"/>
            <a:ext cx="3560461" cy="2009669"/>
          </a:xfrm>
        </p:spPr>
        <p:txBody>
          <a:bodyPr/>
          <a:lstStyle/>
          <a:p>
            <a:endParaRPr lang="en-US"/>
          </a:p>
        </p:txBody>
      </p:sp>
      <p:sp>
        <p:nvSpPr>
          <p:cNvPr id="38" name="Picture Placeholder 29">
            <a:extLst>
              <a:ext uri="{FF2B5EF4-FFF2-40B4-BE49-F238E27FC236}">
                <a16:creationId xmlns:a16="http://schemas.microsoft.com/office/drawing/2014/main" id="{29DEAC6C-0B95-082C-AE64-4DB58BBA1ACE}"/>
              </a:ext>
            </a:extLst>
          </p:cNvPr>
          <p:cNvSpPr>
            <a:spLocks noGrp="1"/>
          </p:cNvSpPr>
          <p:nvPr>
            <p:ph type="pic" sz="quarter" idx="12"/>
          </p:nvPr>
        </p:nvSpPr>
        <p:spPr>
          <a:xfrm>
            <a:off x="4315769" y="1798655"/>
            <a:ext cx="3560461" cy="2009669"/>
          </a:xfrm>
        </p:spPr>
        <p:txBody>
          <a:bodyPr/>
          <a:lstStyle/>
          <a:p>
            <a:endParaRPr lang="en-US"/>
          </a:p>
        </p:txBody>
      </p:sp>
      <p:sp>
        <p:nvSpPr>
          <p:cNvPr id="39" name="Picture Placeholder 29">
            <a:extLst>
              <a:ext uri="{FF2B5EF4-FFF2-40B4-BE49-F238E27FC236}">
                <a16:creationId xmlns:a16="http://schemas.microsoft.com/office/drawing/2014/main" id="{563B06A4-C363-484C-CF9B-67A85842D4C8}"/>
              </a:ext>
            </a:extLst>
          </p:cNvPr>
          <p:cNvSpPr>
            <a:spLocks noGrp="1"/>
          </p:cNvSpPr>
          <p:nvPr>
            <p:ph type="pic" sz="quarter" idx="13"/>
          </p:nvPr>
        </p:nvSpPr>
        <p:spPr>
          <a:xfrm>
            <a:off x="4315768" y="3971259"/>
            <a:ext cx="3560461" cy="2009669"/>
          </a:xfrm>
        </p:spPr>
        <p:txBody>
          <a:bodyPr/>
          <a:lstStyle/>
          <a:p>
            <a:endParaRPr lang="en-US"/>
          </a:p>
        </p:txBody>
      </p:sp>
      <p:sp>
        <p:nvSpPr>
          <p:cNvPr id="40" name="Picture Placeholder 29">
            <a:extLst>
              <a:ext uri="{FF2B5EF4-FFF2-40B4-BE49-F238E27FC236}">
                <a16:creationId xmlns:a16="http://schemas.microsoft.com/office/drawing/2014/main" id="{6A31F244-4234-8398-1A92-815E5A2CE893}"/>
              </a:ext>
            </a:extLst>
          </p:cNvPr>
          <p:cNvSpPr>
            <a:spLocks noGrp="1"/>
          </p:cNvSpPr>
          <p:nvPr>
            <p:ph type="pic" sz="quarter" idx="14"/>
          </p:nvPr>
        </p:nvSpPr>
        <p:spPr>
          <a:xfrm>
            <a:off x="8021940" y="1798655"/>
            <a:ext cx="3560461" cy="2009669"/>
          </a:xfrm>
        </p:spPr>
        <p:txBody>
          <a:bodyPr/>
          <a:lstStyle/>
          <a:p>
            <a:endParaRPr lang="en-US"/>
          </a:p>
        </p:txBody>
      </p:sp>
      <p:sp>
        <p:nvSpPr>
          <p:cNvPr id="41" name="Picture Placeholder 29">
            <a:extLst>
              <a:ext uri="{FF2B5EF4-FFF2-40B4-BE49-F238E27FC236}">
                <a16:creationId xmlns:a16="http://schemas.microsoft.com/office/drawing/2014/main" id="{A98A7173-01A5-7FE9-3F9D-EB7D34B47BE4}"/>
              </a:ext>
            </a:extLst>
          </p:cNvPr>
          <p:cNvSpPr>
            <a:spLocks noGrp="1"/>
          </p:cNvSpPr>
          <p:nvPr>
            <p:ph type="pic" sz="quarter" idx="15"/>
          </p:nvPr>
        </p:nvSpPr>
        <p:spPr>
          <a:xfrm>
            <a:off x="8021939" y="3971259"/>
            <a:ext cx="3560461" cy="2009669"/>
          </a:xfrm>
        </p:spPr>
        <p:txBody>
          <a:bodyPr/>
          <a:lstStyle/>
          <a:p>
            <a:endParaRPr lang="en-US"/>
          </a:p>
        </p:txBody>
      </p:sp>
    </p:spTree>
    <p:extLst>
      <p:ext uri="{BB962C8B-B14F-4D97-AF65-F5344CB8AC3E}">
        <p14:creationId xmlns:p14="http://schemas.microsoft.com/office/powerpoint/2010/main" val="519418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3">
            <a:extLst>
              <a:ext uri="{FF2B5EF4-FFF2-40B4-BE49-F238E27FC236}">
                <a16:creationId xmlns:a16="http://schemas.microsoft.com/office/drawing/2014/main" id="{F515B657-5011-7715-8F0C-0D7032BCB695}"/>
              </a:ext>
            </a:extLst>
          </p:cNvPr>
          <p:cNvSpPr>
            <a:spLocks noGrp="1"/>
          </p:cNvSpPr>
          <p:nvPr>
            <p:ph type="tbl" sz="quarter" idx="16"/>
          </p:nvPr>
        </p:nvSpPr>
        <p:spPr>
          <a:xfrm>
            <a:off x="609599" y="1798638"/>
            <a:ext cx="10972801" cy="4183062"/>
          </a:xfrm>
        </p:spPr>
        <p:txBody>
          <a:bodyPr/>
          <a:lstStyle/>
          <a:p>
            <a:endParaRPr lang="en-US"/>
          </a:p>
        </p:txBody>
      </p:sp>
    </p:spTree>
    <p:extLst>
      <p:ext uri="{BB962C8B-B14F-4D97-AF65-F5344CB8AC3E}">
        <p14:creationId xmlns:p14="http://schemas.microsoft.com/office/powerpoint/2010/main" val="104269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6" name="Picture Placeholder 29">
            <a:extLst>
              <a:ext uri="{FF2B5EF4-FFF2-40B4-BE49-F238E27FC236}">
                <a16:creationId xmlns:a16="http://schemas.microsoft.com/office/drawing/2014/main" id="{5244BC53-C119-4F58-759C-4315A0FAAA39}"/>
              </a:ext>
            </a:extLst>
          </p:cNvPr>
          <p:cNvSpPr>
            <a:spLocks noGrp="1"/>
          </p:cNvSpPr>
          <p:nvPr>
            <p:ph type="pic" sz="quarter" idx="10"/>
          </p:nvPr>
        </p:nvSpPr>
        <p:spPr>
          <a:xfrm>
            <a:off x="609600" y="1798654"/>
            <a:ext cx="3560461" cy="3558535"/>
          </a:xfrm>
        </p:spPr>
        <p:txBody>
          <a:bodyPr/>
          <a:lstStyle/>
          <a:p>
            <a:endParaRPr lang="en-US" dirty="0"/>
          </a:p>
        </p:txBody>
      </p:sp>
      <p:sp>
        <p:nvSpPr>
          <p:cNvPr id="38" name="Picture Placeholder 29">
            <a:extLst>
              <a:ext uri="{FF2B5EF4-FFF2-40B4-BE49-F238E27FC236}">
                <a16:creationId xmlns:a16="http://schemas.microsoft.com/office/drawing/2014/main" id="{29DEAC6C-0B95-082C-AE64-4DB58BBA1ACE}"/>
              </a:ext>
            </a:extLst>
          </p:cNvPr>
          <p:cNvSpPr>
            <a:spLocks noGrp="1"/>
          </p:cNvSpPr>
          <p:nvPr>
            <p:ph type="pic" sz="quarter" idx="12"/>
          </p:nvPr>
        </p:nvSpPr>
        <p:spPr>
          <a:xfrm>
            <a:off x="4315769" y="1798655"/>
            <a:ext cx="3560461" cy="3558536"/>
          </a:xfrm>
        </p:spPr>
        <p:txBody>
          <a:bodyPr/>
          <a:lstStyle/>
          <a:p>
            <a:endParaRPr lang="en-US"/>
          </a:p>
        </p:txBody>
      </p:sp>
      <p:sp>
        <p:nvSpPr>
          <p:cNvPr id="40" name="Picture Placeholder 29">
            <a:extLst>
              <a:ext uri="{FF2B5EF4-FFF2-40B4-BE49-F238E27FC236}">
                <a16:creationId xmlns:a16="http://schemas.microsoft.com/office/drawing/2014/main" id="{6A31F244-4234-8398-1A92-815E5A2CE893}"/>
              </a:ext>
            </a:extLst>
          </p:cNvPr>
          <p:cNvSpPr>
            <a:spLocks noGrp="1"/>
          </p:cNvSpPr>
          <p:nvPr>
            <p:ph type="pic" sz="quarter" idx="14"/>
          </p:nvPr>
        </p:nvSpPr>
        <p:spPr>
          <a:xfrm>
            <a:off x="8021940" y="1798655"/>
            <a:ext cx="3560461" cy="3558536"/>
          </a:xfrm>
        </p:spPr>
        <p:txBody>
          <a:bodyPr/>
          <a:lstStyle/>
          <a:p>
            <a:endParaRPr lang="en-US"/>
          </a:p>
        </p:txBody>
      </p:sp>
      <p:sp>
        <p:nvSpPr>
          <p:cNvPr id="4" name="Text Placeholder 3">
            <a:extLst>
              <a:ext uri="{FF2B5EF4-FFF2-40B4-BE49-F238E27FC236}">
                <a16:creationId xmlns:a16="http://schemas.microsoft.com/office/drawing/2014/main" id="{EFD57F27-E780-1D1A-2235-3359A9AD23EE}"/>
              </a:ext>
            </a:extLst>
          </p:cNvPr>
          <p:cNvSpPr>
            <a:spLocks noGrp="1"/>
          </p:cNvSpPr>
          <p:nvPr>
            <p:ph type="body" sz="quarter" idx="16"/>
          </p:nvPr>
        </p:nvSpPr>
        <p:spPr>
          <a:xfrm>
            <a:off x="609597" y="5396947"/>
            <a:ext cx="3560461" cy="693312"/>
          </a:xfrm>
        </p:spPr>
        <p:txBody>
          <a:bodyPr>
            <a:noAutofit/>
          </a:bodyPr>
          <a:lstStyle>
            <a:lvl1pPr marL="0" indent="0" algn="ctr">
              <a:buNone/>
              <a:defRPr sz="1600"/>
            </a:lvl1pPr>
            <a:lvl2pPr marL="320040" indent="0" algn="ctr">
              <a:buNone/>
              <a:defRPr sz="1400"/>
            </a:lvl2pPr>
            <a:lvl3pPr marL="640080" indent="0" algn="ctr">
              <a:buNone/>
              <a:defRPr sz="1400"/>
            </a:lvl3pPr>
            <a:lvl4pPr marL="914400" indent="0" algn="ctr">
              <a:buNone/>
              <a:defRPr sz="1400"/>
            </a:lvl4pPr>
            <a:lvl5pPr marL="1143000" indent="0" algn="ctr">
              <a:buNone/>
              <a:defRPr sz="1400"/>
            </a:lvl5pPr>
          </a:lstStyle>
          <a:p>
            <a:pPr lvl="0"/>
            <a:r>
              <a:rPr lang="en-US" dirty="0"/>
              <a:t>Click to edit Master text</a:t>
            </a:r>
          </a:p>
        </p:txBody>
      </p:sp>
      <p:sp>
        <p:nvSpPr>
          <p:cNvPr id="6" name="TextBox 5">
            <a:extLst>
              <a:ext uri="{FF2B5EF4-FFF2-40B4-BE49-F238E27FC236}">
                <a16:creationId xmlns:a16="http://schemas.microsoft.com/office/drawing/2014/main" id="{48C3F6AF-61A0-8B1C-2E91-A2C94FBCE73C}"/>
              </a:ext>
            </a:extLst>
          </p:cNvPr>
          <p:cNvSpPr txBox="1"/>
          <p:nvPr userDrawn="1"/>
        </p:nvSpPr>
        <p:spPr>
          <a:xfrm>
            <a:off x="5327374" y="5396947"/>
            <a:ext cx="0" cy="0"/>
          </a:xfrm>
          <a:prstGeom prst="rect">
            <a:avLst/>
          </a:prstGeom>
          <a:noFill/>
        </p:spPr>
        <p:txBody>
          <a:bodyPr wrap="none" rtlCol="0">
            <a:noAutofit/>
          </a:bodyPr>
          <a:lstStyle/>
          <a:p>
            <a:pPr algn="ctr"/>
            <a:endParaRPr lang="en-US" sz="1600" dirty="0" err="1"/>
          </a:p>
        </p:txBody>
      </p:sp>
      <p:sp>
        <p:nvSpPr>
          <p:cNvPr id="7" name="Text Placeholder 3">
            <a:extLst>
              <a:ext uri="{FF2B5EF4-FFF2-40B4-BE49-F238E27FC236}">
                <a16:creationId xmlns:a16="http://schemas.microsoft.com/office/drawing/2014/main" id="{A23D2F03-3057-A9E9-4126-7CC220620444}"/>
              </a:ext>
            </a:extLst>
          </p:cNvPr>
          <p:cNvSpPr>
            <a:spLocks noGrp="1"/>
          </p:cNvSpPr>
          <p:nvPr>
            <p:ph type="body" sz="quarter" idx="17"/>
          </p:nvPr>
        </p:nvSpPr>
        <p:spPr>
          <a:xfrm>
            <a:off x="4315769" y="5396947"/>
            <a:ext cx="3560461" cy="693312"/>
          </a:xfrm>
        </p:spPr>
        <p:txBody>
          <a:bodyPr>
            <a:noAutofit/>
          </a:bodyPr>
          <a:lstStyle>
            <a:lvl1pPr marL="0" indent="0" algn="ctr">
              <a:buNone/>
              <a:defRPr sz="1600"/>
            </a:lvl1pPr>
            <a:lvl2pPr marL="320040" indent="0" algn="ctr">
              <a:buNone/>
              <a:defRPr sz="1400"/>
            </a:lvl2pPr>
            <a:lvl3pPr marL="640080" indent="0" algn="ctr">
              <a:buNone/>
              <a:defRPr sz="1400"/>
            </a:lvl3pPr>
            <a:lvl4pPr marL="914400" indent="0" algn="ctr">
              <a:buNone/>
              <a:defRPr sz="1400"/>
            </a:lvl4pPr>
            <a:lvl5pPr marL="1143000" indent="0" algn="ctr">
              <a:buNone/>
              <a:defRPr sz="1400"/>
            </a:lvl5pPr>
          </a:lstStyle>
          <a:p>
            <a:pPr lvl="0"/>
            <a:r>
              <a:rPr lang="en-US" dirty="0"/>
              <a:t>Click to edit Master text</a:t>
            </a:r>
          </a:p>
        </p:txBody>
      </p:sp>
      <p:sp>
        <p:nvSpPr>
          <p:cNvPr id="8" name="Text Placeholder 3">
            <a:extLst>
              <a:ext uri="{FF2B5EF4-FFF2-40B4-BE49-F238E27FC236}">
                <a16:creationId xmlns:a16="http://schemas.microsoft.com/office/drawing/2014/main" id="{6A58090A-63C8-ADC3-23D8-A48EFF69A45F}"/>
              </a:ext>
            </a:extLst>
          </p:cNvPr>
          <p:cNvSpPr>
            <a:spLocks noGrp="1"/>
          </p:cNvSpPr>
          <p:nvPr>
            <p:ph type="body" sz="quarter" idx="18"/>
          </p:nvPr>
        </p:nvSpPr>
        <p:spPr>
          <a:xfrm>
            <a:off x="8021939" y="5396947"/>
            <a:ext cx="3560461" cy="693312"/>
          </a:xfrm>
        </p:spPr>
        <p:txBody>
          <a:bodyPr>
            <a:noAutofit/>
          </a:bodyPr>
          <a:lstStyle>
            <a:lvl1pPr marL="0" indent="0" algn="ctr">
              <a:buNone/>
              <a:defRPr sz="1600"/>
            </a:lvl1pPr>
            <a:lvl2pPr marL="320040" indent="0" algn="ctr">
              <a:buNone/>
              <a:defRPr sz="1400"/>
            </a:lvl2pPr>
            <a:lvl3pPr marL="640080" indent="0" algn="ctr">
              <a:buNone/>
              <a:defRPr sz="1400"/>
            </a:lvl3pPr>
            <a:lvl4pPr marL="914400" indent="0" algn="ctr">
              <a:buNone/>
              <a:defRPr sz="1400"/>
            </a:lvl4pPr>
            <a:lvl5pPr marL="1143000" indent="0" algn="ctr">
              <a:buNone/>
              <a:defRPr sz="1400"/>
            </a:lvl5pPr>
          </a:lstStyle>
          <a:p>
            <a:pPr lvl="0"/>
            <a:r>
              <a:rPr lang="en-US" dirty="0"/>
              <a:t>Click to edit Master text</a:t>
            </a:r>
          </a:p>
        </p:txBody>
      </p:sp>
    </p:spTree>
    <p:extLst>
      <p:ext uri="{BB962C8B-B14F-4D97-AF65-F5344CB8AC3E}">
        <p14:creationId xmlns:p14="http://schemas.microsoft.com/office/powerpoint/2010/main" val="15308541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EFD57F27-E780-1D1A-2235-3359A9AD23EE}"/>
              </a:ext>
            </a:extLst>
          </p:cNvPr>
          <p:cNvSpPr>
            <a:spLocks noGrp="1"/>
          </p:cNvSpPr>
          <p:nvPr>
            <p:ph type="body" sz="quarter" idx="16"/>
          </p:nvPr>
        </p:nvSpPr>
        <p:spPr>
          <a:xfrm>
            <a:off x="609597" y="5396947"/>
            <a:ext cx="3560461" cy="693312"/>
          </a:xfrm>
        </p:spPr>
        <p:txBody>
          <a:bodyPr>
            <a:noAutofit/>
          </a:bodyPr>
          <a:lstStyle>
            <a:lvl1pPr marL="0" indent="0" algn="ctr">
              <a:buNone/>
              <a:defRPr sz="1600"/>
            </a:lvl1pPr>
            <a:lvl2pPr marL="320040" indent="0" algn="ctr">
              <a:buNone/>
              <a:defRPr sz="1400"/>
            </a:lvl2pPr>
            <a:lvl3pPr marL="640080" indent="0" algn="ctr">
              <a:buNone/>
              <a:defRPr sz="1400"/>
            </a:lvl3pPr>
            <a:lvl4pPr marL="914400" indent="0" algn="ctr">
              <a:buNone/>
              <a:defRPr sz="1400"/>
            </a:lvl4pPr>
            <a:lvl5pPr marL="1143000" indent="0" algn="ctr">
              <a:buNone/>
              <a:defRPr sz="1400"/>
            </a:lvl5pPr>
          </a:lstStyle>
          <a:p>
            <a:pPr lvl="0"/>
            <a:r>
              <a:rPr lang="en-US" dirty="0"/>
              <a:t>Click to edit Master text</a:t>
            </a:r>
          </a:p>
        </p:txBody>
      </p:sp>
      <p:sp>
        <p:nvSpPr>
          <p:cNvPr id="7" name="Text Placeholder 3">
            <a:extLst>
              <a:ext uri="{FF2B5EF4-FFF2-40B4-BE49-F238E27FC236}">
                <a16:creationId xmlns:a16="http://schemas.microsoft.com/office/drawing/2014/main" id="{A23D2F03-3057-A9E9-4126-7CC220620444}"/>
              </a:ext>
            </a:extLst>
          </p:cNvPr>
          <p:cNvSpPr>
            <a:spLocks noGrp="1"/>
          </p:cNvSpPr>
          <p:nvPr>
            <p:ph type="body" sz="quarter" idx="17"/>
          </p:nvPr>
        </p:nvSpPr>
        <p:spPr>
          <a:xfrm>
            <a:off x="4315769" y="5396947"/>
            <a:ext cx="3560461" cy="693312"/>
          </a:xfrm>
        </p:spPr>
        <p:txBody>
          <a:bodyPr>
            <a:noAutofit/>
          </a:bodyPr>
          <a:lstStyle>
            <a:lvl1pPr marL="0" indent="0" algn="ctr">
              <a:buNone/>
              <a:defRPr sz="1600"/>
            </a:lvl1pPr>
            <a:lvl2pPr marL="320040" indent="0" algn="ctr">
              <a:buNone/>
              <a:defRPr sz="1400"/>
            </a:lvl2pPr>
            <a:lvl3pPr marL="640080" indent="0" algn="ctr">
              <a:buNone/>
              <a:defRPr sz="1400"/>
            </a:lvl3pPr>
            <a:lvl4pPr marL="914400" indent="0" algn="ctr">
              <a:buNone/>
              <a:defRPr sz="1400"/>
            </a:lvl4pPr>
            <a:lvl5pPr marL="1143000" indent="0" algn="ctr">
              <a:buNone/>
              <a:defRPr sz="1400"/>
            </a:lvl5pPr>
          </a:lstStyle>
          <a:p>
            <a:pPr lvl="0"/>
            <a:r>
              <a:rPr lang="en-US" dirty="0"/>
              <a:t>Click to edit Master text</a:t>
            </a:r>
          </a:p>
        </p:txBody>
      </p:sp>
      <p:sp>
        <p:nvSpPr>
          <p:cNvPr id="8" name="Text Placeholder 3">
            <a:extLst>
              <a:ext uri="{FF2B5EF4-FFF2-40B4-BE49-F238E27FC236}">
                <a16:creationId xmlns:a16="http://schemas.microsoft.com/office/drawing/2014/main" id="{6A58090A-63C8-ADC3-23D8-A48EFF69A45F}"/>
              </a:ext>
            </a:extLst>
          </p:cNvPr>
          <p:cNvSpPr>
            <a:spLocks noGrp="1"/>
          </p:cNvSpPr>
          <p:nvPr>
            <p:ph type="body" sz="quarter" idx="18"/>
          </p:nvPr>
        </p:nvSpPr>
        <p:spPr>
          <a:xfrm>
            <a:off x="8021939" y="5396947"/>
            <a:ext cx="3560461" cy="693312"/>
          </a:xfrm>
        </p:spPr>
        <p:txBody>
          <a:bodyPr>
            <a:noAutofit/>
          </a:bodyPr>
          <a:lstStyle>
            <a:lvl1pPr marL="0" indent="0" algn="ctr">
              <a:buNone/>
              <a:defRPr sz="1600"/>
            </a:lvl1pPr>
            <a:lvl2pPr marL="320040" indent="0" algn="ctr">
              <a:buNone/>
              <a:defRPr sz="1400"/>
            </a:lvl2pPr>
            <a:lvl3pPr marL="640080" indent="0" algn="ctr">
              <a:buNone/>
              <a:defRPr sz="1400"/>
            </a:lvl3pPr>
            <a:lvl4pPr marL="914400" indent="0" algn="ctr">
              <a:buNone/>
              <a:defRPr sz="1400"/>
            </a:lvl4pPr>
            <a:lvl5pPr marL="1143000" indent="0" algn="ctr">
              <a:buNone/>
              <a:defRPr sz="1400"/>
            </a:lvl5pPr>
          </a:lstStyle>
          <a:p>
            <a:pPr lvl="0"/>
            <a:r>
              <a:rPr lang="en-US" dirty="0"/>
              <a:t>Click to edit Master text</a:t>
            </a:r>
          </a:p>
        </p:txBody>
      </p:sp>
      <p:sp>
        <p:nvSpPr>
          <p:cNvPr id="11" name="Chart Placeholder 4">
            <a:extLst>
              <a:ext uri="{FF2B5EF4-FFF2-40B4-BE49-F238E27FC236}">
                <a16:creationId xmlns:a16="http://schemas.microsoft.com/office/drawing/2014/main" id="{3EF471E3-3169-E47C-1DF5-8E18891BD311}"/>
              </a:ext>
            </a:extLst>
          </p:cNvPr>
          <p:cNvSpPr>
            <a:spLocks noGrp="1"/>
          </p:cNvSpPr>
          <p:nvPr>
            <p:ph type="chart" sz="quarter" idx="19"/>
          </p:nvPr>
        </p:nvSpPr>
        <p:spPr>
          <a:xfrm>
            <a:off x="609600" y="1798638"/>
            <a:ext cx="3560763" cy="3559175"/>
          </a:xfrm>
        </p:spPr>
        <p:txBody>
          <a:bodyPr/>
          <a:lstStyle/>
          <a:p>
            <a:endParaRPr lang="en-US"/>
          </a:p>
        </p:txBody>
      </p:sp>
      <p:sp>
        <p:nvSpPr>
          <p:cNvPr id="12" name="Chart Placeholder 4">
            <a:extLst>
              <a:ext uri="{FF2B5EF4-FFF2-40B4-BE49-F238E27FC236}">
                <a16:creationId xmlns:a16="http://schemas.microsoft.com/office/drawing/2014/main" id="{AFF3D7C2-5A28-5CCC-774B-408975F809D4}"/>
              </a:ext>
            </a:extLst>
          </p:cNvPr>
          <p:cNvSpPr>
            <a:spLocks noGrp="1"/>
          </p:cNvSpPr>
          <p:nvPr>
            <p:ph type="chart" sz="quarter" idx="20"/>
          </p:nvPr>
        </p:nvSpPr>
        <p:spPr>
          <a:xfrm>
            <a:off x="4315617" y="1798014"/>
            <a:ext cx="3560763" cy="3559175"/>
          </a:xfrm>
        </p:spPr>
        <p:txBody>
          <a:bodyPr/>
          <a:lstStyle/>
          <a:p>
            <a:endParaRPr lang="en-US"/>
          </a:p>
        </p:txBody>
      </p:sp>
      <p:sp>
        <p:nvSpPr>
          <p:cNvPr id="13" name="Chart Placeholder 4">
            <a:extLst>
              <a:ext uri="{FF2B5EF4-FFF2-40B4-BE49-F238E27FC236}">
                <a16:creationId xmlns:a16="http://schemas.microsoft.com/office/drawing/2014/main" id="{F4526561-6D13-A8BC-DFED-3E9422B381E9}"/>
              </a:ext>
            </a:extLst>
          </p:cNvPr>
          <p:cNvSpPr>
            <a:spLocks noGrp="1"/>
          </p:cNvSpPr>
          <p:nvPr>
            <p:ph type="chart" sz="quarter" idx="21"/>
          </p:nvPr>
        </p:nvSpPr>
        <p:spPr>
          <a:xfrm>
            <a:off x="8021634" y="1798014"/>
            <a:ext cx="3560763" cy="3559175"/>
          </a:xfrm>
        </p:spPr>
        <p:txBody>
          <a:bodyPr/>
          <a:lstStyle/>
          <a:p>
            <a:endParaRPr lang="en-US"/>
          </a:p>
        </p:txBody>
      </p:sp>
    </p:spTree>
    <p:extLst>
      <p:ext uri="{BB962C8B-B14F-4D97-AF65-F5344CB8AC3E}">
        <p14:creationId xmlns:p14="http://schemas.microsoft.com/office/powerpoint/2010/main" val="40219522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9523D3-F72C-A737-D43A-E356A52D838C}"/>
              </a:ext>
            </a:extLst>
          </p:cNvPr>
          <p:cNvSpPr/>
          <p:nvPr userDrawn="1"/>
        </p:nvSpPr>
        <p:spPr bwMode="auto">
          <a:xfrm>
            <a:off x="0" y="0"/>
            <a:ext cx="12192000" cy="6858000"/>
          </a:xfrm>
          <a:prstGeom prst="rect">
            <a:avLst/>
          </a:prstGeom>
          <a:solidFill>
            <a:schemeClr val="bg1"/>
          </a:solidFill>
          <a:ln w="12700" cap="sq" algn="ctr">
            <a:noFill/>
            <a:miter lim="800000"/>
            <a:headEnd/>
            <a:tailEnd/>
          </a:ln>
          <a:effectLst/>
        </p:spPr>
        <p:txBody>
          <a:bodyPr wrap="none" rtlCol="0" anchor="ctr"/>
          <a:lstStyle/>
          <a:p>
            <a:pPr algn="ctr"/>
            <a:endParaRPr lang="en-US" sz="1600" dirty="0">
              <a:solidFill>
                <a:schemeClr val="bg1"/>
              </a:solidFill>
              <a:latin typeface="+mn-lt"/>
            </a:endParaRPr>
          </a:p>
        </p:txBody>
      </p:sp>
      <p:pic>
        <p:nvPicPr>
          <p:cNvPr id="6" name="Picture 5" descr="A grey logo with text&#10;&#10;Description automatically generated">
            <a:extLst>
              <a:ext uri="{FF2B5EF4-FFF2-40B4-BE49-F238E27FC236}">
                <a16:creationId xmlns:a16="http://schemas.microsoft.com/office/drawing/2014/main" id="{B1D05FE9-9C13-6D48-7303-93DC7F7D7A37}"/>
              </a:ext>
            </a:extLst>
          </p:cNvPr>
          <p:cNvPicPr>
            <a:picLocks noChangeAspect="1"/>
          </p:cNvPicPr>
          <p:nvPr userDrawn="1"/>
        </p:nvPicPr>
        <p:blipFill rotWithShape="1">
          <a:blip r:embed="rId2">
            <a:alphaModFix amt="20000"/>
            <a:extLst>
              <a:ext uri="{28A0092B-C50C-407E-A947-70E740481C1C}">
                <a14:useLocalDpi xmlns:a14="http://schemas.microsoft.com/office/drawing/2010/main" val="0"/>
              </a:ext>
            </a:extLst>
          </a:blip>
          <a:stretch/>
        </p:blipFill>
        <p:spPr>
          <a:xfrm>
            <a:off x="3810000" y="1143000"/>
            <a:ext cx="4572000" cy="457200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9523D3-F72C-A737-D43A-E356A52D838C}"/>
              </a:ext>
            </a:extLst>
          </p:cNvPr>
          <p:cNvSpPr/>
          <p:nvPr userDrawn="1"/>
        </p:nvSpPr>
        <p:spPr bwMode="auto">
          <a:xfrm>
            <a:off x="0" y="0"/>
            <a:ext cx="12192000" cy="6858000"/>
          </a:xfrm>
          <a:prstGeom prst="rect">
            <a:avLst/>
          </a:prstGeom>
          <a:solidFill>
            <a:schemeClr val="bg1"/>
          </a:solidFill>
          <a:ln w="12700" cap="sq" algn="ctr">
            <a:noFill/>
            <a:miter lim="800000"/>
            <a:headEnd/>
            <a:tailEnd/>
          </a:ln>
          <a:effectLst/>
        </p:spPr>
        <p:txBody>
          <a:bodyPr wrap="none" rtlCol="0" anchor="ctr"/>
          <a:lstStyle/>
          <a:p>
            <a:pPr algn="ctr"/>
            <a:endParaRPr lang="en-US" sz="1600">
              <a:solidFill>
                <a:schemeClr val="bg1"/>
              </a:solidFill>
              <a:latin typeface="+mn-lt"/>
            </a:endParaRPr>
          </a:p>
        </p:txBody>
      </p:sp>
    </p:spTree>
    <p:extLst>
      <p:ext uri="{BB962C8B-B14F-4D97-AF65-F5344CB8AC3E}">
        <p14:creationId xmlns:p14="http://schemas.microsoft.com/office/powerpoint/2010/main" val="318074743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 Id="rId18"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363090"/>
            <a:ext cx="10972800" cy="800100"/>
          </a:xfrm>
          <a:prstGeom prst="rect">
            <a:avLst/>
          </a:prstGeom>
        </p:spPr>
        <p:txBody>
          <a:bodyPr vert="horz" lIns="0" tIns="45720" rIns="0" bIns="45720" rtlCol="0" anchor="b" anchorCtr="0">
            <a:noAutofit/>
          </a:bodyPr>
          <a:lstStyle/>
          <a:p>
            <a:r>
              <a:rPr lang="en-US" dirty="0"/>
              <a:t>Click to edit Master title style</a:t>
            </a:r>
          </a:p>
        </p:txBody>
      </p:sp>
      <p:sp>
        <p:nvSpPr>
          <p:cNvPr id="3" name="Text Placeholder 2"/>
          <p:cNvSpPr>
            <a:spLocks noGrp="1"/>
          </p:cNvSpPr>
          <p:nvPr>
            <p:ph type="body" idx="1"/>
          </p:nvPr>
        </p:nvSpPr>
        <p:spPr>
          <a:xfrm>
            <a:off x="609600" y="1524000"/>
            <a:ext cx="10972800" cy="4648200"/>
          </a:xfrm>
          <a:prstGeom prst="rect">
            <a:avLst/>
          </a:prstGeom>
        </p:spPr>
        <p:txBody>
          <a:bodyPr vert="horz" lIns="0" tIns="45720" rIns="0" bIns="45720" rtlCol="0" anchor="t" anchorCtr="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p:nvPr/>
        </p:nvSpPr>
        <p:spPr>
          <a:xfrm>
            <a:off x="609600" y="1234967"/>
            <a:ext cx="11582400" cy="45719"/>
          </a:xfrm>
          <a:prstGeom prst="rect">
            <a:avLst/>
          </a:prstGeom>
          <a:solidFill>
            <a:srgbClr val="AB16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5" name="Picture 4" descr="A red letter w on a black background&#10;&#10;Description automatically generated">
            <a:extLst>
              <a:ext uri="{FF2B5EF4-FFF2-40B4-BE49-F238E27FC236}">
                <a16:creationId xmlns:a16="http://schemas.microsoft.com/office/drawing/2014/main" id="{628F81A4-8449-2076-D026-43F034BC1E15}"/>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10474628" y="6237513"/>
            <a:ext cx="1131217" cy="365760"/>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705" r:id="rId2"/>
    <p:sldLayoutId id="2147483695" r:id="rId3"/>
    <p:sldLayoutId id="2147483697" r:id="rId4"/>
    <p:sldLayoutId id="2147483700" r:id="rId5"/>
    <p:sldLayoutId id="2147483699" r:id="rId6"/>
    <p:sldLayoutId id="2147483703" r:id="rId7"/>
    <p:sldLayoutId id="2147483698" r:id="rId8"/>
    <p:sldLayoutId id="2147483664" r:id="rId9"/>
    <p:sldLayoutId id="2147483666" r:id="rId10"/>
    <p:sldLayoutId id="2147483696" r:id="rId11"/>
    <p:sldLayoutId id="2147483702" r:id="rId12"/>
    <p:sldLayoutId id="2147483701" r:id="rId13"/>
    <p:sldLayoutId id="2147483704" r:id="rId14"/>
    <p:sldLayoutId id="2147483667" r:id="rId15"/>
    <p:sldLayoutId id="2147483706" r:id="rId16"/>
  </p:sldLayoutIdLst>
  <p:hf hdr="0" dt="0"/>
  <p:txStyles>
    <p:titleStyle>
      <a:lvl1pPr algn="l" defTabSz="914400" rtl="0" eaLnBrk="1" latinLnBrk="0" hangingPunct="1">
        <a:lnSpc>
          <a:spcPts val="3800"/>
        </a:lnSpc>
        <a:spcBef>
          <a:spcPct val="0"/>
        </a:spcBef>
        <a:buNone/>
        <a:defRPr sz="3600" b="1" kern="1200">
          <a:solidFill>
            <a:srgbClr val="272626"/>
          </a:solidFill>
          <a:latin typeface="Arial" panose="020B0604020202020204" pitchFamily="34" charset="0"/>
          <a:ea typeface="Verdana" pitchFamily="34" charset="0"/>
          <a:cs typeface="Arial" panose="020B060402020202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lnSpc>
          <a:spcPct val="95000"/>
        </a:lnSpc>
        <a:spcBef>
          <a:spcPts val="1200"/>
        </a:spcBef>
        <a:buClr>
          <a:srgbClr val="AB162B"/>
        </a:buClr>
        <a:buFont typeface="Arial" pitchFamily="34" charset="0"/>
        <a:buChar char="•"/>
        <a:defRPr sz="2400" kern="1200">
          <a:solidFill>
            <a:srgbClr val="272626"/>
          </a:solidFill>
          <a:latin typeface="Arial" panose="020B0604020202020204" pitchFamily="34" charset="0"/>
          <a:ea typeface="Verdana" pitchFamily="34" charset="0"/>
          <a:cs typeface="Arial" panose="020B0604020202020204" pitchFamily="34" charset="0"/>
        </a:defRPr>
      </a:lvl1pPr>
      <a:lvl2pPr marL="594360" indent="-274320" algn="l" defTabSz="914400" rtl="0" eaLnBrk="1" latinLnBrk="0" hangingPunct="1">
        <a:lnSpc>
          <a:spcPct val="95000"/>
        </a:lnSpc>
        <a:spcBef>
          <a:spcPts val="600"/>
        </a:spcBef>
        <a:buClr>
          <a:srgbClr val="AB162B"/>
        </a:buClr>
        <a:buFont typeface="Verdana" pitchFamily="34" charset="0"/>
        <a:buChar char="─"/>
        <a:defRPr sz="2000" kern="1200">
          <a:solidFill>
            <a:srgbClr val="272626"/>
          </a:solidFill>
          <a:latin typeface="Arial" panose="020B0604020202020204" pitchFamily="34" charset="0"/>
          <a:ea typeface="Verdana" pitchFamily="34" charset="0"/>
          <a:cs typeface="Arial" panose="020B0604020202020204" pitchFamily="34" charset="0"/>
        </a:defRPr>
      </a:lvl2pPr>
      <a:lvl3pPr marL="868680" indent="-228600" algn="l" defTabSz="914400" rtl="0" eaLnBrk="1" latinLnBrk="0" hangingPunct="1">
        <a:lnSpc>
          <a:spcPct val="95000"/>
        </a:lnSpc>
        <a:spcBef>
          <a:spcPts val="600"/>
        </a:spcBef>
        <a:buClr>
          <a:srgbClr val="AB162B"/>
        </a:buClr>
        <a:buFont typeface="Wingdings" pitchFamily="2" charset="2"/>
        <a:buChar char="§"/>
        <a:defRPr sz="1800" kern="1200">
          <a:solidFill>
            <a:srgbClr val="272626"/>
          </a:solidFill>
          <a:latin typeface="Arial" panose="020B0604020202020204" pitchFamily="34" charset="0"/>
          <a:ea typeface="Verdana" pitchFamily="34" charset="0"/>
          <a:cs typeface="Arial" panose="020B0604020202020204" pitchFamily="34" charset="0"/>
        </a:defRPr>
      </a:lvl3pPr>
      <a:lvl4pPr marL="1143000" indent="-228600" algn="l" defTabSz="914400" rtl="0" eaLnBrk="1" latinLnBrk="0" hangingPunct="1">
        <a:lnSpc>
          <a:spcPct val="95000"/>
        </a:lnSpc>
        <a:spcBef>
          <a:spcPts val="600"/>
        </a:spcBef>
        <a:buClr>
          <a:srgbClr val="AB162B"/>
        </a:buClr>
        <a:buFont typeface="Courier New" pitchFamily="49" charset="0"/>
        <a:buChar char="o"/>
        <a:defRPr sz="1600" kern="1200">
          <a:solidFill>
            <a:srgbClr val="272626"/>
          </a:solidFill>
          <a:latin typeface="Arial" panose="020B0604020202020204" pitchFamily="34" charset="0"/>
          <a:ea typeface="Verdana" pitchFamily="34" charset="0"/>
          <a:cs typeface="Arial" panose="020B0604020202020204" pitchFamily="34" charset="0"/>
        </a:defRPr>
      </a:lvl4pPr>
      <a:lvl5pPr marL="1371600" indent="-228600" algn="l" defTabSz="914400" rtl="0" eaLnBrk="1" latinLnBrk="0" hangingPunct="1">
        <a:lnSpc>
          <a:spcPct val="95000"/>
        </a:lnSpc>
        <a:spcBef>
          <a:spcPts val="600"/>
        </a:spcBef>
        <a:buClr>
          <a:srgbClr val="AB162B"/>
        </a:buClr>
        <a:buFont typeface="Arial" pitchFamily="34" charset="0"/>
        <a:buChar char="•"/>
        <a:defRPr sz="1600" kern="1200" baseline="0">
          <a:solidFill>
            <a:srgbClr val="272626"/>
          </a:solidFill>
          <a:latin typeface="Arial" panose="020B0604020202020204" pitchFamily="34" charset="0"/>
          <a:ea typeface="Verdana" pitchFamily="34" charset="0"/>
          <a:cs typeface="Arial" panose="020B0604020202020204" pitchFamily="34" charset="0"/>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chart" Target="../charts/char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ReRouteAI: AI-Assisted Flight Disruption Recovery</a:t>
            </a:r>
          </a:p>
        </p:txBody>
      </p:sp>
      <p:sp>
        <p:nvSpPr>
          <p:cNvPr id="3" name="Subtitle 2"/>
          <p:cNvSpPr>
            <a:spLocks noGrp="1"/>
          </p:cNvSpPr>
          <p:nvPr>
            <p:ph type="subTitle" idx="1"/>
          </p:nvPr>
        </p:nvSpPr>
        <p:spPr/>
        <p:txBody>
          <a:bodyPr/>
          <a:lstStyle/>
          <a:p>
            <a:r>
              <a:t>MIS520 Project Proposal  |  Agnieszka, Regina, Delice, Kofi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The crisis: a missed connection</a:t>
            </a:r>
          </a:p>
        </p:txBody>
      </p:sp>
      <p:cxnSp>
        <p:nvCxnSpPr>
          <p:cNvPr id="3" name="Connector 2"/>
          <p:cNvCxnSpPr/>
          <p:nvPr/>
        </p:nvCxnSpPr>
        <p:spPr>
          <a:xfrm>
            <a:off x="1325880" y="2011680"/>
            <a:ext cx="3108960" cy="0"/>
          </a:xfrm>
          <a:prstGeom prst="line">
            <a:avLst/>
          </a:prstGeom>
          <a:ln w="31750">
            <a:solidFill>
              <a:srgbClr val="27262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434840" y="2011680"/>
            <a:ext cx="3108960" cy="0"/>
          </a:xfrm>
          <a:prstGeom prst="line">
            <a:avLst/>
          </a:prstGeom>
          <a:ln w="31750">
            <a:solidFill>
              <a:srgbClr val="AB192D"/>
            </a:solidFill>
            <a:prstDash val="dash"/>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097280" y="1783080"/>
            <a:ext cx="457200" cy="457200"/>
          </a:xfrm>
          <a:prstGeom prst="ellipse">
            <a:avLst/>
          </a:prstGeom>
          <a:solidFill>
            <a:srgbClr val="FFFFFF"/>
          </a:solidFill>
          <a:ln w="31750">
            <a:solidFill>
              <a:srgbClr val="27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19" y="2286000"/>
            <a:ext cx="1188720" cy="365760"/>
          </a:xfrm>
          <a:prstGeom prst="rect">
            <a:avLst/>
          </a:prstGeom>
          <a:noFill/>
        </p:spPr>
        <p:txBody>
          <a:bodyPr wrap="square">
            <a:spAutoFit/>
          </a:bodyPr>
          <a:lstStyle/>
          <a:p>
            <a:pPr algn="ctr"/>
            <a:r>
              <a:rPr sz="1600" b="1">
                <a:solidFill>
                  <a:srgbClr val="272626"/>
                </a:solidFill>
              </a:rPr>
              <a:t>BOS</a:t>
            </a:r>
          </a:p>
        </p:txBody>
      </p:sp>
      <p:sp>
        <p:nvSpPr>
          <p:cNvPr id="7" name="Oval 6"/>
          <p:cNvSpPr/>
          <p:nvPr/>
        </p:nvSpPr>
        <p:spPr>
          <a:xfrm>
            <a:off x="4206240" y="1783080"/>
            <a:ext cx="457200" cy="457200"/>
          </a:xfrm>
          <a:prstGeom prst="ellipse">
            <a:avLst/>
          </a:prstGeom>
          <a:solidFill>
            <a:srgbClr val="FFFFFF"/>
          </a:solidFill>
          <a:ln w="31750">
            <a:solidFill>
              <a:srgbClr val="AB19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79" y="2286000"/>
            <a:ext cx="1188720" cy="365760"/>
          </a:xfrm>
          <a:prstGeom prst="rect">
            <a:avLst/>
          </a:prstGeom>
          <a:noFill/>
        </p:spPr>
        <p:txBody>
          <a:bodyPr wrap="square">
            <a:spAutoFit/>
          </a:bodyPr>
          <a:lstStyle/>
          <a:p>
            <a:pPr algn="ctr"/>
            <a:r>
              <a:rPr sz="1600" b="1">
                <a:solidFill>
                  <a:srgbClr val="272626"/>
                </a:solidFill>
              </a:rPr>
              <a:t>ZRH</a:t>
            </a:r>
          </a:p>
        </p:txBody>
      </p:sp>
      <p:sp>
        <p:nvSpPr>
          <p:cNvPr id="9" name="Oval 8"/>
          <p:cNvSpPr/>
          <p:nvPr/>
        </p:nvSpPr>
        <p:spPr>
          <a:xfrm>
            <a:off x="7315200" y="1783080"/>
            <a:ext cx="457200" cy="457200"/>
          </a:xfrm>
          <a:prstGeom prst="ellipse">
            <a:avLst/>
          </a:prstGeom>
          <a:solidFill>
            <a:srgbClr val="FFFFFF"/>
          </a:solidFill>
          <a:ln w="31750">
            <a:solidFill>
              <a:srgbClr val="27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0" y="2286000"/>
            <a:ext cx="1188720" cy="365760"/>
          </a:xfrm>
          <a:prstGeom prst="rect">
            <a:avLst/>
          </a:prstGeom>
          <a:noFill/>
        </p:spPr>
        <p:txBody>
          <a:bodyPr wrap="square">
            <a:spAutoFit/>
          </a:bodyPr>
          <a:lstStyle/>
          <a:p>
            <a:pPr algn="ctr"/>
            <a:r>
              <a:rPr sz="1600" b="1">
                <a:solidFill>
                  <a:srgbClr val="272626"/>
                </a:solidFill>
              </a:rPr>
              <a:t>WAW</a:t>
            </a:r>
          </a:p>
        </p:txBody>
      </p:sp>
      <p:sp>
        <p:nvSpPr>
          <p:cNvPr id="11" name="TextBox 10"/>
          <p:cNvSpPr txBox="1"/>
          <p:nvPr/>
        </p:nvSpPr>
        <p:spPr>
          <a:xfrm>
            <a:off x="1645919" y="1371600"/>
            <a:ext cx="2743200" cy="320040"/>
          </a:xfrm>
          <a:prstGeom prst="rect">
            <a:avLst/>
          </a:prstGeom>
          <a:noFill/>
        </p:spPr>
        <p:txBody>
          <a:bodyPr wrap="square">
            <a:spAutoFit/>
          </a:bodyPr>
          <a:lstStyle/>
          <a:p>
            <a:pPr algn="ctr"/>
            <a:r>
              <a:rPr sz="1300" b="0">
                <a:solidFill>
                  <a:srgbClr val="6D6D6D"/>
                </a:solidFill>
              </a:rPr>
              <a:t>LX53 lands 95 min late</a:t>
            </a:r>
          </a:p>
        </p:txBody>
      </p:sp>
      <p:sp>
        <p:nvSpPr>
          <p:cNvPr id="12" name="TextBox 11"/>
          <p:cNvSpPr txBox="1"/>
          <p:nvPr/>
        </p:nvSpPr>
        <p:spPr>
          <a:xfrm>
            <a:off x="4572000" y="1371600"/>
            <a:ext cx="3108960" cy="320040"/>
          </a:xfrm>
          <a:prstGeom prst="rect">
            <a:avLst/>
          </a:prstGeom>
          <a:noFill/>
        </p:spPr>
        <p:txBody>
          <a:bodyPr wrap="square">
            <a:spAutoFit/>
          </a:bodyPr>
          <a:lstStyle/>
          <a:p>
            <a:pPr algn="ctr"/>
            <a:r>
              <a:rPr sz="1300" b="0">
                <a:solidFill>
                  <a:srgbClr val="AB192D"/>
                </a:solidFill>
              </a:rPr>
              <a:t>Warsaw connection already left</a:t>
            </a:r>
          </a:p>
        </p:txBody>
      </p:sp>
      <p:sp>
        <p:nvSpPr>
          <p:cNvPr id="13" name="TextBox 12"/>
          <p:cNvSpPr txBox="1"/>
          <p:nvPr/>
        </p:nvSpPr>
        <p:spPr>
          <a:xfrm>
            <a:off x="8412480" y="1600200"/>
            <a:ext cx="3200400" cy="914400"/>
          </a:xfrm>
          <a:prstGeom prst="rect">
            <a:avLst/>
          </a:prstGeom>
          <a:noFill/>
        </p:spPr>
        <p:txBody>
          <a:bodyPr wrap="square">
            <a:spAutoFit/>
          </a:bodyPr>
          <a:lstStyle/>
          <a:p>
            <a:r>
              <a:rPr sz="1500" b="1">
                <a:solidFill>
                  <a:srgbClr val="272626"/>
                </a:solidFill>
              </a:rPr>
              <a:t>The agent has minutes to choose one of 18 recovery paths.</a:t>
            </a:r>
          </a:p>
        </p:txBody>
      </p:sp>
      <p:sp>
        <p:nvSpPr>
          <p:cNvPr id="14" name="Rectangle 13"/>
          <p:cNvSpPr/>
          <p:nvPr/>
        </p:nvSpPr>
        <p:spPr>
          <a:xfrm>
            <a:off x="612648" y="3246120"/>
            <a:ext cx="3520440" cy="2103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73152" bIns="73152"/>
          <a:lstStyle/>
          <a:p>
            <a:pPr algn="ctr"/>
            <a:r>
              <a:rPr sz="3600" b="1">
                <a:solidFill>
                  <a:srgbClr val="AB192D"/>
                </a:solidFill>
                <a:latin typeface="Arial"/>
              </a:rPr>
              <a:t>95 min</a:t>
            </a:r>
          </a:p>
          <a:p>
            <a:r>
              <a:rPr sz="1500" b="0">
                <a:solidFill>
                  <a:srgbClr val="272626"/>
                </a:solidFill>
                <a:latin typeface="Arial"/>
              </a:rPr>
              <a:t>inbound delay into Zürich; the passenger can board again at 09:50</a:t>
            </a:r>
          </a:p>
        </p:txBody>
      </p:sp>
      <p:sp>
        <p:nvSpPr>
          <p:cNvPr id="15" name="Rectangle 14"/>
          <p:cNvSpPr/>
          <p:nvPr/>
        </p:nvSpPr>
        <p:spPr>
          <a:xfrm>
            <a:off x="4315968" y="3246120"/>
            <a:ext cx="3520440" cy="2103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73152" bIns="73152"/>
          <a:lstStyle/>
          <a:p>
            <a:pPr algn="ctr"/>
            <a:r>
              <a:rPr sz="3600" b="1">
                <a:solidFill>
                  <a:srgbClr val="AB192D"/>
                </a:solidFill>
                <a:latin typeface="Arial"/>
              </a:rPr>
              <a:t>18</a:t>
            </a:r>
          </a:p>
          <a:p>
            <a:r>
              <a:rPr sz="1500" b="0">
                <a:solidFill>
                  <a:srgbClr val="272626"/>
                </a:solidFill>
                <a:latin typeface="Arial"/>
              </a:rPr>
              <a:t>feasible recovery paths, each with different risk and cost</a:t>
            </a:r>
          </a:p>
        </p:txBody>
      </p:sp>
      <p:sp>
        <p:nvSpPr>
          <p:cNvPr id="16" name="Rectangle 15"/>
          <p:cNvSpPr/>
          <p:nvPr/>
        </p:nvSpPr>
        <p:spPr>
          <a:xfrm>
            <a:off x="8019288" y="3246120"/>
            <a:ext cx="3520440" cy="2103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73152" bIns="73152"/>
          <a:lstStyle/>
          <a:p>
            <a:pPr algn="ctr"/>
            <a:r>
              <a:rPr sz="3600" b="1">
                <a:solidFill>
                  <a:srgbClr val="AB192D"/>
                </a:solidFill>
                <a:latin typeface="Arial"/>
              </a:rPr>
              <a:t>€300–€600</a:t>
            </a:r>
          </a:p>
          <a:p>
            <a:r>
              <a:rPr sz="1500" b="0">
                <a:solidFill>
                  <a:srgbClr val="272626"/>
                </a:solidFill>
                <a:latin typeface="Arial"/>
              </a:rPr>
              <a:t>EU261 compensation per passenger if final arrival is 3–4+ hours late</a:t>
            </a:r>
          </a:p>
        </p:txBody>
      </p:sp>
      <p:sp>
        <p:nvSpPr>
          <p:cNvPr id="17" name="TextBox 16"/>
          <p:cNvSpPr txBox="1"/>
          <p:nvPr/>
        </p:nvSpPr>
        <p:spPr>
          <a:xfrm>
            <a:off x="612648" y="6144768"/>
            <a:ext cx="8229600" cy="320040"/>
          </a:xfrm>
          <a:prstGeom prst="rect">
            <a:avLst/>
          </a:prstGeom>
          <a:noFill/>
        </p:spPr>
        <p:txBody>
          <a:bodyPr wrap="square">
            <a:spAutoFit/>
          </a:bodyPr>
          <a:lstStyle/>
          <a:p>
            <a:r>
              <a:rPr sz="1000" b="0">
                <a:solidFill>
                  <a:srgbClr val="6D6D6D"/>
                </a:solidFill>
              </a:rPr>
              <a:t>EU261: Regulation (EC) No 261/2004. Boston–Warsaw journey is over 3,500 km.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The agent dilemma</a:t>
            </a:r>
          </a:p>
        </p:txBody>
      </p:sp>
      <p:sp>
        <p:nvSpPr>
          <p:cNvPr id="3" name="Content Placeholder 2"/>
          <p:cNvSpPr>
            <a:spLocks noGrp="1"/>
          </p:cNvSpPr>
          <p:nvPr>
            <p:ph idx="1" sz="half"/>
          </p:nvPr>
        </p:nvSpPr>
        <p:spPr/>
        <p:txBody>
          <a:bodyPr wrap="square"/>
          <a:lstStyle/>
          <a:p>
            <a:pPr>
              <a:spcBef>
                <a:spcPts val="800"/>
              </a:spcBef>
            </a:pPr>
            <a:r>
              <a:rPr sz="1800" b="1">
                <a:solidFill>
                  <a:srgbClr val="272626"/>
                </a:solidFill>
              </a:rPr>
              <a:t>Default rule: “book the next flight on our airline”</a:t>
            </a:r>
          </a:p>
          <a:p>
            <a:pPr lvl="1">
              <a:spcBef>
                <a:spcPts val="800"/>
              </a:spcBef>
            </a:pPr>
            <a:r>
              <a:rPr sz="1600" b="0">
                <a:solidFill>
                  <a:srgbClr val="272626"/>
                </a:solidFill>
              </a:rPr>
              <a:t>Ignores the risk that the new connection also fails</a:t>
            </a:r>
          </a:p>
          <a:p>
            <a:pPr lvl="1">
              <a:spcBef>
                <a:spcPts val="800"/>
              </a:spcBef>
            </a:pPr>
            <a:r>
              <a:rPr sz="1600" b="0">
                <a:solidFill>
                  <a:srgbClr val="272626"/>
                </a:solidFill>
              </a:rPr>
              <a:t>Ignores seats on other airlines that may arrive hours earlier</a:t>
            </a:r>
          </a:p>
          <a:p>
            <a:pPr lvl="1">
              <a:spcBef>
                <a:spcPts val="800"/>
              </a:spcBef>
            </a:pPr>
            <a:r>
              <a:rPr sz="1600" b="0">
                <a:solidFill>
                  <a:srgbClr val="272626"/>
                </a:solidFill>
              </a:rPr>
              <a:t>Ignores hotel, meal and compensation costs that grow with each hour</a:t>
            </a:r>
          </a:p>
        </p:txBody>
      </p:sp>
      <p:sp>
        <p:nvSpPr>
          <p:cNvPr id="4" name="Content Placeholder 3"/>
          <p:cNvSpPr>
            <a:spLocks noGrp="1"/>
          </p:cNvSpPr>
          <p:nvPr>
            <p:ph idx="2" sz="half"/>
          </p:nvPr>
        </p:nvSpPr>
        <p:spPr/>
        <p:txBody>
          <a:bodyPr wrap="square"/>
          <a:lstStyle/>
          <a:p>
            <a:pPr>
              <a:spcBef>
                <a:spcPts val="800"/>
              </a:spcBef>
            </a:pPr>
            <a:r>
              <a:rPr sz="1800" b="1">
                <a:solidFill>
                  <a:srgbClr val="272626"/>
                </a:solidFill>
              </a:rPr>
              <a:t>What the research says</a:t>
            </a:r>
          </a:p>
          <a:p>
            <a:pPr lvl="1">
              <a:spcBef>
                <a:spcPts val="800"/>
              </a:spcBef>
            </a:pPr>
            <a:r>
              <a:rPr sz="1600" b="0">
                <a:solidFill>
                  <a:srgbClr val="272626"/>
                </a:solidFill>
              </a:rPr>
              <a:t>How passengers are transferred (refund, same airline, other airline, overnight stay) changes recovery cost; recovering every flight is not always cheapest (Lu et al., 2025)</a:t>
            </a:r>
          </a:p>
          <a:p>
            <a:pPr lvl="1">
              <a:spcBef>
                <a:spcPts val="800"/>
              </a:spcBef>
            </a:pPr>
            <a:r>
              <a:rPr sz="1600" b="0">
                <a:solidFill>
                  <a:srgbClr val="272626"/>
                </a:solidFill>
              </a:rPr>
              <a:t>Future directions include real-time recovery that handles uncertainty and human factors (Wu et al., 2025)</a:t>
            </a:r>
          </a:p>
        </p:txBody>
      </p:sp>
      <p:sp>
        <p:nvSpPr>
          <p:cNvPr id="5" name="Rectangle 4"/>
          <p:cNvSpPr/>
          <p:nvPr/>
        </p:nvSpPr>
        <p:spPr>
          <a:xfrm>
            <a:off x="612648" y="5486400"/>
            <a:ext cx="10972800" cy="594360"/>
          </a:xfrm>
          <a:prstGeom prst="rect">
            <a:avLst/>
          </a:prstGeom>
          <a:solidFill>
            <a:srgbClr val="AB19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sz="1500" b="1">
                <a:solidFill>
                  <a:srgbClr val="FFFFFF"/>
                </a:solidFill>
                <a:latin typeface="Arial"/>
              </a:rPr>
              <a:t>Our goal: help airline rebooking agents choose the route with the lowest expected total cost, while the agent stays in charge.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Why AI: problems simple rules cannot solve</a:t>
            </a:r>
          </a:p>
        </p:txBody>
      </p:sp>
      <p:graphicFrame>
        <p:nvGraphicFramePr>
          <p:cNvPr id="3" name="Table 2"/>
          <p:cNvGraphicFramePr>
            <a:graphicFrameLocks noGrp="1"/>
          </p:cNvGraphicFramePr>
          <p:nvPr/>
        </p:nvGraphicFramePr>
        <p:xfrm>
          <a:off x="612648" y="1554480"/>
          <a:ext cx="10972800" cy="3474720"/>
        </p:xfrm>
        <a:graphic>
          <a:graphicData uri="http://schemas.openxmlformats.org/drawingml/2006/table">
            <a:tbl>
              <a:tblPr firstRow="1" bandRow="1">
                <a:tableStyleId>{5C22544A-7EE6-4342-B048-85BDC9FD1C3A}</a:tableStyleId>
              </a:tblPr>
              <a:tblGrid>
                <a:gridCol w="2377440"/>
                <a:gridCol w="3108960"/>
                <a:gridCol w="5486400"/>
              </a:tblGrid>
              <a:tr h="868680">
                <a:tc>
                  <a:txBody>
                    <a:bodyPr/>
                    <a:lstStyle/>
                    <a:p>
                      <a:r>
                        <a:rPr sz="1500" b="1"/>
                        <a:t>Problem</a:t>
                      </a:r>
                    </a:p>
                  </a:txBody>
                  <a:tcPr marL="73152" marR="73152" anchor="ctr"/>
                </a:tc>
                <a:tc>
                  <a:txBody>
                    <a:bodyPr/>
                    <a:lstStyle/>
                    <a:p>
                      <a:r>
                        <a:rPr sz="1500" b="1"/>
                        <a:t>AI technique</a:t>
                      </a:r>
                    </a:p>
                  </a:txBody>
                  <a:tcPr marL="73152" marR="73152" anchor="ctr"/>
                </a:tc>
                <a:tc>
                  <a:txBody>
                    <a:bodyPr/>
                    <a:lstStyle/>
                    <a:p>
                      <a:r>
                        <a:rPr sz="1500" b="1"/>
                        <a:t>Why a fixed rule falls short</a:t>
                      </a:r>
                    </a:p>
                  </a:txBody>
                  <a:tcPr marL="73152" marR="73152" anchor="ctr"/>
                </a:tc>
              </a:tr>
              <a:tr h="868680">
                <a:tc>
                  <a:txBody>
                    <a:bodyPr/>
                    <a:lstStyle/>
                    <a:p>
                      <a:r>
                        <a:rPr sz="1500" b="0"/>
                        <a:t>Delay uncertainty</a:t>
                      </a:r>
                    </a:p>
                  </a:txBody>
                  <a:tcPr marL="73152" marR="73152" anchor="ctr"/>
                </a:tc>
                <a:tc>
                  <a:txBody>
                    <a:bodyPr/>
                    <a:lstStyle/>
                    <a:p>
                      <a:r>
                        <a:rPr sz="1500" b="0"/>
                        <a:t>Machine learning (gradient boosting)</a:t>
                      </a:r>
                    </a:p>
                  </a:txBody>
                  <a:tcPr marL="73152" marR="73152" anchor="ctr"/>
                </a:tc>
                <a:tc>
                  <a:txBody>
                    <a:bodyPr/>
                    <a:lstStyle/>
                    <a:p>
                      <a:r>
                        <a:rPr sz="1500" b="0"/>
                        <a:t>A timetable assumes the flight lands on time; the model estimates the real probability</a:t>
                      </a:r>
                    </a:p>
                  </a:txBody>
                  <a:tcPr marL="73152" marR="73152" anchor="ctr"/>
                </a:tc>
              </a:tr>
              <a:tr h="868680">
                <a:tc>
                  <a:txBody>
                    <a:bodyPr/>
                    <a:lstStyle/>
                    <a:p>
                      <a:r>
                        <a:rPr sz="1500" b="0"/>
                        <a:t>Many possible routes</a:t>
                      </a:r>
                    </a:p>
                  </a:txBody>
                  <a:tcPr marL="73152" marR="73152" anchor="ctr"/>
                </a:tc>
                <a:tc>
                  <a:txBody>
                    <a:bodyPr/>
                    <a:lstStyle/>
                    <a:p>
                      <a:r>
                        <a:rPr sz="1500" b="0"/>
                        <a:t>Graph search (Dijkstra / A*)</a:t>
                      </a:r>
                    </a:p>
                  </a:txBody>
                  <a:tcPr marL="73152" marR="73152" anchor="ctr"/>
                </a:tc>
                <a:tc>
                  <a:txBody>
                    <a:bodyPr/>
                    <a:lstStyle/>
                    <a:p>
                      <a:r>
                        <a:rPr sz="1500" b="0"/>
                        <a:t>Dozens of flights and connection times; search checks every feasible path in milliseconds</a:t>
                      </a:r>
                    </a:p>
                  </a:txBody>
                  <a:tcPr marL="73152" marR="73152" anchor="ctr"/>
                </a:tc>
              </a:tr>
              <a:tr h="868680">
                <a:tc>
                  <a:txBody>
                    <a:bodyPr/>
                    <a:lstStyle/>
                    <a:p>
                      <a:r>
                        <a:rPr sz="1500" b="0"/>
                        <a:t>Strict regulations</a:t>
                      </a:r>
                    </a:p>
                  </a:txBody>
                  <a:tcPr marL="73152" marR="73152" anchor="ctr"/>
                </a:tc>
                <a:tc>
                  <a:txBody>
                    <a:bodyPr/>
                    <a:lstStyle/>
                    <a:p>
                      <a:r>
                        <a:rPr sz="1500" b="0"/>
                        <a:t>Policy retrieval (RAG)</a:t>
                      </a:r>
                    </a:p>
                  </a:txBody>
                  <a:tcPr marL="73152" marR="73152" anchor="ctr"/>
                </a:tc>
                <a:tc>
                  <a:txBody>
                    <a:bodyPr/>
                    <a:lstStyle/>
                    <a:p>
                      <a:r>
                        <a:rPr sz="1500" b="0"/>
                        <a:t>EU261, rebooking and baggage rules are looked up and cited instead of guessed</a:t>
                      </a:r>
                    </a:p>
                  </a:txBody>
                  <a:tcPr marL="73152" marR="73152" anchor="ctr"/>
                </a:tc>
              </a:tr>
            </a:tbl>
          </a:graphicData>
        </a:graphic>
      </p:graphicFrame>
      <p:sp>
        <p:nvSpPr>
          <p:cNvPr id="4" name="Rectangle 3"/>
          <p:cNvSpPr/>
          <p:nvPr/>
        </p:nvSpPr>
        <p:spPr>
          <a:xfrm>
            <a:off x="612648" y="5257800"/>
            <a:ext cx="10972800" cy="640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sz="1500" b="0">
                <a:solidFill>
                  <a:srgbClr val="272626"/>
                </a:solidFill>
                <a:latin typeface="Arial"/>
              </a:rPr>
              <a:t>21.3% of U.S. flights were delayed and 1.65% were cancelled in 2023 (BTS data, reported in Wu et al., 2025).</a:t>
            </a:r>
          </a:p>
        </p:txBody>
      </p:sp>
      <p:sp>
        <p:nvSpPr>
          <p:cNvPr id="5" name="TextBox 4"/>
          <p:cNvSpPr txBox="1"/>
          <p:nvPr/>
        </p:nvSpPr>
        <p:spPr>
          <a:xfrm>
            <a:off x="612648" y="6144768"/>
            <a:ext cx="8229600" cy="320040"/>
          </a:xfrm>
          <a:prstGeom prst="rect">
            <a:avLst/>
          </a:prstGeom>
          <a:noFill/>
        </p:spPr>
        <p:txBody>
          <a:bodyPr wrap="square">
            <a:spAutoFit/>
          </a:bodyPr>
          <a:lstStyle/>
          <a:p>
            <a:r>
              <a:rPr sz="1000" b="0">
                <a:solidFill>
                  <a:srgbClr val="6D6D6D"/>
                </a:solidFill>
              </a:rPr>
              <a:t>Project criteria: real business problem, AI is the right tool, feasible (MIS520 Project Instructions).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How ReRouteAI works</a:t>
            </a:r>
          </a:p>
        </p:txBody>
      </p:sp>
      <p:sp>
        <p:nvSpPr>
          <p:cNvPr id="3" name="Rectangle 2"/>
          <p:cNvSpPr/>
          <p:nvPr/>
        </p:nvSpPr>
        <p:spPr>
          <a:xfrm>
            <a:off x="612648" y="1737360"/>
            <a:ext cx="3291840" cy="1554480"/>
          </a:xfrm>
          <a:prstGeom prst="rect">
            <a:avLst/>
          </a:prstGeom>
          <a:noFill/>
          <a:ln w="15875">
            <a:solidFill>
              <a:srgbClr val="AB192D"/>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73152" bIns="73152"/>
          <a:lstStyle/>
          <a:p>
            <a:pPr algn="ctr"/>
            <a:r>
              <a:rPr sz="2400" b="1">
                <a:solidFill>
                  <a:srgbClr val="AB192D"/>
                </a:solidFill>
                <a:latin typeface="Arial"/>
              </a:rPr>
              <a:t>1. Predict</a:t>
            </a:r>
          </a:p>
          <a:p>
            <a:r>
              <a:rPr sz="1600" b="0">
                <a:solidFill>
                  <a:srgbClr val="272626"/>
                </a:solidFill>
                <a:latin typeface="Arial"/>
              </a:rPr>
              <a:t>Connection risk from a delay model trained on BTS history</a:t>
            </a:r>
          </a:p>
        </p:txBody>
      </p:sp>
      <p:cxnSp>
        <p:nvCxnSpPr>
          <p:cNvPr id="4" name="Connector 3"/>
          <p:cNvCxnSpPr/>
          <p:nvPr/>
        </p:nvCxnSpPr>
        <p:spPr>
          <a:xfrm>
            <a:off x="3950208" y="2514600"/>
            <a:ext cx="365760" cy="0"/>
          </a:xfrm>
          <a:prstGeom prst="line">
            <a:avLst/>
          </a:prstGeom>
          <a:ln w="25400">
            <a:solidFill>
              <a:srgbClr val="272626"/>
            </a:solidFill>
            <a:tailEnd type="triangle"/>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361688" y="1737360"/>
            <a:ext cx="3291840" cy="1554480"/>
          </a:xfrm>
          <a:prstGeom prst="rect">
            <a:avLst/>
          </a:prstGeom>
          <a:noFill/>
          <a:ln w="15875">
            <a:solidFill>
              <a:srgbClr val="AB192D"/>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73152" bIns="73152"/>
          <a:lstStyle/>
          <a:p>
            <a:pPr algn="ctr"/>
            <a:r>
              <a:rPr sz="2400" b="1">
                <a:solidFill>
                  <a:srgbClr val="AB192D"/>
                </a:solidFill>
                <a:latin typeface="Arial"/>
              </a:rPr>
              <a:t>2. Score</a:t>
            </a:r>
          </a:p>
          <a:p>
            <a:r>
              <a:rPr sz="1600" b="0">
                <a:solidFill>
                  <a:srgbClr val="272626"/>
                </a:solidFill>
                <a:latin typeface="Arial"/>
              </a:rPr>
              <a:t>Every feasible route by total cost, including EU261</a:t>
            </a:r>
          </a:p>
        </p:txBody>
      </p:sp>
      <p:cxnSp>
        <p:nvCxnSpPr>
          <p:cNvPr id="6" name="Connector 5"/>
          <p:cNvCxnSpPr/>
          <p:nvPr/>
        </p:nvCxnSpPr>
        <p:spPr>
          <a:xfrm>
            <a:off x="7699248" y="2514600"/>
            <a:ext cx="365760" cy="0"/>
          </a:xfrm>
          <a:prstGeom prst="line">
            <a:avLst/>
          </a:prstGeom>
          <a:ln w="25400">
            <a:solidFill>
              <a:srgbClr val="272626"/>
            </a:solidFill>
            <a:tailEnd type="triangle"/>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110727" y="1737360"/>
            <a:ext cx="3291840" cy="1554480"/>
          </a:xfrm>
          <a:prstGeom prst="rect">
            <a:avLst/>
          </a:prstGeom>
          <a:noFill/>
          <a:ln w="15875">
            <a:solidFill>
              <a:srgbClr val="AB192D"/>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73152" bIns="73152"/>
          <a:lstStyle/>
          <a:p>
            <a:pPr algn="ctr"/>
            <a:r>
              <a:rPr sz="2400" b="1">
                <a:solidFill>
                  <a:srgbClr val="AB192D"/>
                </a:solidFill>
                <a:latin typeface="Arial"/>
              </a:rPr>
              <a:t>3. Recommend</a:t>
            </a:r>
          </a:p>
          <a:p>
            <a:r>
              <a:rPr sz="1600" b="0">
                <a:solidFill>
                  <a:srgbClr val="272626"/>
                </a:solidFill>
                <a:latin typeface="Arial"/>
              </a:rPr>
              <a:t>Ranked options with a cited explanation</a:t>
            </a:r>
          </a:p>
        </p:txBody>
      </p:sp>
      <p:sp>
        <p:nvSpPr>
          <p:cNvPr id="8" name="Rectangle 7"/>
          <p:cNvSpPr/>
          <p:nvPr/>
        </p:nvSpPr>
        <p:spPr>
          <a:xfrm>
            <a:off x="612648" y="3657600"/>
            <a:ext cx="10972800" cy="10972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sz="1700" b="0">
                <a:solidFill>
                  <a:srgbClr val="272626"/>
                </a:solidFill>
                <a:latin typeface="Arial"/>
              </a:rPr>
              <a:t>The human agent decides: approve the recommendation or choose another option. Every override is logged with a reason. Nothing is booked automatically.</a:t>
            </a:r>
          </a:p>
        </p:txBody>
      </p:sp>
      <p:sp>
        <p:nvSpPr>
          <p:cNvPr id="9" name="TextBox 8"/>
          <p:cNvSpPr txBox="1"/>
          <p:nvPr/>
        </p:nvSpPr>
        <p:spPr>
          <a:xfrm>
            <a:off x="612648" y="6144768"/>
            <a:ext cx="8229600" cy="320040"/>
          </a:xfrm>
          <a:prstGeom prst="rect">
            <a:avLst/>
          </a:prstGeom>
          <a:noFill/>
        </p:spPr>
        <p:txBody>
          <a:bodyPr wrap="square">
            <a:spAutoFit/>
          </a:bodyPr>
          <a:lstStyle/>
          <a:p>
            <a:r>
              <a:rPr sz="1000" b="0">
                <a:solidFill>
                  <a:srgbClr val="6D6D6D"/>
                </a:solidFill>
              </a:rPr>
              <a:t>Inputs: BTS on-time history, timetable, connection times and seats, traveller priority, policy text.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Step 1: Predict real connection risk</a:t>
            </a:r>
          </a:p>
        </p:txBody>
      </p:sp>
      <p:sp>
        <p:nvSpPr>
          <p:cNvPr id="3" name="Content Placeholder 2"/>
          <p:cNvSpPr>
            <a:spLocks noGrp="1"/>
          </p:cNvSpPr>
          <p:nvPr>
            <p:ph idx="1" sz="half"/>
          </p:nvPr>
        </p:nvSpPr>
        <p:spPr/>
        <p:txBody>
          <a:bodyPr wrap="square"/>
          <a:lstStyle/>
          <a:p>
            <a:pPr>
              <a:spcBef>
                <a:spcPts val="800"/>
              </a:spcBef>
            </a:pPr>
            <a:r>
              <a:rPr sz="1800" b="1">
                <a:solidFill>
                  <a:srgbClr val="272626"/>
                </a:solidFill>
              </a:rPr>
              <a:t>Delay model</a:t>
            </a:r>
          </a:p>
          <a:p>
            <a:pPr lvl="1">
              <a:spcBef>
                <a:spcPts val="800"/>
              </a:spcBef>
            </a:pPr>
            <a:r>
              <a:rPr sz="1600" b="0">
                <a:solidFill>
                  <a:srgbClr val="272626"/>
                </a:solidFill>
              </a:rPr>
              <a:t>Gradient boosting trained on U.S. BTS on-time data</a:t>
            </a:r>
          </a:p>
          <a:p>
            <a:pPr lvl="1">
              <a:spcBef>
                <a:spcPts val="800"/>
              </a:spcBef>
            </a:pPr>
            <a:r>
              <a:rPr sz="1600" b="0">
                <a:solidFill>
                  <a:srgbClr val="272626"/>
                </a:solidFill>
              </a:rPr>
              <a:t>Predicts the full delay distribution (10 delay bands plus cancellation)</a:t>
            </a:r>
          </a:p>
          <a:p>
            <a:pPr lvl="1">
              <a:spcBef>
                <a:spcPts val="800"/>
              </a:spcBef>
            </a:pPr>
            <a:r>
              <a:rPr sz="1600" b="0">
                <a:solidFill>
                  <a:srgbClr val="272626"/>
                </a:solidFill>
              </a:rPr>
              <a:t>Features: hour, month, weekday, distance, airport size</a:t>
            </a:r>
          </a:p>
          <a:p>
            <a:pPr lvl="1">
              <a:spcBef>
                <a:spcPts val="800"/>
              </a:spcBef>
            </a:pPr>
            <a:r>
              <a:rPr sz="1600" b="0">
                <a:solidFill>
                  <a:srgbClr val="272626"/>
                </a:solidFill>
              </a:rPr>
              <a:t>Tested on held-out months, with calibration checks</a:t>
            </a:r>
          </a:p>
        </p:txBody>
      </p:sp>
      <p:sp>
        <p:nvSpPr>
          <p:cNvPr id="4" name="Content Placeholder 3"/>
          <p:cNvSpPr>
            <a:spLocks noGrp="1"/>
          </p:cNvSpPr>
          <p:nvPr>
            <p:ph idx="2" sz="half"/>
          </p:nvPr>
        </p:nvSpPr>
        <p:spPr/>
        <p:txBody>
          <a:bodyPr wrap="square"/>
          <a:lstStyle/>
          <a:p>
            <a:pPr>
              <a:spcBef>
                <a:spcPts val="800"/>
              </a:spcBef>
            </a:pPr>
            <a:r>
              <a:rPr sz="1800" b="1">
                <a:solidFill>
                  <a:srgbClr val="272626"/>
                </a:solidFill>
              </a:rPr>
              <a:t>Example: Zürich → Vienna → Warsaw</a:t>
            </a:r>
          </a:p>
          <a:p>
            <a:pPr lvl="1">
              <a:spcBef>
                <a:spcPts val="800"/>
              </a:spcBef>
            </a:pPr>
            <a:r>
              <a:rPr sz="1600" b="0">
                <a:solidFill>
                  <a:srgbClr val="272626"/>
                </a:solidFill>
              </a:rPr>
              <a:t>50-minute connection in Vienna</a:t>
            </a:r>
          </a:p>
          <a:p>
            <a:pPr lvl="1">
              <a:spcBef>
                <a:spcPts val="800"/>
              </a:spcBef>
            </a:pPr>
            <a:r>
              <a:rPr sz="1600" b="0">
                <a:solidFill>
                  <a:srgbClr val="272626"/>
                </a:solidFill>
              </a:rPr>
              <a:t>Timetable view: 100% chance to connect</a:t>
            </a:r>
          </a:p>
          <a:p>
            <a:pPr lvl="1">
              <a:spcBef>
                <a:spcPts val="800"/>
              </a:spcBef>
            </a:pPr>
            <a:r>
              <a:rPr sz="1600" b="0">
                <a:solidFill>
                  <a:srgbClr val="272626"/>
                </a:solidFill>
              </a:rPr>
              <a:t>Model estimate: 65% chance to connect</a:t>
            </a:r>
          </a:p>
        </p:txBody>
      </p:sp>
      <p:sp>
        <p:nvSpPr>
          <p:cNvPr id="5" name="TextBox 4"/>
          <p:cNvSpPr txBox="1"/>
          <p:nvPr/>
        </p:nvSpPr>
        <p:spPr>
          <a:xfrm>
            <a:off x="612648" y="6144768"/>
            <a:ext cx="8229600" cy="320040"/>
          </a:xfrm>
          <a:prstGeom prst="rect">
            <a:avLst/>
          </a:prstGeom>
          <a:noFill/>
        </p:spPr>
        <p:txBody>
          <a:bodyPr wrap="square">
            <a:spAutoFit/>
          </a:bodyPr>
          <a:lstStyle/>
          <a:p>
            <a:r>
              <a:rPr sz="1000" b="0">
                <a:solidFill>
                  <a:srgbClr val="6D6D6D"/>
                </a:solidFill>
              </a:rPr>
              <a:t>P(connection works) = P(inbound delay ≤ connection slack) × P(next flight operates). Prototype figures.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Step 2: Score routes by total cost</a:t>
            </a:r>
          </a:p>
        </p:txBody>
      </p:sp>
      <p:sp>
        <p:nvSpPr>
          <p:cNvPr id="3" name="Content Placeholder 2"/>
          <p:cNvSpPr>
            <a:spLocks noGrp="1"/>
          </p:cNvSpPr>
          <p:nvPr>
            <p:ph idx="1" sz="half"/>
          </p:nvPr>
        </p:nvSpPr>
        <p:spPr/>
        <p:txBody>
          <a:bodyPr wrap="square"/>
          <a:lstStyle/>
          <a:p>
            <a:pPr>
              <a:spcBef>
                <a:spcPts val="800"/>
              </a:spcBef>
            </a:pPr>
            <a:r>
              <a:rPr sz="1700" b="0">
                <a:solidFill>
                  <a:srgbClr val="272626"/>
                </a:solidFill>
              </a:rPr>
              <a:t>Graph search removes impossible routes (connections that are too short, full flights)</a:t>
            </a:r>
          </a:p>
          <a:p>
            <a:pPr>
              <a:spcBef>
                <a:spcPts val="800"/>
              </a:spcBef>
            </a:pPr>
            <a:r>
              <a:rPr sz="1700" b="0">
                <a:solidFill>
                  <a:srgbClr val="272626"/>
                </a:solidFill>
              </a:rPr>
              <a:t>Each remaining route gets one dollar score: ticket price + value of time + risk of a missed connection</a:t>
            </a:r>
          </a:p>
          <a:p>
            <a:pPr>
              <a:spcBef>
                <a:spcPts val="800"/>
              </a:spcBef>
            </a:pPr>
            <a:r>
              <a:rPr sz="1700" b="0">
                <a:solidFill>
                  <a:srgbClr val="272626"/>
                </a:solidFill>
              </a:rPr>
              <a:t>Airline view adds EU261 compensation, meals and hotel</a:t>
            </a:r>
          </a:p>
          <a:p>
            <a:pPr>
              <a:spcBef>
                <a:spcPts val="800"/>
              </a:spcBef>
            </a:pPr>
            <a:r>
              <a:rPr sz="1700" b="0">
                <a:solidFill>
                  <a:srgbClr val="272626"/>
                </a:solidFill>
              </a:rPr>
              <a:t>A* finds the same best route as Dijkstra while checking fewer options (4 vs 8 nodes)</a:t>
            </a:r>
          </a:p>
        </p:txBody>
      </p:sp>
      <p:sp>
        <p:nvSpPr>
          <p:cNvPr id="4" name="TextBox 3"/>
          <p:cNvSpPr txBox="1"/>
          <p:nvPr/>
        </p:nvSpPr>
        <p:spPr>
          <a:xfrm>
            <a:off x="6309360" y="1600200"/>
            <a:ext cx="5212080" cy="365760"/>
          </a:xfrm>
          <a:prstGeom prst="rect">
            <a:avLst/>
          </a:prstGeom>
          <a:noFill/>
        </p:spPr>
        <p:txBody>
          <a:bodyPr wrap="square">
            <a:spAutoFit/>
          </a:bodyPr>
          <a:lstStyle/>
          <a:p>
            <a:r>
              <a:rPr sz="1700" b="1">
                <a:solidFill>
                  <a:srgbClr val="272626"/>
                </a:solidFill>
              </a:rPr>
              <a:t>EU261 compensation for this journey</a:t>
            </a:r>
          </a:p>
        </p:txBody>
      </p:sp>
      <p:graphicFrame>
        <p:nvGraphicFramePr>
          <p:cNvPr id="5" name="Table 4"/>
          <p:cNvGraphicFramePr>
            <a:graphicFrameLocks noGrp="1"/>
          </p:cNvGraphicFramePr>
          <p:nvPr/>
        </p:nvGraphicFramePr>
        <p:xfrm>
          <a:off x="6309360" y="2103120"/>
          <a:ext cx="5212080" cy="2194560"/>
        </p:xfrm>
        <a:graphic>
          <a:graphicData uri="http://schemas.openxmlformats.org/drawingml/2006/table">
            <a:tbl>
              <a:tblPr firstRow="1" bandRow="1">
                <a:tableStyleId>{5C22544A-7EE6-4342-B048-85BDC9FD1C3A}</a:tableStyleId>
              </a:tblPr>
              <a:tblGrid>
                <a:gridCol w="2926080"/>
                <a:gridCol w="2286000"/>
              </a:tblGrid>
              <a:tr h="548640">
                <a:tc>
                  <a:txBody>
                    <a:bodyPr/>
                    <a:lstStyle/>
                    <a:p>
                      <a:r>
                        <a:rPr sz="1600" b="1"/>
                        <a:t>Arrival delay</a:t>
                      </a:r>
                    </a:p>
                  </a:txBody>
                  <a:tcPr marL="73152" marR="73152" anchor="ctr"/>
                </a:tc>
                <a:tc>
                  <a:txBody>
                    <a:bodyPr/>
                    <a:lstStyle/>
                    <a:p>
                      <a:r>
                        <a:rPr sz="1600" b="1"/>
                        <a:t>Compensation</a:t>
                      </a:r>
                    </a:p>
                  </a:txBody>
                  <a:tcPr marL="73152" marR="73152" anchor="ctr"/>
                </a:tc>
              </a:tr>
              <a:tr h="548640">
                <a:tc>
                  <a:txBody>
                    <a:bodyPr/>
                    <a:lstStyle/>
                    <a:p>
                      <a:r>
                        <a:rPr sz="1600" b="0"/>
                        <a:t>Less than 3 hours</a:t>
                      </a:r>
                    </a:p>
                  </a:txBody>
                  <a:tcPr marL="73152" marR="73152" anchor="ctr"/>
                </a:tc>
                <a:tc>
                  <a:txBody>
                    <a:bodyPr/>
                    <a:lstStyle/>
                    <a:p>
                      <a:r>
                        <a:rPr sz="1600" b="0"/>
                        <a:t>€0</a:t>
                      </a:r>
                    </a:p>
                  </a:txBody>
                  <a:tcPr marL="73152" marR="73152" anchor="ctr"/>
                </a:tc>
              </a:tr>
              <a:tr h="548640">
                <a:tc>
                  <a:txBody>
                    <a:bodyPr/>
                    <a:lstStyle/>
                    <a:p>
                      <a:r>
                        <a:rPr sz="1600" b="0"/>
                        <a:t>3 to 4 hours</a:t>
                      </a:r>
                    </a:p>
                  </a:txBody>
                  <a:tcPr marL="73152" marR="73152" anchor="ctr"/>
                </a:tc>
                <a:tc>
                  <a:txBody>
                    <a:bodyPr/>
                    <a:lstStyle/>
                    <a:p>
                      <a:r>
                        <a:rPr sz="1600" b="0"/>
                        <a:t>€300</a:t>
                      </a:r>
                    </a:p>
                  </a:txBody>
                  <a:tcPr marL="73152" marR="73152" anchor="ctr"/>
                </a:tc>
              </a:tr>
              <a:tr h="548640">
                <a:tc>
                  <a:txBody>
                    <a:bodyPr/>
                    <a:lstStyle/>
                    <a:p>
                      <a:r>
                        <a:rPr sz="1600" b="0"/>
                        <a:t>More than 4 hours</a:t>
                      </a:r>
                    </a:p>
                  </a:txBody>
                  <a:tcPr marL="73152" marR="73152" anchor="ctr"/>
                </a:tc>
                <a:tc>
                  <a:txBody>
                    <a:bodyPr/>
                    <a:lstStyle/>
                    <a:p>
                      <a:r>
                        <a:rPr sz="1600" b="0"/>
                        <a:t>€600</a:t>
                      </a:r>
                    </a:p>
                  </a:txBody>
                  <a:tcPr marL="73152" marR="73152" anchor="ctr"/>
                </a:tc>
              </a:tr>
            </a:tbl>
          </a:graphicData>
        </a:graphic>
      </p:graphicFrame>
      <p:sp>
        <p:nvSpPr>
          <p:cNvPr id="6" name="TextBox 5"/>
          <p:cNvSpPr txBox="1"/>
          <p:nvPr/>
        </p:nvSpPr>
        <p:spPr>
          <a:xfrm>
            <a:off x="6309360" y="4480560"/>
            <a:ext cx="5212080" cy="914400"/>
          </a:xfrm>
          <a:prstGeom prst="rect">
            <a:avLst/>
          </a:prstGeom>
          <a:noFill/>
        </p:spPr>
        <p:txBody>
          <a:bodyPr wrap="square">
            <a:spAutoFit/>
          </a:bodyPr>
          <a:lstStyle/>
          <a:p>
            <a:r>
              <a:rPr sz="1400" b="0">
                <a:solidFill>
                  <a:srgbClr val="6D6D6D"/>
                </a:solidFill>
              </a:rPr>
              <a:t>Like the late-delivery penalty in the VectorDash case, a few minutes can change the cost.</a:t>
            </a:r>
          </a:p>
        </p:txBody>
      </p:sp>
      <p:sp>
        <p:nvSpPr>
          <p:cNvPr id="7" name="TextBox 6"/>
          <p:cNvSpPr txBox="1"/>
          <p:nvPr/>
        </p:nvSpPr>
        <p:spPr>
          <a:xfrm>
            <a:off x="612648" y="6144768"/>
            <a:ext cx="8229600" cy="320040"/>
          </a:xfrm>
          <a:prstGeom prst="rect">
            <a:avLst/>
          </a:prstGeom>
          <a:noFill/>
        </p:spPr>
        <p:txBody>
          <a:bodyPr wrap="square">
            <a:spAutoFit/>
          </a:bodyPr>
          <a:lstStyle/>
          <a:p>
            <a:r>
              <a:rPr sz="1000" b="0">
                <a:solidFill>
                  <a:srgbClr val="6D6D6D"/>
                </a:solidFill>
              </a:rPr>
              <a:t>Regulation (EC) No 261/2004. Amount halved when rerouting keeps the delay under 4 hours (journeys over 3,500 km).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Step 3: Recommend and adapt (live demo)</a:t>
            </a:r>
          </a:p>
        </p:txBody>
      </p:sp>
      <p:pic>
        <p:nvPicPr>
          <p:cNvPr id="3" name="Picture 2" descr="demo_shot.png"/>
          <p:cNvPicPr>
            <a:picLocks noChangeAspect="1"/>
          </p:cNvPicPr>
          <p:nvPr/>
        </p:nvPicPr>
        <p:blipFill>
          <a:blip r:embed="rId2"/>
          <a:stretch>
            <a:fillRect/>
          </a:stretch>
        </p:blipFill>
        <p:spPr>
          <a:xfrm>
            <a:off x="612648" y="1554480"/>
            <a:ext cx="5760720" cy="2627697"/>
          </a:xfrm>
          <a:prstGeom prst="rect">
            <a:avLst/>
          </a:prstGeom>
        </p:spPr>
      </p:pic>
      <p:sp>
        <p:nvSpPr>
          <p:cNvPr id="4" name="Rectangle 3"/>
          <p:cNvSpPr/>
          <p:nvPr/>
        </p:nvSpPr>
        <p:spPr>
          <a:xfrm>
            <a:off x="612648" y="4343400"/>
            <a:ext cx="5760720" cy="12801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sz="1600" b="1">
                <a:solidFill>
                  <a:srgbClr val="272626"/>
                </a:solidFill>
                <a:latin typeface="Arial"/>
              </a:rPr>
              <a:t>Key example: buy a $260 seat on another airline to avoid a €600 compensation payment.</a:t>
            </a:r>
          </a:p>
        </p:txBody>
      </p:sp>
      <p:graphicFrame>
        <p:nvGraphicFramePr>
          <p:cNvPr id="5" name="Table 4"/>
          <p:cNvGraphicFramePr>
            <a:graphicFrameLocks noGrp="1"/>
          </p:cNvGraphicFramePr>
          <p:nvPr/>
        </p:nvGraphicFramePr>
        <p:xfrm>
          <a:off x="6583680" y="1554480"/>
          <a:ext cx="5001768" cy="3968496"/>
        </p:xfrm>
        <a:graphic>
          <a:graphicData uri="http://schemas.openxmlformats.org/drawingml/2006/table">
            <a:tbl>
              <a:tblPr firstRow="1" bandRow="1">
                <a:tableStyleId>{5C22544A-7EE6-4342-B048-85BDC9FD1C3A}</a:tableStyleId>
              </a:tblPr>
              <a:tblGrid>
                <a:gridCol w="2011680"/>
                <a:gridCol w="2990088"/>
              </a:tblGrid>
              <a:tr h="566928">
                <a:tc>
                  <a:txBody>
                    <a:bodyPr/>
                    <a:lstStyle/>
                    <a:p>
                      <a:r>
                        <a:rPr sz="1300" b="1"/>
                        <a:t>Who decides</a:t>
                      </a:r>
                    </a:p>
                  </a:txBody>
                  <a:tcPr marL="73152" marR="73152" anchor="ctr"/>
                </a:tc>
                <a:tc>
                  <a:txBody>
                    <a:bodyPr/>
                    <a:lstStyle/>
                    <a:p>
                      <a:r>
                        <a:rPr sz="1300" b="1"/>
                        <a:t>Recommended route</a:t>
                      </a:r>
                    </a:p>
                  </a:txBody>
                  <a:tcPr marL="73152" marR="73152" anchor="ctr"/>
                </a:tc>
              </a:tr>
              <a:tr h="566928">
                <a:tc>
                  <a:txBody>
                    <a:bodyPr/>
                    <a:lstStyle/>
                    <a:p>
                      <a:r>
                        <a:rPr sz="1300" b="0"/>
                        <a:t>Student ($0–10/h)</a:t>
                      </a:r>
                    </a:p>
                  </a:txBody>
                  <a:tcPr marL="73152" marR="73152" anchor="ctr"/>
                </a:tc>
                <a:tc>
                  <a:txBody>
                    <a:bodyPr/>
                    <a:lstStyle/>
                    <a:p>
                      <a:r>
                        <a:rPr sz="1300" b="0"/>
                        <a:t>Next direct flight, 14:20; free</a:t>
                      </a:r>
                    </a:p>
                  </a:txBody>
                  <a:tcPr marL="73152" marR="73152" anchor="ctr"/>
                </a:tc>
              </a:tr>
              <a:tr h="566928">
                <a:tc>
                  <a:txBody>
                    <a:bodyPr/>
                    <a:lstStyle/>
                    <a:p>
                      <a:r>
                        <a:rPr sz="1300" b="0"/>
                        <a:t>Leisure ($25–100/h)</a:t>
                      </a:r>
                    </a:p>
                  </a:txBody>
                  <a:tcPr marL="73152" marR="73152" anchor="ctr"/>
                </a:tc>
                <a:tc>
                  <a:txBody>
                    <a:bodyPr/>
                    <a:lstStyle/>
                    <a:p>
                      <a:r>
                        <a:rPr sz="1300" b="0"/>
                        <a:t>Via Vienna; free, earliest</a:t>
                      </a:r>
                    </a:p>
                  </a:txBody>
                  <a:tcPr marL="73152" marR="73152" anchor="ctr"/>
                </a:tc>
              </a:tr>
              <a:tr h="566928">
                <a:tc>
                  <a:txBody>
                    <a:bodyPr/>
                    <a:lstStyle/>
                    <a:p>
                      <a:r>
                        <a:rPr sz="1300" b="0"/>
                        <a:t>Business / urgent</a:t>
                      </a:r>
                    </a:p>
                  </a:txBody>
                  <a:tcPr marL="73152" marR="73152" anchor="ctr"/>
                </a:tc>
                <a:tc>
                  <a:txBody>
                    <a:bodyPr/>
                    <a:lstStyle/>
                    <a:p>
                      <a:r>
                        <a:rPr sz="1300" b="0"/>
                        <a:t>$260 nonstop, 11:15; 97% reliable</a:t>
                      </a:r>
                    </a:p>
                  </a:txBody>
                  <a:tcPr marL="73152" marR="73152" anchor="ctr"/>
                </a:tc>
              </a:tr>
              <a:tr h="566928">
                <a:tc>
                  <a:txBody>
                    <a:bodyPr/>
                    <a:lstStyle/>
                    <a:p>
                      <a:r>
                        <a:rPr sz="1300" b="0"/>
                        <a:t>Airline, EU261 applies</a:t>
                      </a:r>
                    </a:p>
                  </a:txBody>
                  <a:tcPr marL="73152" marR="73152" anchor="ctr"/>
                </a:tc>
                <a:tc>
                  <a:txBody>
                    <a:bodyPr/>
                    <a:lstStyle/>
                    <a:p>
                      <a:r>
                        <a:rPr sz="1300" b="0"/>
                        <a:t>Buy the $260 seat</a:t>
                      </a:r>
                    </a:p>
                  </a:txBody>
                  <a:tcPr marL="73152" marR="73152" anchor="ctr"/>
                </a:tc>
              </a:tr>
              <a:tr h="566928">
                <a:tc>
                  <a:txBody>
                    <a:bodyPr/>
                    <a:lstStyle/>
                    <a:p>
                      <a:r>
                        <a:rPr sz="1300" b="0"/>
                        <a:t>Airline, weather delay</a:t>
                      </a:r>
                    </a:p>
                  </a:txBody>
                  <a:tcPr marL="73152" marR="73152" anchor="ctr"/>
                </a:tc>
                <a:tc>
                  <a:txBody>
                    <a:bodyPr/>
                    <a:lstStyle/>
                    <a:p>
                      <a:r>
                        <a:rPr sz="1300" b="0"/>
                        <a:t>Late-evening flight; no compensation</a:t>
                      </a:r>
                    </a:p>
                  </a:txBody>
                  <a:tcPr marL="73152" marR="73152" anchor="ctr"/>
                </a:tc>
              </a:tr>
              <a:tr h="566928">
                <a:tc>
                  <a:txBody>
                    <a:bodyPr/>
                    <a:lstStyle/>
                    <a:p>
                      <a:r>
                        <a:rPr sz="1300" b="0"/>
                        <a:t>Rebooking agent</a:t>
                      </a:r>
                    </a:p>
                  </a:txBody>
                  <a:tcPr marL="73152" marR="73152" anchor="ctr"/>
                </a:tc>
                <a:tc>
                  <a:txBody>
                    <a:bodyPr/>
                    <a:lstStyle/>
                    <a:p>
                      <a:r>
                        <a:rPr sz="1300" b="0"/>
                        <a:t>Approves, or overrides with a logged reason</a:t>
                      </a:r>
                    </a:p>
                  </a:txBody>
                  <a:tcPr marL="73152" marR="73152" anchor="ctr"/>
                </a:tc>
              </a:tr>
            </a:tbl>
          </a:graphicData>
        </a:graphic>
      </p:graphicFrame>
      <p:sp>
        <p:nvSpPr>
          <p:cNvPr id="6" name="TextBox 5"/>
          <p:cNvSpPr txBox="1"/>
          <p:nvPr/>
        </p:nvSpPr>
        <p:spPr>
          <a:xfrm>
            <a:off x="612648" y="6144768"/>
            <a:ext cx="8229600" cy="320040"/>
          </a:xfrm>
          <a:prstGeom prst="rect">
            <a:avLst/>
          </a:prstGeom>
          <a:noFill/>
        </p:spPr>
        <p:txBody>
          <a:bodyPr wrap="square">
            <a:spAutoFit/>
          </a:bodyPr>
          <a:lstStyle/>
          <a:p>
            <a:r>
              <a:rPr sz="1000" b="0">
                <a:solidFill>
                  <a:srgbClr val="6D6D6D"/>
                </a:solidFill>
              </a:rPr>
              <a:t>Illustrative timetable (AlpenJet is fictional). Delay model currently uses synthetic BTS-format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Roadmap and roles</a:t>
            </a:r>
          </a:p>
        </p:txBody>
      </p:sp>
      <p:graphicFrame>
        <p:nvGraphicFramePr>
          <p:cNvPr id="3" name="Table 2"/>
          <p:cNvGraphicFramePr>
            <a:graphicFrameLocks noGrp="1"/>
          </p:cNvGraphicFramePr>
          <p:nvPr/>
        </p:nvGraphicFramePr>
        <p:xfrm>
          <a:off x="612648" y="1554480"/>
          <a:ext cx="6217920" cy="3291840"/>
        </p:xfrm>
        <a:graphic>
          <a:graphicData uri="http://schemas.openxmlformats.org/drawingml/2006/table">
            <a:tbl>
              <a:tblPr firstRow="1" bandRow="1">
                <a:tableStyleId>{5C22544A-7EE6-4342-B048-85BDC9FD1C3A}</a:tableStyleId>
              </a:tblPr>
              <a:tblGrid>
                <a:gridCol w="1371600"/>
                <a:gridCol w="4846320"/>
              </a:tblGrid>
              <a:tr h="822960">
                <a:tc>
                  <a:txBody>
                    <a:bodyPr/>
                    <a:lstStyle/>
                    <a:p>
                      <a:r>
                        <a:rPr sz="1400" b="1"/>
                        <a:t>Month</a:t>
                      </a:r>
                    </a:p>
                  </a:txBody>
                  <a:tcPr marL="73152" marR="73152" anchor="ctr"/>
                </a:tc>
                <a:tc>
                  <a:txBody>
                    <a:bodyPr/>
                    <a:lstStyle/>
                    <a:p>
                      <a:r>
                        <a:rPr sz="1400" b="1"/>
                        <a:t>Work</a:t>
                      </a:r>
                    </a:p>
                  </a:txBody>
                  <a:tcPr marL="73152" marR="73152" anchor="ctr"/>
                </a:tc>
              </a:tr>
              <a:tr h="822960">
                <a:tc>
                  <a:txBody>
                    <a:bodyPr/>
                    <a:lstStyle/>
                    <a:p>
                      <a:r>
                        <a:rPr sz="1400" b="0"/>
                        <a:t>October</a:t>
                      </a:r>
                    </a:p>
                  </a:txBody>
                  <a:tcPr marL="73152" marR="73152" anchor="ctr"/>
                </a:tc>
                <a:tc>
                  <a:txBody>
                    <a:bodyPr/>
                    <a:lstStyle/>
                    <a:p>
                      <a:r>
                        <a:rPr sz="1400" b="0"/>
                        <a:t>Train the delay model on real BTS data; build the policy retrieval (EU261, airline rules)</a:t>
                      </a:r>
                    </a:p>
                  </a:txBody>
                  <a:tcPr marL="73152" marR="73152" anchor="ctr"/>
                </a:tc>
              </a:tr>
              <a:tr h="822960">
                <a:tc>
                  <a:txBody>
                    <a:bodyPr/>
                    <a:lstStyle/>
                    <a:p>
                      <a:r>
                        <a:rPr sz="1400" b="0"/>
                        <a:t>November</a:t>
                      </a:r>
                    </a:p>
                  </a:txBody>
                  <a:tcPr marL="73152" marR="73152" anchor="ctr"/>
                </a:tc>
                <a:tc>
                  <a:txBody>
                    <a:bodyPr/>
                    <a:lstStyle/>
                    <a:p>
                      <a:r>
                        <a:rPr sz="1400" b="0"/>
                        <a:t>Build the agent workflow; run U.S. historical backtests; 5-person user test</a:t>
                      </a:r>
                    </a:p>
                  </a:txBody>
                  <a:tcPr marL="73152" marR="73152" anchor="ctr"/>
                </a:tc>
              </a:tr>
              <a:tr h="822960">
                <a:tc>
                  <a:txBody>
                    <a:bodyPr/>
                    <a:lstStyle/>
                    <a:p>
                      <a:r>
                        <a:rPr sz="1400" b="0"/>
                        <a:t>December</a:t>
                      </a:r>
                    </a:p>
                  </a:txBody>
                  <a:tcPr marL="73152" marR="73152" anchor="ctr"/>
                </a:tc>
                <a:tc>
                  <a:txBody>
                    <a:bodyPr/>
                    <a:lstStyle/>
                    <a:p>
                      <a:r>
                        <a:rPr sz="1400" b="0"/>
                        <a:t>Final delivery: live demo, results and slides</a:t>
                      </a:r>
                    </a:p>
                  </a:txBody>
                  <a:tcPr marL="73152" marR="73152" anchor="ctr"/>
                </a:tc>
              </a:tr>
            </a:tbl>
          </a:graphicData>
        </a:graphic>
      </p:graphicFrame>
      <p:graphicFrame>
        <p:nvGraphicFramePr>
          <p:cNvPr id="4" name="Table 3"/>
          <p:cNvGraphicFramePr>
            <a:graphicFrameLocks noGrp="1"/>
          </p:cNvGraphicFramePr>
          <p:nvPr/>
        </p:nvGraphicFramePr>
        <p:xfrm>
          <a:off x="7132320" y="1554480"/>
          <a:ext cx="4453128" cy="3291839"/>
        </p:xfrm>
        <a:graphic>
          <a:graphicData uri="http://schemas.openxmlformats.org/drawingml/2006/table">
            <a:tbl>
              <a:tblPr firstRow="1" bandRow="1">
                <a:tableStyleId>{5C22544A-7EE6-4342-B048-85BDC9FD1C3A}</a:tableStyleId>
              </a:tblPr>
              <a:tblGrid>
                <a:gridCol w="1645920"/>
                <a:gridCol w="2807208"/>
              </a:tblGrid>
              <a:tr h="658367">
                <a:tc>
                  <a:txBody>
                    <a:bodyPr/>
                    <a:lstStyle/>
                    <a:p>
                      <a:r>
                        <a:rPr sz="1400" b="1"/>
                        <a:t>Team member</a:t>
                      </a:r>
                    </a:p>
                  </a:txBody>
                  <a:tcPr marL="73152" marR="73152" anchor="ctr"/>
                </a:tc>
                <a:tc>
                  <a:txBody>
                    <a:bodyPr/>
                    <a:lstStyle/>
                    <a:p>
                      <a:r>
                        <a:rPr sz="1400" b="1"/>
                        <a:t>Role</a:t>
                      </a:r>
                    </a:p>
                  </a:txBody>
                  <a:tcPr marL="73152" marR="73152" anchor="ctr"/>
                </a:tc>
              </a:tr>
              <a:tr h="658367">
                <a:tc>
                  <a:txBody>
                    <a:bodyPr/>
                    <a:lstStyle/>
                    <a:p>
                      <a:r>
                        <a:rPr sz="1400" b="0"/>
                        <a:t>Agnieszka</a:t>
                      </a:r>
                    </a:p>
                  </a:txBody>
                  <a:tcPr marL="73152" marR="73152" anchor="ctr"/>
                </a:tc>
                <a:tc>
                  <a:txBody>
                    <a:bodyPr/>
                    <a:lstStyle/>
                    <a:p>
                      <a:r>
                        <a:rPr sz="1400" b="0"/>
                        <a:t>Data and timetable</a:t>
                      </a:r>
                    </a:p>
                  </a:txBody>
                  <a:tcPr marL="73152" marR="73152" anchor="ctr"/>
                </a:tc>
              </a:tr>
              <a:tr h="658367">
                <a:tc>
                  <a:txBody>
                    <a:bodyPr/>
                    <a:lstStyle/>
                    <a:p>
                      <a:r>
                        <a:rPr sz="1400" b="0"/>
                        <a:t>Regina</a:t>
                      </a:r>
                    </a:p>
                  </a:txBody>
                  <a:tcPr marL="73152" marR="73152" anchor="ctr"/>
                </a:tc>
                <a:tc>
                  <a:txBody>
                    <a:bodyPr/>
                    <a:lstStyle/>
                    <a:p>
                      <a:r>
                        <a:rPr sz="1400" b="0"/>
                        <a:t>ML delay model</a:t>
                      </a:r>
                    </a:p>
                  </a:txBody>
                  <a:tcPr marL="73152" marR="73152" anchor="ctr"/>
                </a:tc>
              </a:tr>
              <a:tr h="658367">
                <a:tc>
                  <a:txBody>
                    <a:bodyPr/>
                    <a:lstStyle/>
                    <a:p>
                      <a:r>
                        <a:rPr sz="1400" b="0"/>
                        <a:t>Delice</a:t>
                      </a:r>
                    </a:p>
                  </a:txBody>
                  <a:tcPr marL="73152" marR="73152" anchor="ctr"/>
                </a:tc>
                <a:tc>
                  <a:txBody>
                    <a:bodyPr/>
                    <a:lstStyle/>
                    <a:p>
                      <a:r>
                        <a:rPr sz="1400" b="0"/>
                        <a:t>Graph search and cost model</a:t>
                      </a:r>
                    </a:p>
                  </a:txBody>
                  <a:tcPr marL="73152" marR="73152" anchor="ctr"/>
                </a:tc>
              </a:tr>
              <a:tr h="658371">
                <a:tc>
                  <a:txBody>
                    <a:bodyPr/>
                    <a:lstStyle/>
                    <a:p>
                      <a:r>
                        <a:rPr sz="1400" b="0"/>
                        <a:t>Kofi</a:t>
                      </a:r>
                    </a:p>
                  </a:txBody>
                  <a:tcPr marL="73152" marR="73152" anchor="ctr"/>
                </a:tc>
                <a:tc>
                  <a:txBody>
                    <a:bodyPr/>
                    <a:lstStyle/>
                    <a:p>
                      <a:r>
                        <a:rPr sz="1400" b="0"/>
                        <a:t>Interface, RAG and ethics</a:t>
                      </a:r>
                    </a:p>
                  </a:txBody>
                  <a:tcPr marL="73152" marR="73152" anchor="ctr"/>
                </a:tc>
              </a:tr>
            </a:tbl>
          </a:graphicData>
        </a:graphic>
      </p:graphicFrame>
      <p:sp>
        <p:nvSpPr>
          <p:cNvPr id="5" name="Rectangle 4"/>
          <p:cNvSpPr/>
          <p:nvPr/>
        </p:nvSpPr>
        <p:spPr>
          <a:xfrm>
            <a:off x="612648" y="5074920"/>
            <a:ext cx="10972800" cy="640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sz="1500" b="0">
                <a:solidFill>
                  <a:srgbClr val="272626"/>
                </a:solidFill>
                <a:latin typeface="Arial"/>
              </a:rPr>
              <a:t>Shared GitHub repository, weekly check-ins, each change reviewed by a second teammate, backup demo video.</a:t>
            </a:r>
          </a:p>
        </p:txBody>
      </p:sp>
      <p:sp>
        <p:nvSpPr>
          <p:cNvPr id="6" name="TextBox 5"/>
          <p:cNvSpPr txBox="1"/>
          <p:nvPr/>
        </p:nvSpPr>
        <p:spPr>
          <a:xfrm>
            <a:off x="612648" y="6144768"/>
            <a:ext cx="8229600" cy="320040"/>
          </a:xfrm>
          <a:prstGeom prst="rect">
            <a:avLst/>
          </a:prstGeom>
          <a:noFill/>
        </p:spPr>
        <p:txBody>
          <a:bodyPr wrap="square">
            <a:spAutoFit/>
          </a:bodyPr>
          <a:lstStyle/>
          <a:p>
            <a:r>
              <a:rPr sz="1000" b="0">
                <a:solidFill>
                  <a:srgbClr val="6D6D6D"/>
                </a:solidFill>
              </a:rPr>
              <a:t>Final presentation date to be confirmed with the instructor.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How we will evaluate it</a:t>
            </a:r>
          </a:p>
        </p:txBody>
      </p:sp>
      <p:sp>
        <p:nvSpPr>
          <p:cNvPr id="3" name="Content Placeholder 2"/>
          <p:cNvSpPr>
            <a:spLocks noGrp="1"/>
          </p:cNvSpPr>
          <p:nvPr>
            <p:ph idx="1" sz="half"/>
          </p:nvPr>
        </p:nvSpPr>
        <p:spPr/>
        <p:txBody>
          <a:bodyPr wrap="square"/>
          <a:lstStyle/>
          <a:p>
            <a:pPr>
              <a:spcBef>
                <a:spcPts val="400"/>
              </a:spcBef>
            </a:pPr>
            <a:r>
              <a:rPr sz="1700" b="1">
                <a:solidFill>
                  <a:srgbClr val="272626"/>
                </a:solidFill>
              </a:rPr>
              <a:t>Compare against</a:t>
            </a:r>
          </a:p>
          <a:p>
            <a:pPr lvl="1">
              <a:spcBef>
                <a:spcPts val="400"/>
              </a:spcBef>
            </a:pPr>
            <a:r>
              <a:rPr sz="1500" b="0">
                <a:solidFill>
                  <a:srgbClr val="272626"/>
                </a:solidFill>
              </a:rPr>
              <a:t>Earliest arrival</a:t>
            </a:r>
          </a:p>
          <a:p>
            <a:pPr lvl="1">
              <a:spcBef>
                <a:spcPts val="400"/>
              </a:spcBef>
            </a:pPr>
            <a:r>
              <a:rPr sz="1500" b="0">
                <a:solidFill>
                  <a:srgbClr val="272626"/>
                </a:solidFill>
              </a:rPr>
              <a:t>Lowest fare</a:t>
            </a:r>
          </a:p>
          <a:p>
            <a:pPr lvl="1">
              <a:spcBef>
                <a:spcPts val="400"/>
              </a:spcBef>
            </a:pPr>
            <a:r>
              <a:rPr sz="1500" b="0">
                <a:solidFill>
                  <a:srgbClr val="272626"/>
                </a:solidFill>
              </a:rPr>
              <a:t>Next direct flight on the same airline (current default)</a:t>
            </a:r>
          </a:p>
          <a:p>
            <a:pPr>
              <a:spcBef>
                <a:spcPts val="400"/>
              </a:spcBef>
            </a:pPr>
            <a:r>
              <a:rPr sz="1700" b="1">
                <a:solidFill>
                  <a:srgbClr val="272626"/>
                </a:solidFill>
              </a:rPr>
              <a:t>Measure</a:t>
            </a:r>
          </a:p>
          <a:p>
            <a:pPr lvl="1">
              <a:spcBef>
                <a:spcPts val="400"/>
              </a:spcBef>
            </a:pPr>
            <a:r>
              <a:rPr sz="1500" b="0">
                <a:solidFill>
                  <a:srgbClr val="272626"/>
                </a:solidFill>
              </a:rPr>
              <a:t>Cost saved per disruption</a:t>
            </a:r>
          </a:p>
          <a:p>
            <a:pPr lvl="1">
              <a:spcBef>
                <a:spcPts val="400"/>
              </a:spcBef>
            </a:pPr>
            <a:r>
              <a:rPr sz="1500" b="0">
                <a:solidFill>
                  <a:srgbClr val="272626"/>
                </a:solidFill>
              </a:rPr>
              <a:t>Share of passengers arriving within 3 hours</a:t>
            </a:r>
          </a:p>
          <a:p>
            <a:pPr lvl="1">
              <a:spcBef>
                <a:spcPts val="400"/>
              </a:spcBef>
            </a:pPr>
            <a:r>
              <a:rPr sz="1500" b="0">
                <a:solidFill>
                  <a:srgbClr val="272626"/>
                </a:solidFill>
              </a:rPr>
              <a:t>Response time (about 0.2 s in the prototype)</a:t>
            </a:r>
          </a:p>
          <a:p>
            <a:pPr lvl="1">
              <a:spcBef>
                <a:spcPts val="400"/>
              </a:spcBef>
            </a:pPr>
            <a:r>
              <a:rPr sz="1500" b="0">
                <a:solidFill>
                  <a:srgbClr val="272626"/>
                </a:solidFill>
              </a:rPr>
              <a:t>User test with 5 participants</a:t>
            </a:r>
          </a:p>
        </p:txBody>
      </p:sp>
      <p:graphicFrame>
        <p:nvGraphicFramePr>
          <p:cNvPr id="4" name="Chart 3"/>
          <p:cNvGraphicFramePr>
            <a:graphicFrameLocks noGrp="1"/>
          </p:cNvGraphicFramePr>
          <p:nvPr/>
        </p:nvGraphicFramePr>
        <p:xfrm>
          <a:off x="6309360" y="1554480"/>
          <a:ext cx="5276088" cy="4023360"/>
        </p:xfrm>
        <a:graphic>
          <a:graphicData uri="http://schemas.openxmlformats.org/drawingml/2006/chart">
            <c:chart xmlns:c="http://schemas.openxmlformats.org/drawingml/2006/chart" r:id="rId2"/>
          </a:graphicData>
        </a:graphic>
      </p:graphicFrame>
      <p:sp>
        <p:nvSpPr>
          <p:cNvPr id="5" name="TextBox 4"/>
          <p:cNvSpPr txBox="1"/>
          <p:nvPr/>
        </p:nvSpPr>
        <p:spPr>
          <a:xfrm>
            <a:off x="612648" y="6144768"/>
            <a:ext cx="8229600" cy="320040"/>
          </a:xfrm>
          <a:prstGeom prst="rect">
            <a:avLst/>
          </a:prstGeom>
          <a:noFill/>
        </p:spPr>
        <p:txBody>
          <a:bodyPr wrap="square">
            <a:spAutoFit/>
          </a:bodyPr>
          <a:lstStyle/>
          <a:p>
            <a:r>
              <a:rPr sz="1000" b="0">
                <a:solidFill>
                  <a:srgbClr val="6D6D6D"/>
                </a:solidFill>
              </a:rPr>
              <a:t>Prototype simulation, about 120 traveller cases × 30 delay draws, synthetic BTS-format data. To be re-run on real 2024 data.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Ethics and safeguards</a:t>
            </a:r>
          </a:p>
        </p:txBody>
      </p:sp>
      <p:sp>
        <p:nvSpPr>
          <p:cNvPr id="3" name="Rectangle 2"/>
          <p:cNvSpPr/>
          <p:nvPr/>
        </p:nvSpPr>
        <p:spPr>
          <a:xfrm>
            <a:off x="612648" y="1645920"/>
            <a:ext cx="3474720" cy="2286000"/>
          </a:xfrm>
          <a:prstGeom prst="rect">
            <a:avLst/>
          </a:prstGeom>
          <a:noFill/>
          <a:ln w="15875">
            <a:solidFill>
              <a:srgbClr val="B2B7BB"/>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73152" bIns="73152"/>
          <a:lstStyle/>
          <a:p>
            <a:pPr algn="ctr"/>
            <a:r>
              <a:rPr sz="2000" b="1">
                <a:solidFill>
                  <a:srgbClr val="AB192D"/>
                </a:solidFill>
                <a:latin typeface="Arial"/>
              </a:rPr>
              <a:t>Human in the loop</a:t>
            </a:r>
          </a:p>
          <a:p>
            <a:r>
              <a:rPr sz="1600" b="0">
                <a:solidFill>
                  <a:srgbClr val="272626"/>
                </a:solidFill>
                <a:latin typeface="Arial"/>
              </a:rPr>
              <a:t>Decision support only. A named agent signs off every rebooking; overrides are logged and reviewed.</a:t>
            </a:r>
          </a:p>
        </p:txBody>
      </p:sp>
      <p:sp>
        <p:nvSpPr>
          <p:cNvPr id="4" name="Rectangle 3"/>
          <p:cNvSpPr/>
          <p:nvPr/>
        </p:nvSpPr>
        <p:spPr>
          <a:xfrm>
            <a:off x="4361688" y="1645920"/>
            <a:ext cx="3474720" cy="2286000"/>
          </a:xfrm>
          <a:prstGeom prst="rect">
            <a:avLst/>
          </a:prstGeom>
          <a:noFill/>
          <a:ln w="15875">
            <a:solidFill>
              <a:srgbClr val="B2B7BB"/>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73152" bIns="73152"/>
          <a:lstStyle/>
          <a:p>
            <a:pPr algn="ctr"/>
            <a:r>
              <a:rPr sz="2000" b="1">
                <a:solidFill>
                  <a:srgbClr val="AB192D"/>
                </a:solidFill>
                <a:latin typeface="Arial"/>
              </a:rPr>
              <a:t>Equity</a:t>
            </a:r>
          </a:p>
          <a:p>
            <a:r>
              <a:rPr sz="1600" b="0">
                <a:solidFill>
                  <a:srgbClr val="272626"/>
                </a:solidFill>
                <a:latin typeface="Arial"/>
              </a:rPr>
              <a:t>Priority rules for minors, medical needs and reduced mobility come before any value-of-time calculation.</a:t>
            </a:r>
          </a:p>
        </p:txBody>
      </p:sp>
      <p:sp>
        <p:nvSpPr>
          <p:cNvPr id="5" name="Rectangle 4"/>
          <p:cNvSpPr/>
          <p:nvPr/>
        </p:nvSpPr>
        <p:spPr>
          <a:xfrm>
            <a:off x="8110727" y="1645920"/>
            <a:ext cx="3474720" cy="2286000"/>
          </a:xfrm>
          <a:prstGeom prst="rect">
            <a:avLst/>
          </a:prstGeom>
          <a:noFill/>
          <a:ln w="15875">
            <a:solidFill>
              <a:srgbClr val="B2B7BB"/>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73152" bIns="73152"/>
          <a:lstStyle/>
          <a:p>
            <a:pPr algn="ctr"/>
            <a:r>
              <a:rPr sz="2000" b="1">
                <a:solidFill>
                  <a:srgbClr val="AB192D"/>
                </a:solidFill>
                <a:latin typeface="Arial"/>
              </a:rPr>
              <a:t>Legal accuracy</a:t>
            </a:r>
          </a:p>
          <a:p>
            <a:r>
              <a:rPr sz="1600" b="0">
                <a:solidFill>
                  <a:srgbClr val="272626"/>
                </a:solidFill>
                <a:latin typeface="Arial"/>
              </a:rPr>
              <a:t>Explanations may only use retrieved, cited policy text and the model's numbers, so passenger rights are not invented.</a:t>
            </a:r>
          </a:p>
        </p:txBody>
      </p:sp>
      <p:sp>
        <p:nvSpPr>
          <p:cNvPr id="6" name="Rectangle 5"/>
          <p:cNvSpPr/>
          <p:nvPr/>
        </p:nvSpPr>
        <p:spPr>
          <a:xfrm>
            <a:off x="612648" y="4206240"/>
            <a:ext cx="10972800" cy="7315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sz="1500" b="0">
                <a:solidFill>
                  <a:srgbClr val="272626"/>
                </a:solidFill>
                <a:latin typeface="Arial"/>
              </a:rPr>
              <a:t>Also: itinerary data only (no payment data), separate-ticket options clearly labelled, and stated limits of a U.S.-trained model.</a:t>
            </a:r>
          </a:p>
        </p:txBody>
      </p:sp>
      <p:sp>
        <p:nvSpPr>
          <p:cNvPr id="7" name="TextBox 6"/>
          <p:cNvSpPr txBox="1"/>
          <p:nvPr/>
        </p:nvSpPr>
        <p:spPr>
          <a:xfrm>
            <a:off x="612648" y="6144768"/>
            <a:ext cx="8229600" cy="320040"/>
          </a:xfrm>
          <a:prstGeom prst="rect">
            <a:avLst/>
          </a:prstGeom>
          <a:noFill/>
        </p:spPr>
        <p:txBody>
          <a:bodyPr wrap="square">
            <a:spAutoFit/>
          </a:bodyPr>
          <a:lstStyle/>
          <a:p>
            <a:r>
              <a:rPr sz="1000" b="0">
                <a:solidFill>
                  <a:srgbClr val="6D6D6D"/>
                </a:solidFill>
              </a:rPr>
              <a:t>Questions welcome. Appendix: prior work, data sources, references.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Prior work, data sources and references</a:t>
            </a:r>
          </a:p>
        </p:txBody>
      </p:sp>
      <p:sp>
        <p:nvSpPr>
          <p:cNvPr id="3" name="Title 2"/>
          <p:cNvSpPr>
            <a:spLocks noGrp="1"/>
          </p:cNvSpPr>
          <p:nvPr>
            <p:ph type="ctrTitle"/>
          </p:nvPr>
        </p:nvSpPr>
        <p:spPr/>
        <p:txBody>
          <a:bodyPr/>
          <a:lstStyle/>
          <a:p>
            <a:r>
              <a:t>Appendix</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Appendix A: Prior work</a:t>
            </a:r>
          </a:p>
        </p:txBody>
      </p:sp>
      <p:sp>
        <p:nvSpPr>
          <p:cNvPr id="3" name="Content Placeholder 2"/>
          <p:cNvSpPr>
            <a:spLocks noGrp="1"/>
          </p:cNvSpPr>
          <p:nvPr>
            <p:ph idx="1" sz="half"/>
          </p:nvPr>
        </p:nvSpPr>
        <p:spPr/>
        <p:txBody>
          <a:bodyPr wrap="square"/>
          <a:lstStyle/>
          <a:p>
            <a:pPr>
              <a:spcBef>
                <a:spcPts val="800"/>
              </a:spcBef>
            </a:pPr>
            <a:r>
              <a:rPr sz="1600" b="0">
                <a:solidFill>
                  <a:srgbClr val="272626"/>
                </a:solidFill>
              </a:rPr>
              <a:t>Wu et al. (2025): review of 169 key airline recovery studies; future directions include real-time recovery with uncertain parameters and human factors</a:t>
            </a:r>
          </a:p>
          <a:p>
            <a:pPr>
              <a:spcBef>
                <a:spcPts val="800"/>
              </a:spcBef>
            </a:pPr>
            <a:r>
              <a:rPr sz="1600" b="0">
                <a:solidFill>
                  <a:srgbClr val="272626"/>
                </a:solidFill>
              </a:rPr>
              <a:t>Lu et al. (2025): passenger transfer costs (refunds, same-airline and other-airline rebooking, overnight stays); recovering every flight is not always cheapest</a:t>
            </a:r>
          </a:p>
          <a:p>
            <a:pPr>
              <a:spcBef>
                <a:spcPts val="800"/>
              </a:spcBef>
            </a:pPr>
            <a:r>
              <a:rPr sz="1600" b="0">
                <a:solidFill>
                  <a:srgbClr val="272626"/>
                </a:solidFill>
              </a:rPr>
              <a:t>Clausen et al. (2010); Bratu &amp; Barnhart (2006): disruption management and passenger-aware recovery</a:t>
            </a:r>
          </a:p>
        </p:txBody>
      </p:sp>
      <p:sp>
        <p:nvSpPr>
          <p:cNvPr id="4" name="Content Placeholder 3"/>
          <p:cNvSpPr>
            <a:spLocks noGrp="1"/>
          </p:cNvSpPr>
          <p:nvPr>
            <p:ph idx="2" sz="half"/>
          </p:nvPr>
        </p:nvSpPr>
        <p:spPr/>
        <p:txBody>
          <a:bodyPr wrap="square"/>
          <a:lstStyle/>
          <a:p>
            <a:pPr>
              <a:spcBef>
                <a:spcPts val="800"/>
              </a:spcBef>
            </a:pPr>
            <a:r>
              <a:rPr sz="1600" b="1">
                <a:solidFill>
                  <a:srgbClr val="272626"/>
                </a:solidFill>
              </a:rPr>
              <a:t>What ReRouteAI adds</a:t>
            </a:r>
          </a:p>
          <a:p>
            <a:pPr lvl="1">
              <a:spcBef>
                <a:spcPts val="800"/>
              </a:spcBef>
            </a:pPr>
            <a:r>
              <a:rPr sz="1400" b="0">
                <a:solidFill>
                  <a:srgbClr val="272626"/>
                </a:solidFill>
              </a:rPr>
              <a:t>Decision for one passenger in real time</a:t>
            </a:r>
          </a:p>
          <a:p>
            <a:pPr lvl="1">
              <a:spcBef>
                <a:spcPts val="800"/>
              </a:spcBef>
            </a:pPr>
            <a:r>
              <a:rPr sz="1400" b="0">
                <a:solidFill>
                  <a:srgbClr val="272626"/>
                </a:solidFill>
              </a:rPr>
              <a:t>Probability for each connection instead of fixed rates</a:t>
            </a:r>
          </a:p>
          <a:p>
            <a:pPr lvl="1">
              <a:spcBef>
                <a:spcPts val="800"/>
              </a:spcBef>
            </a:pPr>
            <a:r>
              <a:rPr sz="1400" b="0">
                <a:solidFill>
                  <a:srgbClr val="272626"/>
                </a:solidFill>
              </a:rPr>
              <a:t>Other-airline seats and EU261 in one cost score</a:t>
            </a:r>
          </a:p>
          <a:p>
            <a:pPr lvl="1">
              <a:spcBef>
                <a:spcPts val="800"/>
              </a:spcBef>
            </a:pPr>
            <a:r>
              <a:rPr sz="1400" b="0">
                <a:solidFill>
                  <a:srgbClr val="272626"/>
                </a:solidFill>
              </a:rPr>
              <a:t>User-set time vs cost priority</a:t>
            </a:r>
          </a:p>
          <a:p>
            <a:pPr lvl="1">
              <a:spcBef>
                <a:spcPts val="800"/>
              </a:spcBef>
            </a:pPr>
            <a:r>
              <a:rPr sz="1400" b="0">
                <a:solidFill>
                  <a:srgbClr val="272626"/>
                </a:solidFill>
              </a:rPr>
              <a:t>Cited explanation and human approval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Appendix B: Data and feasibility</a:t>
            </a:r>
          </a:p>
        </p:txBody>
      </p:sp>
      <p:sp>
        <p:nvSpPr>
          <p:cNvPr id="3" name="Content Placeholder 2"/>
          <p:cNvSpPr>
            <a:spLocks noGrp="1"/>
          </p:cNvSpPr>
          <p:nvPr>
            <p:ph idx="1"/>
          </p:nvPr>
        </p:nvSpPr>
        <p:spPr/>
        <p:txBody>
          <a:bodyPr wrap="square"/>
          <a:lstStyle/>
          <a:p>
            <a:pPr>
              <a:spcBef>
                <a:spcPts val="800"/>
              </a:spcBef>
            </a:pPr>
            <a:r>
              <a:rPr sz="1800" b="0">
                <a:solidFill>
                  <a:srgbClr val="272626"/>
                </a:solidFill>
              </a:rPr>
              <a:t>Real history: U.S. BTS TranStats, “Reporting Carrier On-Time Performance (1987–present)”; train on January–September, test on October–December</a:t>
            </a:r>
          </a:p>
          <a:p>
            <a:pPr>
              <a:spcBef>
                <a:spcPts val="800"/>
              </a:spcBef>
            </a:pPr>
            <a:r>
              <a:rPr sz="1800" b="0">
                <a:solidFill>
                  <a:srgbClr val="272626"/>
                </a:solidFill>
              </a:rPr>
              <a:t>Backtest: an all-U.S. connection (for example BOS → ORD → MSP), replaying real 2024 delays</a:t>
            </a:r>
          </a:p>
          <a:p>
            <a:pPr>
              <a:spcBef>
                <a:spcPts val="800"/>
              </a:spcBef>
            </a:pPr>
            <a:r>
              <a:rPr sz="1800" b="0">
                <a:solidFill>
                  <a:srgbClr val="272626"/>
                </a:solidFill>
              </a:rPr>
              <a:t>Zürich scenario: documented timetable; fares, seats and connection times marked as illustrative</a:t>
            </a:r>
          </a:p>
          <a:p>
            <a:pPr>
              <a:spcBef>
                <a:spcPts val="800"/>
              </a:spcBef>
            </a:pPr>
            <a:r>
              <a:rPr sz="1800" b="0">
                <a:solidFill>
                  <a:srgbClr val="272626"/>
                </a:solidFill>
              </a:rPr>
              <a:t>Not claimed: live seat inventory, interline ticketing rights, or delay calibration for European airports</a:t>
            </a:r>
          </a:p>
        </p:txBody>
      </p:sp>
      <p:sp>
        <p:nvSpPr>
          <p:cNvPr id="4" name="TextBox 3"/>
          <p:cNvSpPr txBox="1"/>
          <p:nvPr/>
        </p:nvSpPr>
        <p:spPr>
          <a:xfrm>
            <a:off x="612648" y="6144768"/>
            <a:ext cx="8229600" cy="320040"/>
          </a:xfrm>
          <a:prstGeom prst="rect">
            <a:avLst/>
          </a:prstGeom>
          <a:noFill/>
        </p:spPr>
        <p:txBody>
          <a:bodyPr wrap="square">
            <a:spAutoFit/>
          </a:bodyPr>
          <a:lstStyle/>
          <a:p>
            <a:r>
              <a:rPr sz="1000" b="0">
                <a:solidFill>
                  <a:srgbClr val="6D6D6D"/>
                </a:solidFill>
              </a:rPr>
              <a:t>Download path: transtats.bts.gov → Aviation → Airline On-Time Performance Data.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Appendix C: References</a:t>
            </a:r>
          </a:p>
        </p:txBody>
      </p:sp>
      <p:sp>
        <p:nvSpPr>
          <p:cNvPr id="3" name="Content Placeholder 2"/>
          <p:cNvSpPr>
            <a:spLocks noGrp="1"/>
          </p:cNvSpPr>
          <p:nvPr>
            <p:ph idx="1"/>
          </p:nvPr>
        </p:nvSpPr>
        <p:spPr/>
        <p:txBody>
          <a:bodyPr wrap="square"/>
          <a:lstStyle/>
          <a:p>
            <a:pPr>
              <a:spcBef>
                <a:spcPts val="800"/>
              </a:spcBef>
            </a:pPr>
            <a:r>
              <a:rPr sz="1300" b="0">
                <a:solidFill>
                  <a:srgbClr val="272626"/>
                </a:solidFill>
              </a:rPr>
              <a:t>Bratu, S., &amp; Barnhart, C. (2006). Flight operations recovery: New approaches considering passenger recovery. Journal of Scheduling, 9(3), 279–298.</a:t>
            </a:r>
          </a:p>
          <a:p>
            <a:pPr>
              <a:spcBef>
                <a:spcPts val="800"/>
              </a:spcBef>
            </a:pPr>
            <a:r>
              <a:rPr sz="1300" b="0">
                <a:solidFill>
                  <a:srgbClr val="272626"/>
                </a:solidFill>
              </a:rPr>
              <a:t>Clausen, J., Larsen, A., Larsen, J., &amp; Rezanova, N. J. (2010). Disruption management in the airline industry: Concepts, models and methods. Computers &amp; Operations Research, 37(5), 809–821.</a:t>
            </a:r>
          </a:p>
          <a:p>
            <a:pPr>
              <a:spcBef>
                <a:spcPts val="800"/>
              </a:spcBef>
            </a:pPr>
            <a:r>
              <a:rPr sz="1300" b="0">
                <a:solidFill>
                  <a:srgbClr val="272626"/>
                </a:solidFill>
              </a:rPr>
              <a:t>Lu, L., Xu, Y., Fan, W., Pan, H., Ip, W., &amp; Yung, K. L. (2025). Research on the recovery method of disrupted flights considering passenger transfer and cancellation costs. Operations Management Research, 18, 691–717. https://doi.org/10.1007/s12063-024-00530-z</a:t>
            </a:r>
          </a:p>
          <a:p>
            <a:pPr>
              <a:spcBef>
                <a:spcPts val="800"/>
              </a:spcBef>
            </a:pPr>
            <a:r>
              <a:rPr sz="1300" b="0">
                <a:solidFill>
                  <a:srgbClr val="272626"/>
                </a:solidFill>
              </a:rPr>
              <a:t>Wu, S., Liu, E., Cao, R., &amp; Bai, Q. (2025). Airline recovery problem under disruptions: A review. Computers &amp; Operations Research, 175, 106915. https://doi.org/10.1016/j.cor.2024.106915</a:t>
            </a:r>
          </a:p>
          <a:p>
            <a:pPr>
              <a:spcBef>
                <a:spcPts val="800"/>
              </a:spcBef>
            </a:pPr>
            <a:r>
              <a:rPr sz="1300" b="0">
                <a:solidFill>
                  <a:srgbClr val="272626"/>
                </a:solidFill>
              </a:rPr>
              <a:t>Regulation (EC) No 261/2004 of the European Parliament and of the Council. Official Journal of the European Union, L 46, 1–8.</a:t>
            </a:r>
          </a:p>
          <a:p>
            <a:pPr>
              <a:spcBef>
                <a:spcPts val="800"/>
              </a:spcBef>
            </a:pPr>
            <a:r>
              <a:rPr sz="1300" b="0">
                <a:solidFill>
                  <a:srgbClr val="272626"/>
                </a:solidFill>
              </a:rPr>
              <a:t>Court of Justice of the EU: Sturgeon and Others, C-402/07 and C-432/07 (2009); Folkerts, C-11/11 (2013).</a:t>
            </a:r>
          </a:p>
          <a:p>
            <a:pPr>
              <a:spcBef>
                <a:spcPts val="800"/>
              </a:spcBef>
            </a:pPr>
            <a:r>
              <a:rPr sz="1300" b="0">
                <a:solidFill>
                  <a:srgbClr val="272626"/>
                </a:solidFill>
              </a:rPr>
              <a:t>U.S. Bureau of Transportation Statistics. Reporting Carrier On-Time Performance (1987–present). TranStats.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5e1d76e6ed25a0b9acc172e1212e12c5ea2ecb"/>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PI-White">
  <a:themeElements>
    <a:clrScheme name="Custom 56">
      <a:dk1>
        <a:sysClr val="windowText" lastClr="000000"/>
      </a:dk1>
      <a:lt1>
        <a:sysClr val="window" lastClr="FFFFFF"/>
      </a:lt1>
      <a:dk2>
        <a:srgbClr val="6D6D6D"/>
      </a:dk2>
      <a:lt2>
        <a:srgbClr val="AB192D"/>
      </a:lt2>
      <a:accent1>
        <a:srgbClr val="AB192D"/>
      </a:accent1>
      <a:accent2>
        <a:srgbClr val="B2B7BB"/>
      </a:accent2>
      <a:accent3>
        <a:srgbClr val="2C6A8C"/>
      </a:accent3>
      <a:accent4>
        <a:srgbClr val="B7A079"/>
      </a:accent4>
      <a:accent5>
        <a:srgbClr val="46A0DC"/>
      </a:accent5>
      <a:accent6>
        <a:srgbClr val="6D6D6D"/>
      </a:accent6>
      <a:hlink>
        <a:srgbClr val="46A0DC"/>
      </a:hlink>
      <a:folHlink>
        <a:srgbClr val="808DA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wsPrint">
      <a:fillStyleLst>
        <a:solidFill>
          <a:schemeClr val="phClr"/>
        </a:solidFill>
        <a:gradFill rotWithShape="1">
          <a:gsLst>
            <a:gs pos="0">
              <a:schemeClr val="phClr">
                <a:tint val="37000"/>
                <a:hueMod val="100000"/>
                <a:satMod val="200000"/>
                <a:lumMod val="88000"/>
              </a:schemeClr>
            </a:gs>
            <a:gs pos="100000">
              <a:schemeClr val="phClr">
                <a:tint val="53000"/>
                <a:shade val="100000"/>
                <a:hueMod val="100000"/>
                <a:satMod val="350000"/>
                <a:lumMod val="79000"/>
              </a:schemeClr>
            </a:gs>
          </a:gsLst>
          <a:lin ang="5400000" scaled="1"/>
        </a:gradFill>
        <a:gradFill rotWithShape="1">
          <a:gsLst>
            <a:gs pos="0">
              <a:schemeClr val="phClr">
                <a:tint val="83000"/>
                <a:shade val="100000"/>
                <a:alpha val="100000"/>
                <a:hueMod val="100000"/>
                <a:satMod val="220000"/>
                <a:lumMod val="90000"/>
              </a:schemeClr>
            </a:gs>
            <a:gs pos="76000">
              <a:schemeClr val="phClr">
                <a:shade val="100000"/>
              </a:schemeClr>
            </a:gs>
            <a:gs pos="100000">
              <a:schemeClr val="phClr">
                <a:shade val="93000"/>
                <a:alpha val="100000"/>
                <a:satMod val="100000"/>
                <a:lumMod val="93000"/>
              </a:schemeClr>
            </a:gs>
          </a:gsLst>
          <a:path path="circle">
            <a:fillToRect l="15000" t="15000" r="100000" b="100000"/>
          </a:path>
        </a:gradFill>
      </a:fillStyleLst>
      <a:lnStyleLst>
        <a:ln w="15875" cap="flat" cmpd="sng" algn="ctr">
          <a:solidFill>
            <a:schemeClr val="phClr"/>
          </a:solidFill>
          <a:prstDash val="solid"/>
        </a:ln>
        <a:ln w="22225" cap="flat" cmpd="sng" algn="ctr">
          <a:solidFill>
            <a:schemeClr val="phClr"/>
          </a:solidFill>
          <a:prstDash val="solid"/>
        </a:ln>
        <a:ln w="34925" cap="flat" cmpd="sng" algn="ctr">
          <a:solidFill>
            <a:schemeClr val="phClr"/>
          </a:solidFill>
          <a:prstDash val="solid"/>
        </a:ln>
      </a:lnStyleLst>
      <a:effectStyleLst>
        <a:effectStyle>
          <a:effectLst>
            <a:outerShdw blurRad="50800" dist="12700" dir="5280000" rotWithShape="0">
              <a:srgbClr val="000000">
                <a:alpha val="40000"/>
              </a:srgbClr>
            </a:outerShdw>
          </a:effectLst>
        </a:effectStyle>
        <a:effectStyle>
          <a:effectLst>
            <a:outerShdw blurRad="38100" dist="38100" dir="5400000" rotWithShape="0">
              <a:srgbClr val="000000">
                <a:alpha val="35000"/>
              </a:srgbClr>
            </a:outerShdw>
          </a:effectLst>
        </a:effectStyle>
        <a:effectStyle>
          <a:effectLst>
            <a:outerShdw blurRad="38100" dist="38100" dir="5400000" rotWithShape="0">
              <a:srgbClr val="000000">
                <a:alpha val="35000"/>
              </a:srgbClr>
            </a:outerShdw>
          </a:effectLst>
          <a:scene3d>
            <a:camera prst="orthographicFront">
              <a:rot lat="0" lon="0" rev="0"/>
            </a:camera>
            <a:lightRig rig="brightRoom" dir="tl"/>
          </a:scene3d>
          <a:sp3d contourW="12700">
            <a:bevelT w="31750" h="12700"/>
            <a:contourClr>
              <a:schemeClr val="phClr"/>
            </a:contourClr>
          </a:sp3d>
        </a:effectStyle>
      </a:effectStyleLst>
      <a:bgFillStyleLst>
        <a:solidFill>
          <a:schemeClr val="phClr"/>
        </a:solidFill>
        <a:gradFill rotWithShape="1">
          <a:gsLst>
            <a:gs pos="0">
              <a:schemeClr val="phClr">
                <a:tint val="93000"/>
              </a:schemeClr>
            </a:gs>
            <a:gs pos="100000">
              <a:schemeClr val="phClr">
                <a:shade val="55000"/>
              </a:schemeClr>
            </a:gs>
          </a:gsLst>
          <a:lin ang="5400000" scaled="1"/>
        </a:gradFill>
        <a:blipFill rotWithShape="1">
          <a:blip xmlns:r="http://schemas.openxmlformats.org/officeDocument/2006/relationships" r:embed="rId1">
            <a:duotone>
              <a:schemeClr val="phClr">
                <a:shade val="20000"/>
                <a:satMod val="350000"/>
                <a:lumMod val="125000"/>
              </a:schemeClr>
              <a:schemeClr val="phClr">
                <a:tint val="90000"/>
                <a:satMod val="250000"/>
              </a:schemeClr>
            </a:duotone>
          </a:blip>
          <a:stretch/>
        </a:blipFill>
      </a:bgFillStyleLst>
    </a:fmtScheme>
  </a:themeElements>
  <a:objectDefaults>
    <a:spDef>
      <a:spPr bwMode="auto">
        <a:solidFill>
          <a:schemeClr val="accent2"/>
        </a:solidFill>
        <a:ln w="12700" cap="sq" algn="ctr">
          <a:solidFill>
            <a:schemeClr val="tx2"/>
          </a:solidFill>
          <a:miter lim="800000"/>
          <a:headEnd/>
          <a:tailEnd/>
        </a:ln>
        <a:effectLst/>
      </a:spPr>
      <a:bodyPr wrap="none" anchor="ctr"/>
      <a:lstStyle>
        <a:defPPr algn="ctr">
          <a:defRPr sz="1600" dirty="0" smtClean="0">
            <a:solidFill>
              <a:schemeClr val="bg1"/>
            </a:solidFill>
            <a:latin typeface="+mn-lt"/>
          </a:defRPr>
        </a:defPPr>
      </a:lstStyle>
    </a:spDef>
    <a:txDef>
      <a:spPr>
        <a:noFill/>
      </a:spPr>
      <a:bodyPr wrap="none" rtlCol="0">
        <a:noAutofit/>
      </a:bodyPr>
      <a:lstStyle>
        <a:defPPr algn="ctr">
          <a:defRPr sz="1600" dirty="0" err="1" smtClean="0"/>
        </a:defPPr>
      </a:lstStyle>
    </a:txDef>
  </a:objectDefaults>
  <a:extraClrSchemeLst/>
  <a:extLst>
    <a:ext uri="{05A4C25C-085E-4340-85A3-A5531E510DB2}">
      <thm15:themeFamily xmlns:thm15="http://schemas.microsoft.com/office/thememl/2012/main" name="WPI_University_Powerpointtemplate_wide" id="{9C2DA543-CD7E-4A5E-AD34-4D91D35A4DE4}" vid="{C6AD18C4-18DF-4131-AC4D-F1EFF5ED718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281</TotalTime>
  <Words>624</Words>
  <Application>Microsoft Macintosh PowerPoint</Application>
  <PresentationFormat>Widescreen</PresentationFormat>
  <Paragraphs>164</Paragraphs>
  <Slides>22</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Courier New</vt:lpstr>
      <vt:lpstr>Verdana</vt:lpstr>
      <vt:lpstr>Wingdings</vt:lpstr>
      <vt:lpstr>WPI-White</vt:lpstr>
      <vt:lpstr>PowerPoint Presentation</vt:lpstr>
      <vt:lpstr>Presentation Title, Arial Bold 40pt</vt:lpstr>
      <vt:lpstr>Section Divider, Arial Bold 40pt</vt:lpstr>
      <vt:lpstr>Layout: One Column Content Arial Bold 36pt</vt:lpstr>
      <vt:lpstr>Layout: Two Column Content Arial Bold 36pt</vt:lpstr>
      <vt:lpstr>Layout: 6 Photos Arial Bold 36pt</vt:lpstr>
      <vt:lpstr>Layout: Content Left and Photo Arial Bold 36pt</vt:lpstr>
      <vt:lpstr>Layout: Content Right and Photo Arial Bold 36pt</vt:lpstr>
      <vt:lpstr>Layout: Content Left and 4 Photos Arial Bold 36pt</vt:lpstr>
      <vt:lpstr>PowerPoint Presentation</vt:lpstr>
      <vt:lpstr>Layout: 3 Photos with Captions Arial Bold 36pt</vt:lpstr>
      <vt:lpstr>Layout: 3 Table/Charts with Captions Arial Bold 36pt</vt:lpstr>
      <vt:lpstr>Layout: Table/Chart Arial Bold 36pt</vt:lpstr>
      <vt:lpstr>PowerPoint Presentation</vt:lpstr>
      <vt:lpstr> Default Table Style</vt:lpstr>
      <vt:lpstr>Layout: Content Column Chart Sample</vt:lpstr>
      <vt:lpstr>Layout: Content  Line Chart Sample</vt:lpstr>
      <vt:lpstr>Layout: Content  Pie Charts Sample </vt:lpstr>
      <vt:lpstr>Default Settings</vt:lpstr>
      <vt:lpstr>Color Scheme</vt:lpstr>
      <vt:lpstr>PowerPoint Presentation</vt:lpstr>
      <vt:lpstr>PowerPoint Presentation</vt:lpstr>
    </vt:vector>
  </TitlesOfParts>
  <Company>WPI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This Will Work</dc:title>
  <dc:creator>Siegel, Kyle</dc:creator>
  <cp:lastModifiedBy>Donahue, Mariah</cp:lastModifiedBy>
  <cp:revision>24</cp:revision>
  <cp:lastPrinted>2023-02-14T12:46:00Z</cp:lastPrinted>
  <dcterms:created xsi:type="dcterms:W3CDTF">2023-02-08T18:44:35Z</dcterms:created>
  <dcterms:modified xsi:type="dcterms:W3CDTF">2023-12-05T21:28:33Z</dcterms:modified>
</cp:coreProperties>
</file>