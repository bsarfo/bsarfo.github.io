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4F8FC"/>
                </a:solidFill>
                <a:latin typeface="Aptos"/>
              </a:defRPr>
            </a:pPr>
            <a:r>
              <a:rPr sz="1400" b="0" i="0" u="none" strike="noStrike">
                <a:solidFill>
                  <a:srgbClr val="F4F8FC"/>
                </a:solidFill>
                <a:latin typeface="Aptos"/>
              </a:rPr>
              <a:t>Early result: realised cost per disrupted traveller ($)</a:t>
            </a:r>
          </a:p>
        </c:rich>
      </c:tx>
      <c:layout/>
      <c:overlay val="0"/>
    </c:title>
    <c:autoTitleDeleted val="0"/>
    <c:plotArea>
      <c:layout/>
      <c:barChart>
        <c:barDir val="bar"/>
        <c:grouping val="stacked"/>
        <c:varyColors val="0"/>
        <c:ser>
          <c:idx val="0"/>
          <c:order val="0"/>
          <c:tx>
            <c:strRef>
              <c:f>Sheet1!$B$1</c:f>
              <c:strCache>
                <c:ptCount val="1"/>
                <c:pt idx="0">
                  <c:v>ReRouteAI</c:v>
                </c:pt>
              </c:strCache>
            </c:strRef>
          </c:tx>
          <c:spPr>
            <a:solidFill>
              <a:srgbClr val="45D7E8"/>
            </a:solidFill>
            <a:effectLst/>
          </c:spPr>
          <c:invertIfNegative val="0"/>
          <c:dLbls>
            <c:numFmt formatCode="$#,##0;;" sourceLinked="0"/>
            <c:txPr>
              <a:bodyPr/>
              <a:lstStyle/>
              <a:p>
                <a:pPr>
                  <a:defRPr b="1" i="0" strike="noStrike" sz="1200" u="none">
                    <a:solidFill>
                      <a:srgbClr val="071627"/>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ReRouteAI</c:v>
                  </c:pt>
                  <c:pt idx="1">
                    <c:v>Earliest arrival</c:v>
                  </c:pt>
                  <c:pt idx="2">
                    <c:v>Lowest fare</c:v>
                  </c:pt>
                  <c:pt idx="3">
                    <c:v>Next direct, same airline</c:v>
                  </c:pt>
                </c:lvl>
              </c:multiLvlStrCache>
            </c:multiLvlStrRef>
          </c:cat>
          <c:val>
            <c:numRef>
              <c:f>Sheet1!$B$2:$B$5</c:f>
              <c:numCache>
                <c:formatCode>General</c:formatCode>
                <c:ptCount val="4"/>
                <c:pt idx="0">
                  <c:v>729</c:v>
                </c:pt>
                <c:pt idx="1">
                  <c:v>0</c:v>
                </c:pt>
                <c:pt idx="2">
                  <c:v>0</c:v>
                </c:pt>
                <c:pt idx="3">
                  <c:v>0</c:v>
                </c:pt>
              </c:numCache>
            </c:numRef>
          </c:val>
        </c:ser>
        <c:ser>
          <c:idx val="1"/>
          <c:order val="1"/>
          <c:tx>
            <c:strRef>
              <c:f>Sheet1!$C$1</c:f>
              <c:strCache>
                <c:ptCount val="1"/>
                <c:pt idx="0">
                  <c:v>Baselines</c:v>
                </c:pt>
              </c:strCache>
            </c:strRef>
          </c:tx>
          <c:spPr>
            <a:solidFill>
              <a:srgbClr val="4A6A85"/>
            </a:solidFill>
            <a:effectLst/>
          </c:spPr>
          <c:invertIfNegative val="0"/>
          <c:dLbls>
            <c:numFmt formatCode="$#,##0;;" sourceLinked="0"/>
            <c:txPr>
              <a:bodyPr/>
              <a:lstStyle/>
              <a:p>
                <a:pPr>
                  <a:defRPr b="1" i="0" strike="noStrike" sz="1200" u="none">
                    <a:solidFill>
                      <a:srgbClr val="071627"/>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ReRouteAI</c:v>
                  </c:pt>
                  <c:pt idx="1">
                    <c:v>Earliest arrival</c:v>
                  </c:pt>
                  <c:pt idx="2">
                    <c:v>Lowest fare</c:v>
                  </c:pt>
                  <c:pt idx="3">
                    <c:v>Next direct, same airline</c:v>
                  </c:pt>
                </c:lvl>
              </c:multiLvlStrCache>
            </c:multiLvlStrRef>
          </c:cat>
          <c:val>
            <c:numRef>
              <c:f>Sheet1!$C$2:$C$5</c:f>
              <c:numCache>
                <c:formatCode>General</c:formatCode>
                <c:ptCount val="4"/>
                <c:pt idx="0">
                  <c:v>0</c:v>
                </c:pt>
                <c:pt idx="1">
                  <c:v>806</c:v>
                </c:pt>
                <c:pt idx="2">
                  <c:v>866</c:v>
                </c:pt>
                <c:pt idx="3">
                  <c:v>962</c:v>
                </c:pt>
              </c:numCache>
            </c:numRef>
          </c:val>
        </c:ser>
        <c:dLbls>
          <c:numFmt formatCode="$#,##0;;" sourceLinked="0"/>
          <c:txPr>
            <a:bodyPr/>
            <a:lstStyle/>
            <a:p>
              <a:pPr>
                <a:defRPr b="1" i="0" strike="noStrike" sz="1200" u="none">
                  <a:solidFill>
                    <a:srgbClr val="071627"/>
                  </a:solidFill>
                  <a:latin typeface="Arial"/>
                </a:defRPr>
              </a:pPr>
            </a:p>
          </c:txPr>
          <c:dLblPos val="inEnd"/>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F4F8FC"/>
                </a:solidFill>
                <a:latin typeface="Aptos"/>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1263B"/>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Introduce the team and roles in one sentence each. Say up front that we already have a working prototype, so everything we propose is grounded in something that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Tell the story: Boston to Zürich to Warsaw, the inbound flight lands 95 minutes late and the Warsaw connection is gone. The traveller needs a new plan; the airline needs one that does not blow up its costs. There are many possible reroutes, and they differ in how likely they are to work. Under European rules, arriving four or more hours late on this journey can cost the airline 600 euros per passenger.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1:00–2:00. Name the end user clearly: the airline agent who rebooks misconnected passengers. List what one misconnection costs. Read the one-sentence pitch at the bottom slowly; it is the rubric's problem statement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2:00–3:00. Walk through C1, C2 and C3. The key line is C2: this decision is uncertain, combinatorial and governed by written rules, so it needs prediction, search and retrieval. A single fixed rule cannot do any of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3:00–3:50. Frame it as input, processing, output. Four AI components, each mapped to a course module: supervised learning, search, optimization, and RAG with an agent. Stress that the system recommends and a human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3:50–4:40. Everything becomes dollars so very different outcomes can be compared, exactly like the VectorDash exercise. The failure term matters: a tight connection that fails sends the traveller to a worse fallback. On the right, EU261 is a step function, which is why arriving just under four hours late can save the airline 300 euros.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4:40–5:30. Left: the model predicts a full delay distribution, so we can ask the exact question a connection needs. Right: the time-expanded graph from Class 4. Taking minus log of the probability turns multiplied risks into added costs, so Dijkstra and A* still find the true best route. In the prototype A* checks half as many nodes and gets the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5:30–6:20. Research on airline recovery exists, mostly optimizing the airline's whole schedule. Delay prediction on BTS data is common. Our contribution is the combination for one passenger: calibrated risk, regulatory step costs, adjustable priorities and cited explanations. Team: read both papers before presenting so you can answer questions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6:20–7:00. We train on real BTS history. To prove decisions on real outcomes, we add a U.S. backtest scenario where the data is real end to end. The Zürich story stays as the motivating example, clearly labelled. Be explicit about what we do not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7:00–8:00. This is the live demo moment. Move the priority slider: a student gets the free, reliable direct flight; a business traveller gets a paid nonstop. Then switch to the airline view: buying a competitor's seat is cheaper than paying 600 euros of compensation. Flip EU261 off, as for a weather delay, and the airline's best choice becomes the cheap late-evening flight. Nothing about the flights changed; only the objective did. Keep a backup video of this in case the live demo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8:00–10:00. Each milestone lines up with the module we learn that week, so class content feeds straight into the build. Name who owns each workstream. Mention the backup demo video and the dates we are confirming with the instructor.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10:00–11:00. Three kinds of metrics, as the instructions ask: technical, business and user experience. The chart is an early prototype result: in simulated disruptions, ReRouteAI's choice had the lowest realised cost for travellers. Be honest: this is synthetic data, and for the airline view, simply taking the earliest arrival is almost as good because compensation rewards earliness. The real test is the U.S. backtest on actual 2024 delays.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11:00–12:00. Lead with the value-of-time bias: if an airline plugs in a traveller's worth by fare class, cheap-ticket passengers always wait longest. Our fix is to apply the airline's priority rules first and use the passenger's stated priority. Then automation bias, LLM errors and privacy. Close by inviting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627"/>
        </a:solidFill>
      </p:bgPr>
    </p:bg>
    <p:spTree>
      <p:nvGrpSpPr>
        <p:cNvPr id="1" name=""/>
        <p:cNvGrpSpPr/>
        <p:nvPr/>
      </p:nvGrpSpPr>
      <p:grpSpPr>
        <a:xfrm>
          <a:off x="0" y="0"/>
          <a:ext cx="0" cy="0"/>
          <a:chOff x="0" y="0"/>
          <a:chExt cx="0" cy="0"/>
        </a:xfrm>
      </p:grpSpPr>
      <p:pic>
        <p:nvPicPr>
          <p:cNvPr id="2" name="Image 0" descr="/tmp/claude-0/-home-user-bsarfo-github-io/380a44b5-d2ae-5c84-8627-eefe537043e3/scratchpad/deck/u/ppt/media/image-1-1.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txBox="1"/>
          <p:nvPr/>
        </p:nvSpPr>
        <p:spPr>
          <a:xfrm>
            <a:off x="731520" y="10058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Aptos" pitchFamily="34" charset="0"/>
                <a:ea typeface="Aptos" pitchFamily="34" charset="-122"/>
                <a:cs typeface="Aptos" pitchFamily="34" charset="-120"/>
              </a:rPr>
              <a:t>ReRouteAI</a:t>
            </a:r>
            <a:endParaRPr lang="en-US" sz="4800" dirty="0"/>
          </a:p>
        </p:txBody>
      </p:sp>
      <p:sp>
        <p:nvSpPr>
          <p:cNvPr id="4" name="Text 1"/>
          <p:cNvSpPr txBox="1"/>
          <p:nvPr/>
        </p:nvSpPr>
        <p:spPr>
          <a:xfrm>
            <a:off x="758952" y="2011680"/>
            <a:ext cx="6675120" cy="548640"/>
          </a:xfrm>
          <a:prstGeom prst="rect">
            <a:avLst/>
          </a:prstGeom>
          <a:noFill/>
          <a:ln/>
        </p:spPr>
        <p:txBody>
          <a:bodyPr wrap="square" lIns="0" tIns="0" rIns="0" bIns="0" rtlCol="0" anchor="t"/>
          <a:lstStyle/>
          <a:p>
            <a:pPr indent="0" marL="0">
              <a:buNone/>
            </a:pPr>
            <a:r>
              <a:rPr lang="en-US" sz="2500" b="1" dirty="0">
                <a:solidFill>
                  <a:srgbClr val="F4F8FC"/>
                </a:solidFill>
                <a:latin typeface="Aptos" pitchFamily="34" charset="0"/>
                <a:ea typeface="Aptos" pitchFamily="34" charset="-122"/>
                <a:cs typeface="Aptos" pitchFamily="34" charset="-120"/>
              </a:rPr>
              <a:t>AI-assisted flight disruption recovery</a:t>
            </a:r>
            <a:endParaRPr lang="en-US" sz="2500" dirty="0"/>
          </a:p>
        </p:txBody>
      </p:sp>
      <p:sp>
        <p:nvSpPr>
          <p:cNvPr id="5" name="Text 2"/>
          <p:cNvSpPr txBox="1"/>
          <p:nvPr/>
        </p:nvSpPr>
        <p:spPr>
          <a:xfrm>
            <a:off x="758952" y="2834640"/>
            <a:ext cx="6400800" cy="365760"/>
          </a:xfrm>
          <a:prstGeom prst="rect">
            <a:avLst/>
          </a:prstGeom>
          <a:noFill/>
          <a:ln/>
        </p:spPr>
        <p:txBody>
          <a:bodyPr wrap="square" lIns="0" tIns="0" rIns="0" bIns="0" rtlCol="0" anchor="t"/>
          <a:lstStyle/>
          <a:p>
            <a:pPr indent="0" marL="0">
              <a:buNone/>
            </a:pPr>
            <a:r>
              <a:rPr lang="en-US" sz="1600" dirty="0">
                <a:solidFill>
                  <a:srgbClr val="AFC6D7"/>
                </a:solidFill>
                <a:latin typeface="Aptos" pitchFamily="34" charset="0"/>
                <a:ea typeface="Aptos" pitchFamily="34" charset="-122"/>
                <a:cs typeface="Aptos" pitchFamily="34" charset="-120"/>
              </a:rPr>
              <a:t>Business AI Application  |  Project proposal</a:t>
            </a:r>
            <a:endParaRPr lang="en-US" sz="1600" dirty="0"/>
          </a:p>
        </p:txBody>
      </p:sp>
      <p:sp>
        <p:nvSpPr>
          <p:cNvPr id="6" name="Text 3"/>
          <p:cNvSpPr txBox="1"/>
          <p:nvPr/>
        </p:nvSpPr>
        <p:spPr>
          <a:xfrm>
            <a:off x="758952" y="3246120"/>
            <a:ext cx="6400800" cy="365760"/>
          </a:xfrm>
          <a:prstGeom prst="rect">
            <a:avLst/>
          </a:prstGeom>
          <a:noFill/>
          <a:ln/>
        </p:spPr>
        <p:txBody>
          <a:bodyPr wrap="square" lIns="0" tIns="0" rIns="0" bIns="0" rtlCol="0" anchor="t"/>
          <a:lstStyle/>
          <a:p>
            <a:pPr indent="0" marL="0">
              <a:buNone/>
            </a:pPr>
            <a:r>
              <a:rPr lang="en-US" sz="1600" dirty="0">
                <a:solidFill>
                  <a:srgbClr val="AFC6D7"/>
                </a:solidFill>
                <a:latin typeface="Aptos" pitchFamily="34" charset="0"/>
                <a:ea typeface="Aptos" pitchFamily="34" charset="-122"/>
                <a:cs typeface="Aptos" pitchFamily="34" charset="-120"/>
              </a:rPr>
              <a:t>MIS520 · Worcester Polytechnic Institute · Fall 2026</a:t>
            </a:r>
            <a:endParaRPr lang="en-US" sz="1600" dirty="0"/>
          </a:p>
        </p:txBody>
      </p:sp>
      <p:sp>
        <p:nvSpPr>
          <p:cNvPr id="7" name="Text 4"/>
          <p:cNvSpPr txBox="1"/>
          <p:nvPr/>
        </p:nvSpPr>
        <p:spPr>
          <a:xfrm>
            <a:off x="758952" y="6035040"/>
            <a:ext cx="8229600" cy="274320"/>
          </a:xfrm>
          <a:prstGeom prst="rect">
            <a:avLst/>
          </a:prstGeom>
          <a:noFill/>
          <a:ln/>
        </p:spPr>
        <p:txBody>
          <a:bodyPr wrap="square" lIns="0" tIns="0" rIns="0" bIns="0" rtlCol="0" anchor="t"/>
          <a:lstStyle/>
          <a:p>
            <a:pPr indent="0" marL="0">
              <a:buNone/>
            </a:pPr>
            <a:r>
              <a:rPr lang="en-US" sz="1200" b="1" spc="200" kern="0" dirty="0">
                <a:solidFill>
                  <a:srgbClr val="45D7E8"/>
                </a:solidFill>
                <a:latin typeface="Aptos" pitchFamily="34" charset="0"/>
                <a:ea typeface="Aptos" pitchFamily="34" charset="-122"/>
                <a:cs typeface="Aptos" pitchFamily="34" charset="-120"/>
              </a:rPr>
              <a:t>WORKING PROTOTYPE INCLUDED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237744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0:00–1:00</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The missed connection</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One 95-minute delay turns into a costly, rushed decision</a:t>
            </a:r>
            <a:endParaRPr lang="en-US" sz="2000" dirty="0"/>
          </a:p>
        </p:txBody>
      </p:sp>
      <p:sp>
        <p:nvSpPr>
          <p:cNvPr id="6" name="Shape 4"/>
          <p:cNvSpPr/>
          <p:nvPr/>
        </p:nvSpPr>
        <p:spPr>
          <a:xfrm>
            <a:off x="1508760" y="2743200"/>
            <a:ext cx="3200400" cy="0"/>
          </a:xfrm>
          <a:prstGeom prst="line">
            <a:avLst/>
          </a:prstGeom>
          <a:noFill/>
          <a:ln w="38100">
            <a:solidFill>
              <a:srgbClr val="45D7E8"/>
            </a:solidFill>
            <a:prstDash val="solid"/>
          </a:ln>
        </p:spPr>
      </p:sp>
      <p:sp>
        <p:nvSpPr>
          <p:cNvPr id="7" name="Shape 5"/>
          <p:cNvSpPr/>
          <p:nvPr/>
        </p:nvSpPr>
        <p:spPr>
          <a:xfrm>
            <a:off x="4709160" y="2743200"/>
            <a:ext cx="3200400" cy="0"/>
          </a:xfrm>
          <a:prstGeom prst="line">
            <a:avLst/>
          </a:prstGeom>
          <a:noFill/>
          <a:ln w="38100">
            <a:solidFill>
              <a:srgbClr val="E0485F"/>
            </a:solidFill>
            <a:prstDash val="dash"/>
          </a:ln>
        </p:spPr>
      </p:sp>
      <p:sp>
        <p:nvSpPr>
          <p:cNvPr id="8" name="Shape 6"/>
          <p:cNvSpPr/>
          <p:nvPr/>
        </p:nvSpPr>
        <p:spPr>
          <a:xfrm>
            <a:off x="1280160" y="2514600"/>
            <a:ext cx="457200" cy="457200"/>
          </a:xfrm>
          <a:prstGeom prst="ellipse">
            <a:avLst/>
          </a:prstGeom>
          <a:solidFill>
            <a:srgbClr val="071627"/>
          </a:solidFill>
          <a:ln w="38100">
            <a:solidFill>
              <a:srgbClr val="45D7E8"/>
            </a:solidFill>
            <a:prstDash val="solid"/>
          </a:ln>
        </p:spPr>
      </p:sp>
      <p:sp>
        <p:nvSpPr>
          <p:cNvPr id="9" name="Text 7"/>
          <p:cNvSpPr txBox="1"/>
          <p:nvPr/>
        </p:nvSpPr>
        <p:spPr>
          <a:xfrm>
            <a:off x="914400" y="3063240"/>
            <a:ext cx="1188720" cy="365760"/>
          </a:xfrm>
          <a:prstGeom prst="rect">
            <a:avLst/>
          </a:prstGeom>
          <a:noFill/>
          <a:ln/>
        </p:spPr>
        <p:txBody>
          <a:bodyPr wrap="square" lIns="0" tIns="0" rIns="0" bIns="0" rtlCol="0" anchor="t"/>
          <a:lstStyle/>
          <a:p>
            <a:pPr algn="ctr" indent="0" marL="0">
              <a:buNone/>
            </a:pPr>
            <a:r>
              <a:rPr lang="en-US" sz="1800" b="1" dirty="0">
                <a:solidFill>
                  <a:srgbClr val="F4F8FC"/>
                </a:solidFill>
                <a:latin typeface="Aptos" pitchFamily="34" charset="0"/>
                <a:ea typeface="Aptos" pitchFamily="34" charset="-122"/>
                <a:cs typeface="Aptos" pitchFamily="34" charset="-120"/>
              </a:rPr>
              <a:t>BOS</a:t>
            </a:r>
            <a:endParaRPr lang="en-US" sz="1800" dirty="0"/>
          </a:p>
        </p:txBody>
      </p:sp>
      <p:sp>
        <p:nvSpPr>
          <p:cNvPr id="10" name="Shape 8"/>
          <p:cNvSpPr/>
          <p:nvPr/>
        </p:nvSpPr>
        <p:spPr>
          <a:xfrm>
            <a:off x="4480560" y="2514600"/>
            <a:ext cx="457200" cy="457200"/>
          </a:xfrm>
          <a:prstGeom prst="ellipse">
            <a:avLst/>
          </a:prstGeom>
          <a:solidFill>
            <a:srgbClr val="071627"/>
          </a:solidFill>
          <a:ln w="38100">
            <a:solidFill>
              <a:srgbClr val="E0485F"/>
            </a:solidFill>
            <a:prstDash val="solid"/>
          </a:ln>
        </p:spPr>
      </p:sp>
      <p:sp>
        <p:nvSpPr>
          <p:cNvPr id="11" name="Text 9"/>
          <p:cNvSpPr txBox="1"/>
          <p:nvPr/>
        </p:nvSpPr>
        <p:spPr>
          <a:xfrm>
            <a:off x="4114800" y="3063240"/>
            <a:ext cx="1188720" cy="365760"/>
          </a:xfrm>
          <a:prstGeom prst="rect">
            <a:avLst/>
          </a:prstGeom>
          <a:noFill/>
          <a:ln/>
        </p:spPr>
        <p:txBody>
          <a:bodyPr wrap="square" lIns="0" tIns="0" rIns="0" bIns="0" rtlCol="0" anchor="t"/>
          <a:lstStyle/>
          <a:p>
            <a:pPr algn="ctr" indent="0" marL="0">
              <a:buNone/>
            </a:pPr>
            <a:r>
              <a:rPr lang="en-US" sz="1800" b="1" dirty="0">
                <a:solidFill>
                  <a:srgbClr val="F4F8FC"/>
                </a:solidFill>
                <a:latin typeface="Aptos" pitchFamily="34" charset="0"/>
                <a:ea typeface="Aptos" pitchFamily="34" charset="-122"/>
                <a:cs typeface="Aptos" pitchFamily="34" charset="-120"/>
              </a:rPr>
              <a:t>ZRH</a:t>
            </a:r>
            <a:endParaRPr lang="en-US" sz="1800" dirty="0"/>
          </a:p>
        </p:txBody>
      </p:sp>
      <p:sp>
        <p:nvSpPr>
          <p:cNvPr id="12" name="Shape 10"/>
          <p:cNvSpPr/>
          <p:nvPr/>
        </p:nvSpPr>
        <p:spPr>
          <a:xfrm>
            <a:off x="7680960" y="2514600"/>
            <a:ext cx="457200" cy="457200"/>
          </a:xfrm>
          <a:prstGeom prst="ellipse">
            <a:avLst/>
          </a:prstGeom>
          <a:solidFill>
            <a:srgbClr val="071627"/>
          </a:solidFill>
          <a:ln w="38100">
            <a:solidFill>
              <a:srgbClr val="AFC6D7"/>
            </a:solidFill>
            <a:prstDash val="solid"/>
          </a:ln>
        </p:spPr>
      </p:sp>
      <p:sp>
        <p:nvSpPr>
          <p:cNvPr id="13" name="Text 11"/>
          <p:cNvSpPr txBox="1"/>
          <p:nvPr/>
        </p:nvSpPr>
        <p:spPr>
          <a:xfrm>
            <a:off x="7315200" y="3063240"/>
            <a:ext cx="1188720" cy="365760"/>
          </a:xfrm>
          <a:prstGeom prst="rect">
            <a:avLst/>
          </a:prstGeom>
          <a:noFill/>
          <a:ln/>
        </p:spPr>
        <p:txBody>
          <a:bodyPr wrap="square" lIns="0" tIns="0" rIns="0" bIns="0" rtlCol="0" anchor="t"/>
          <a:lstStyle/>
          <a:p>
            <a:pPr algn="ctr" indent="0" marL="0">
              <a:buNone/>
            </a:pPr>
            <a:r>
              <a:rPr lang="en-US" sz="1800" b="1" dirty="0">
                <a:solidFill>
                  <a:srgbClr val="F4F8FC"/>
                </a:solidFill>
                <a:latin typeface="Aptos" pitchFamily="34" charset="0"/>
                <a:ea typeface="Aptos" pitchFamily="34" charset="-122"/>
                <a:cs typeface="Aptos" pitchFamily="34" charset="-120"/>
              </a:rPr>
              <a:t>WAW</a:t>
            </a:r>
            <a:endParaRPr lang="en-US" sz="1800" dirty="0"/>
          </a:p>
        </p:txBody>
      </p:sp>
      <p:sp>
        <p:nvSpPr>
          <p:cNvPr id="14" name="Text 12"/>
          <p:cNvSpPr txBox="1"/>
          <p:nvPr/>
        </p:nvSpPr>
        <p:spPr>
          <a:xfrm>
            <a:off x="1920240" y="2103120"/>
            <a:ext cx="2743200" cy="320040"/>
          </a:xfrm>
          <a:prstGeom prst="rect">
            <a:avLst/>
          </a:prstGeom>
          <a:noFill/>
          <a:ln/>
        </p:spPr>
        <p:txBody>
          <a:bodyPr wrap="square" lIns="0" tIns="0" rIns="0" bIns="0" rtlCol="0" anchor="t"/>
          <a:lstStyle/>
          <a:p>
            <a:pPr algn="ctr" indent="0" marL="0">
              <a:buNone/>
            </a:pPr>
            <a:r>
              <a:rPr lang="en-US" sz="1400" dirty="0">
                <a:solidFill>
                  <a:srgbClr val="AFC6D7"/>
                </a:solidFill>
                <a:latin typeface="Aptos" pitchFamily="34" charset="0"/>
                <a:ea typeface="Aptos" pitchFamily="34" charset="-122"/>
                <a:cs typeface="Aptos" pitchFamily="34" charset="-120"/>
              </a:rPr>
              <a:t>LX53 lands 95 min late</a:t>
            </a:r>
            <a:endParaRPr lang="en-US" sz="1400" dirty="0"/>
          </a:p>
        </p:txBody>
      </p:sp>
      <p:sp>
        <p:nvSpPr>
          <p:cNvPr id="15" name="Text 13"/>
          <p:cNvSpPr txBox="1"/>
          <p:nvPr/>
        </p:nvSpPr>
        <p:spPr>
          <a:xfrm>
            <a:off x="4937760" y="2103120"/>
            <a:ext cx="3108960" cy="320040"/>
          </a:xfrm>
          <a:prstGeom prst="rect">
            <a:avLst/>
          </a:prstGeom>
          <a:noFill/>
          <a:ln/>
        </p:spPr>
        <p:txBody>
          <a:bodyPr wrap="square" lIns="0" tIns="0" rIns="0" bIns="0" rtlCol="0" anchor="t"/>
          <a:lstStyle/>
          <a:p>
            <a:pPr algn="ctr" indent="0" marL="0">
              <a:buNone/>
            </a:pPr>
            <a:r>
              <a:rPr lang="en-US" sz="1400" dirty="0">
                <a:solidFill>
                  <a:srgbClr val="E0485F"/>
                </a:solidFill>
                <a:latin typeface="Aptos" pitchFamily="34" charset="0"/>
                <a:ea typeface="Aptos" pitchFamily="34" charset="-122"/>
                <a:cs typeface="Aptos" pitchFamily="34" charset="-120"/>
              </a:rPr>
              <a:t>Warsaw connection has already left</a:t>
            </a:r>
            <a:endParaRPr lang="en-US" sz="1400" dirty="0"/>
          </a:p>
        </p:txBody>
      </p:sp>
      <p:sp>
        <p:nvSpPr>
          <p:cNvPr id="16" name="Text 14"/>
          <p:cNvSpPr txBox="1"/>
          <p:nvPr/>
        </p:nvSpPr>
        <p:spPr>
          <a:xfrm>
            <a:off x="6126480" y="2532888"/>
            <a:ext cx="365760" cy="411480"/>
          </a:xfrm>
          <a:prstGeom prst="rect">
            <a:avLst/>
          </a:prstGeom>
          <a:noFill/>
          <a:ln/>
        </p:spPr>
        <p:txBody>
          <a:bodyPr wrap="square" lIns="0" tIns="0" rIns="0" bIns="0" rtlCol="0" anchor="ctr"/>
          <a:lstStyle/>
          <a:p>
            <a:pPr algn="ctr" indent="0" marL="0">
              <a:buNone/>
            </a:pPr>
            <a:r>
              <a:rPr lang="en-US" sz="2200" b="1" dirty="0">
                <a:solidFill>
                  <a:srgbClr val="E0485F"/>
                </a:solidFill>
                <a:latin typeface="Aptos" pitchFamily="34" charset="0"/>
                <a:ea typeface="Aptos" pitchFamily="34" charset="-122"/>
                <a:cs typeface="Aptos" pitchFamily="34" charset="-120"/>
              </a:rPr>
              <a:t>✕</a:t>
            </a:r>
            <a:endParaRPr lang="en-US" sz="2200" dirty="0"/>
          </a:p>
        </p:txBody>
      </p:sp>
      <p:sp>
        <p:nvSpPr>
          <p:cNvPr id="17" name="Text 15"/>
          <p:cNvSpPr txBox="1"/>
          <p:nvPr/>
        </p:nvSpPr>
        <p:spPr>
          <a:xfrm>
            <a:off x="8503920" y="2331720"/>
            <a:ext cx="3108960" cy="1005840"/>
          </a:xfrm>
          <a:prstGeom prst="rect">
            <a:avLst/>
          </a:prstGeom>
          <a:noFill/>
          <a:ln/>
        </p:spPr>
        <p:txBody>
          <a:bodyPr wrap="square" lIns="0" tIns="0" rIns="0" bIns="0" rtlCol="0" anchor="t"/>
          <a:lstStyle/>
          <a:p>
            <a:pPr indent="0" marL="0">
              <a:buNone/>
            </a:pPr>
            <a:r>
              <a:rPr lang="en-US" sz="1600" b="1" dirty="0">
                <a:solidFill>
                  <a:srgbClr val="F4F8FC"/>
                </a:solidFill>
                <a:latin typeface="Aptos" pitchFamily="34" charset="0"/>
                <a:ea typeface="Aptos" pitchFamily="34" charset="-122"/>
                <a:cs typeface="Aptos" pitchFamily="34" charset="-120"/>
              </a:rPr>
              <a:t>Which of 18 possible reroutes should the agent book, in the next few minutes?</a:t>
            </a:r>
            <a:endParaRPr lang="en-US" sz="1600" dirty="0"/>
          </a:p>
        </p:txBody>
      </p:sp>
      <p:sp>
        <p:nvSpPr>
          <p:cNvPr id="18" name="Shape 16"/>
          <p:cNvSpPr/>
          <p:nvPr/>
        </p:nvSpPr>
        <p:spPr>
          <a:xfrm>
            <a:off x="594360" y="3977640"/>
            <a:ext cx="3474720" cy="1828800"/>
          </a:xfrm>
          <a:prstGeom prst="roundRect">
            <a:avLst>
              <a:gd name="adj" fmla="val 4000"/>
            </a:avLst>
          </a:prstGeom>
          <a:solidFill>
            <a:srgbClr val="11263B"/>
          </a:solidFill>
          <a:ln w="12700">
            <a:solidFill>
              <a:srgbClr val="28536B"/>
            </a:solidFill>
            <a:prstDash val="solid"/>
          </a:ln>
        </p:spPr>
      </p:sp>
      <p:sp>
        <p:nvSpPr>
          <p:cNvPr id="19" name="Text 17"/>
          <p:cNvSpPr txBox="1"/>
          <p:nvPr/>
        </p:nvSpPr>
        <p:spPr>
          <a:xfrm>
            <a:off x="868680" y="4114800"/>
            <a:ext cx="3017520" cy="777240"/>
          </a:xfrm>
          <a:prstGeom prst="rect">
            <a:avLst/>
          </a:prstGeom>
          <a:noFill/>
          <a:ln/>
        </p:spPr>
        <p:txBody>
          <a:bodyPr wrap="square" lIns="0" tIns="0" rIns="0" bIns="0" rtlCol="0" anchor="t"/>
          <a:lstStyle/>
          <a:p>
            <a:pPr indent="0" marL="0">
              <a:buNone/>
            </a:pPr>
            <a:r>
              <a:rPr lang="en-US" sz="4000" b="1" dirty="0">
                <a:solidFill>
                  <a:srgbClr val="45D7E8"/>
                </a:solidFill>
                <a:latin typeface="Aptos" pitchFamily="34" charset="0"/>
                <a:ea typeface="Aptos" pitchFamily="34" charset="-122"/>
                <a:cs typeface="Aptos" pitchFamily="34" charset="-120"/>
              </a:rPr>
              <a:t>95 min</a:t>
            </a:r>
            <a:endParaRPr lang="en-US" sz="4000" dirty="0"/>
          </a:p>
        </p:txBody>
      </p:sp>
      <p:sp>
        <p:nvSpPr>
          <p:cNvPr id="20" name="Text 18"/>
          <p:cNvSpPr txBox="1"/>
          <p:nvPr/>
        </p:nvSpPr>
        <p:spPr>
          <a:xfrm>
            <a:off x="868680" y="4937760"/>
            <a:ext cx="3017520" cy="77724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inbound delay into Zürich; ready to board again at 09:50</a:t>
            </a:r>
            <a:endParaRPr lang="en-US" sz="1400" dirty="0"/>
          </a:p>
        </p:txBody>
      </p:sp>
      <p:sp>
        <p:nvSpPr>
          <p:cNvPr id="21" name="Shape 19"/>
          <p:cNvSpPr/>
          <p:nvPr/>
        </p:nvSpPr>
        <p:spPr>
          <a:xfrm>
            <a:off x="4343400" y="3977640"/>
            <a:ext cx="3474720" cy="1828800"/>
          </a:xfrm>
          <a:prstGeom prst="roundRect">
            <a:avLst>
              <a:gd name="adj" fmla="val 4000"/>
            </a:avLst>
          </a:prstGeom>
          <a:solidFill>
            <a:srgbClr val="11263B"/>
          </a:solidFill>
          <a:ln w="12700">
            <a:solidFill>
              <a:srgbClr val="28536B"/>
            </a:solidFill>
            <a:prstDash val="solid"/>
          </a:ln>
        </p:spPr>
      </p:sp>
      <p:sp>
        <p:nvSpPr>
          <p:cNvPr id="22" name="Text 20"/>
          <p:cNvSpPr txBox="1"/>
          <p:nvPr/>
        </p:nvSpPr>
        <p:spPr>
          <a:xfrm>
            <a:off x="4617720" y="4114800"/>
            <a:ext cx="3017520" cy="777240"/>
          </a:xfrm>
          <a:prstGeom prst="rect">
            <a:avLst/>
          </a:prstGeom>
          <a:noFill/>
          <a:ln/>
        </p:spPr>
        <p:txBody>
          <a:bodyPr wrap="square" lIns="0" tIns="0" rIns="0" bIns="0" rtlCol="0" anchor="t"/>
          <a:lstStyle/>
          <a:p>
            <a:pPr indent="0" marL="0">
              <a:buNone/>
            </a:pPr>
            <a:r>
              <a:rPr lang="en-US" sz="4000" b="1" dirty="0">
                <a:solidFill>
                  <a:srgbClr val="45D7E8"/>
                </a:solidFill>
                <a:latin typeface="Aptos" pitchFamily="34" charset="0"/>
                <a:ea typeface="Aptos" pitchFamily="34" charset="-122"/>
                <a:cs typeface="Aptos" pitchFamily="34" charset="-120"/>
              </a:rPr>
              <a:t>18</a:t>
            </a:r>
            <a:endParaRPr lang="en-US" sz="4000" dirty="0"/>
          </a:p>
        </p:txBody>
      </p:sp>
      <p:sp>
        <p:nvSpPr>
          <p:cNvPr id="23" name="Text 21"/>
          <p:cNvSpPr txBox="1"/>
          <p:nvPr/>
        </p:nvSpPr>
        <p:spPr>
          <a:xfrm>
            <a:off x="4617720" y="4937760"/>
            <a:ext cx="3017520" cy="77724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feasible recovery routes in our prototype network, each with a different risk</a:t>
            </a:r>
            <a:endParaRPr lang="en-US" sz="1400" dirty="0"/>
          </a:p>
        </p:txBody>
      </p:sp>
      <p:sp>
        <p:nvSpPr>
          <p:cNvPr id="24" name="Shape 22"/>
          <p:cNvSpPr/>
          <p:nvPr/>
        </p:nvSpPr>
        <p:spPr>
          <a:xfrm>
            <a:off x="8092440" y="3977640"/>
            <a:ext cx="3474720" cy="1828800"/>
          </a:xfrm>
          <a:prstGeom prst="roundRect">
            <a:avLst>
              <a:gd name="adj" fmla="val 4000"/>
            </a:avLst>
          </a:prstGeom>
          <a:solidFill>
            <a:srgbClr val="11263B"/>
          </a:solidFill>
          <a:ln w="12700">
            <a:solidFill>
              <a:srgbClr val="28536B"/>
            </a:solidFill>
            <a:prstDash val="solid"/>
          </a:ln>
        </p:spPr>
      </p:sp>
      <p:sp>
        <p:nvSpPr>
          <p:cNvPr id="25" name="Text 23"/>
          <p:cNvSpPr txBox="1"/>
          <p:nvPr/>
        </p:nvSpPr>
        <p:spPr>
          <a:xfrm>
            <a:off x="8366760" y="4114800"/>
            <a:ext cx="3017520" cy="777240"/>
          </a:xfrm>
          <a:prstGeom prst="rect">
            <a:avLst/>
          </a:prstGeom>
          <a:noFill/>
          <a:ln/>
        </p:spPr>
        <p:txBody>
          <a:bodyPr wrap="square" lIns="0" tIns="0" rIns="0" bIns="0" rtlCol="0" anchor="t"/>
          <a:lstStyle/>
          <a:p>
            <a:pPr indent="0" marL="0">
              <a:buNone/>
            </a:pPr>
            <a:r>
              <a:rPr lang="en-US" sz="4000" b="1" dirty="0">
                <a:solidFill>
                  <a:srgbClr val="F2B84B"/>
                </a:solidFill>
                <a:latin typeface="Aptos" pitchFamily="34" charset="0"/>
                <a:ea typeface="Aptos" pitchFamily="34" charset="-122"/>
                <a:cs typeface="Aptos" pitchFamily="34" charset="-120"/>
              </a:rPr>
              <a:t>€600</a:t>
            </a:r>
            <a:endParaRPr lang="en-US" sz="4000" dirty="0"/>
          </a:p>
        </p:txBody>
      </p:sp>
      <p:sp>
        <p:nvSpPr>
          <p:cNvPr id="26" name="Text 24"/>
          <p:cNvSpPr txBox="1"/>
          <p:nvPr/>
        </p:nvSpPr>
        <p:spPr>
          <a:xfrm>
            <a:off x="8366760" y="4937760"/>
            <a:ext cx="3017520" cy="77724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EU261 compensation per passenger if the final arrival is 4+ hours late</a:t>
            </a:r>
            <a:endParaRPr lang="en-US" sz="1400" dirty="0"/>
          </a:p>
        </p:txBody>
      </p:sp>
      <p:sp>
        <p:nvSpPr>
          <p:cNvPr id="27" name="Text 25"/>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Opening scenario from a teammate's travel experience · EU261: Regulation (EC) 261/2004 (Boston–Warsaw journey &gt; 3,500 km)</a:t>
            </a:r>
            <a:endParaRPr lang="en-US" sz="1100" dirty="0"/>
          </a:p>
        </p:txBody>
      </p:sp>
      <p:sp>
        <p:nvSpPr>
          <p:cNvPr id="28" name="Text 26"/>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237744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1:00–2:00</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Who we help, and what it is worth</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Primary user: the airline rebooking agent; the traveller is phase two</a:t>
            </a:r>
            <a:endParaRPr lang="en-US" sz="2000" dirty="0"/>
          </a:p>
        </p:txBody>
      </p:sp>
      <p:sp>
        <p:nvSpPr>
          <p:cNvPr id="6" name="Shape 4"/>
          <p:cNvSpPr/>
          <p:nvPr/>
        </p:nvSpPr>
        <p:spPr>
          <a:xfrm>
            <a:off x="594360" y="2103120"/>
            <a:ext cx="5394960" cy="2514600"/>
          </a:xfrm>
          <a:prstGeom prst="roundRect">
            <a:avLst>
              <a:gd name="adj" fmla="val 2909"/>
            </a:avLst>
          </a:prstGeom>
          <a:solidFill>
            <a:srgbClr val="11263B"/>
          </a:solidFill>
          <a:ln w="12700">
            <a:solidFill>
              <a:srgbClr val="28536B"/>
            </a:solidFill>
            <a:prstDash val="solid"/>
          </a:ln>
        </p:spPr>
      </p:sp>
      <p:sp>
        <p:nvSpPr>
          <p:cNvPr id="7" name="Text 5"/>
          <p:cNvSpPr txBox="1"/>
          <p:nvPr/>
        </p:nvSpPr>
        <p:spPr>
          <a:xfrm>
            <a:off x="868680" y="2240280"/>
            <a:ext cx="4937760" cy="365760"/>
          </a:xfrm>
          <a:prstGeom prst="rect">
            <a:avLst/>
          </a:prstGeom>
          <a:noFill/>
          <a:ln/>
        </p:spPr>
        <p:txBody>
          <a:bodyPr wrap="square" lIns="0" tIns="0" rIns="0" bIns="0" rtlCol="0" anchor="t"/>
          <a:lstStyle/>
          <a:p>
            <a:pPr indent="0" marL="0">
              <a:buNone/>
            </a:pPr>
            <a:r>
              <a:rPr lang="en-US" sz="1800" b="1" dirty="0">
                <a:solidFill>
                  <a:srgbClr val="45D7E8"/>
                </a:solidFill>
                <a:latin typeface="Aptos" pitchFamily="34" charset="0"/>
                <a:ea typeface="Aptos" pitchFamily="34" charset="-122"/>
                <a:cs typeface="Aptos" pitchFamily="34" charset="-120"/>
              </a:rPr>
              <a:t>Airline rebooking &amp; disruption agents</a:t>
            </a:r>
            <a:endParaRPr lang="en-US" sz="1800" dirty="0"/>
          </a:p>
        </p:txBody>
      </p:sp>
      <p:sp>
        <p:nvSpPr>
          <p:cNvPr id="8" name="Text 6"/>
          <p:cNvSpPr txBox="1"/>
          <p:nvPr/>
        </p:nvSpPr>
        <p:spPr>
          <a:xfrm>
            <a:off x="868680" y="2697480"/>
            <a:ext cx="4937760" cy="1828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Decide in minutes, with a queue of stranded passengers</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Must follow rebooking rules and passenger-rights law</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Today: a timetable screen plus personal judgement</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Phase two: travellers see the same trade-offs in self-service</a:t>
            </a:r>
            <a:endParaRPr lang="en-US" sz="1500" dirty="0"/>
          </a:p>
        </p:txBody>
      </p:sp>
      <p:sp>
        <p:nvSpPr>
          <p:cNvPr id="9" name="Shape 7"/>
          <p:cNvSpPr/>
          <p:nvPr/>
        </p:nvSpPr>
        <p:spPr>
          <a:xfrm>
            <a:off x="6263640" y="2103120"/>
            <a:ext cx="5303520" cy="2514600"/>
          </a:xfrm>
          <a:prstGeom prst="roundRect">
            <a:avLst>
              <a:gd name="adj" fmla="val 2909"/>
            </a:avLst>
          </a:prstGeom>
          <a:solidFill>
            <a:srgbClr val="11263B"/>
          </a:solidFill>
          <a:ln w="12700">
            <a:solidFill>
              <a:srgbClr val="28536B"/>
            </a:solidFill>
            <a:prstDash val="solid"/>
          </a:ln>
        </p:spPr>
      </p:sp>
      <p:sp>
        <p:nvSpPr>
          <p:cNvPr id="10" name="Text 8"/>
          <p:cNvSpPr txBox="1"/>
          <p:nvPr/>
        </p:nvSpPr>
        <p:spPr>
          <a:xfrm>
            <a:off x="6537960" y="2240280"/>
            <a:ext cx="4846320" cy="365760"/>
          </a:xfrm>
          <a:prstGeom prst="rect">
            <a:avLst/>
          </a:prstGeom>
          <a:noFill/>
          <a:ln/>
        </p:spPr>
        <p:txBody>
          <a:bodyPr wrap="square" lIns="0" tIns="0" rIns="0" bIns="0" rtlCol="0" anchor="t"/>
          <a:lstStyle/>
          <a:p>
            <a:pPr indent="0" marL="0">
              <a:buNone/>
            </a:pPr>
            <a:r>
              <a:rPr lang="en-US" sz="1800" b="1" dirty="0">
                <a:solidFill>
                  <a:srgbClr val="F2B84B"/>
                </a:solidFill>
                <a:latin typeface="Aptos" pitchFamily="34" charset="0"/>
                <a:ea typeface="Aptos" pitchFamily="34" charset="-122"/>
                <a:cs typeface="Aptos" pitchFamily="34" charset="-120"/>
              </a:rPr>
              <a:t>Cost of one misconnected passenger</a:t>
            </a:r>
            <a:endParaRPr lang="en-US" sz="1800" dirty="0"/>
          </a:p>
        </p:txBody>
      </p:sp>
      <p:sp>
        <p:nvSpPr>
          <p:cNvPr id="11" name="Text 9"/>
          <p:cNvSpPr txBox="1"/>
          <p:nvPr/>
        </p:nvSpPr>
        <p:spPr>
          <a:xfrm>
            <a:off x="6537960" y="2697480"/>
            <a:ext cx="4846320" cy="1828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Rebooking or a seat bought on another airline</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EU261 compensation: €0 / €300 / €600 by arrival delay</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Meals, and a hotel if the passenger is stuck overnight</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Agent handling time and lost customer goodwill</a:t>
            </a:r>
            <a:endParaRPr lang="en-US" sz="1500" dirty="0"/>
          </a:p>
        </p:txBody>
      </p:sp>
      <p:sp>
        <p:nvSpPr>
          <p:cNvPr id="12" name="Shape 10"/>
          <p:cNvSpPr/>
          <p:nvPr/>
        </p:nvSpPr>
        <p:spPr>
          <a:xfrm>
            <a:off x="594360" y="4846320"/>
            <a:ext cx="10972800" cy="1143000"/>
          </a:xfrm>
          <a:prstGeom prst="roundRect">
            <a:avLst>
              <a:gd name="adj" fmla="val 6400"/>
            </a:avLst>
          </a:prstGeom>
          <a:solidFill>
            <a:srgbClr val="0D3345"/>
          </a:solidFill>
          <a:ln w="12700">
            <a:solidFill>
              <a:srgbClr val="28536B"/>
            </a:solidFill>
            <a:prstDash val="solid"/>
          </a:ln>
        </p:spPr>
      </p:sp>
      <p:sp>
        <p:nvSpPr>
          <p:cNvPr id="13" name="Text 11"/>
          <p:cNvSpPr txBox="1"/>
          <p:nvPr/>
        </p:nvSpPr>
        <p:spPr>
          <a:xfrm>
            <a:off x="868680" y="4983480"/>
            <a:ext cx="10424160" cy="914400"/>
          </a:xfrm>
          <a:prstGeom prst="rect">
            <a:avLst/>
          </a:prstGeom>
          <a:noFill/>
          <a:ln/>
        </p:spPr>
        <p:txBody>
          <a:bodyPr wrap="square" lIns="0" tIns="0" rIns="0" bIns="0" rtlCol="0" anchor="ctr"/>
          <a:lstStyle/>
          <a:p>
            <a:pPr indent="0" marL="0">
              <a:buNone/>
            </a:pPr>
            <a:r>
              <a:rPr lang="en-US" sz="1700" dirty="0">
                <a:solidFill>
                  <a:srgbClr val="F4F8FC"/>
                </a:solidFill>
                <a:latin typeface="Aptos" pitchFamily="34" charset="0"/>
                <a:ea typeface="Aptos" pitchFamily="34" charset="-122"/>
                <a:cs typeface="Aptos" pitchFamily="34" charset="-120"/>
              </a:rPr>
              <a:t>We will help </a:t>
            </a:r>
            <a:pPr indent="0" marL="0">
              <a:buNone/>
            </a:pPr>
            <a:r>
              <a:rPr lang="en-US" sz="1700" b="1" dirty="0">
                <a:solidFill>
                  <a:srgbClr val="45D7E8"/>
                </a:solidFill>
                <a:latin typeface="Aptos" pitchFamily="34" charset="0"/>
                <a:ea typeface="Aptos" pitchFamily="34" charset="-122"/>
                <a:cs typeface="Aptos" pitchFamily="34" charset="-120"/>
              </a:rPr>
              <a:t>airline rebooking agents</a:t>
            </a:r>
            <a:pPr indent="0" marL="0">
              <a:buNone/>
            </a:pPr>
            <a:r>
              <a:rPr lang="en-US" sz="1700" dirty="0">
                <a:solidFill>
                  <a:srgbClr val="F4F8FC"/>
                </a:solidFill>
                <a:latin typeface="Aptos" pitchFamily="34" charset="0"/>
                <a:ea typeface="Aptos" pitchFamily="34" charset="-122"/>
                <a:cs typeface="Aptos" pitchFamily="34" charset="-120"/>
              </a:rPr>
              <a:t> choose the recovery route with the </a:t>
            </a:r>
            <a:pPr indent="0" marL="0">
              <a:buNone/>
            </a:pPr>
            <a:r>
              <a:rPr lang="en-US" sz="1700" b="1" dirty="0">
                <a:solidFill>
                  <a:srgbClr val="45D7E8"/>
                </a:solidFill>
                <a:latin typeface="Aptos" pitchFamily="34" charset="0"/>
                <a:ea typeface="Aptos" pitchFamily="34" charset="-122"/>
                <a:cs typeface="Aptos" pitchFamily="34" charset="-120"/>
              </a:rPr>
              <a:t>lowest expected cost</a:t>
            </a:r>
            <a:pPr indent="0" marL="0">
              <a:buNone/>
            </a:pPr>
            <a:r>
              <a:rPr lang="en-US" sz="1700" dirty="0">
                <a:solidFill>
                  <a:srgbClr val="F4F8FC"/>
                </a:solidFill>
                <a:latin typeface="Aptos" pitchFamily="34" charset="0"/>
                <a:ea typeface="Aptos" pitchFamily="34" charset="-122"/>
                <a:cs typeface="Aptos" pitchFamily="34" charset="-120"/>
              </a:rPr>
              <a:t> by combining a delay-risk model, route search and policy retrieval, which will </a:t>
            </a:r>
            <a:pPr indent="0" marL="0">
              <a:buNone/>
            </a:pPr>
            <a:r>
              <a:rPr lang="en-US" sz="1700" b="1" dirty="0">
                <a:solidFill>
                  <a:srgbClr val="45D7E8"/>
                </a:solidFill>
                <a:latin typeface="Aptos" pitchFamily="34" charset="0"/>
                <a:ea typeface="Aptos" pitchFamily="34" charset="-122"/>
                <a:cs typeface="Aptos" pitchFamily="34" charset="-120"/>
              </a:rPr>
              <a:t>cut compensation, care costs and decision time</a:t>
            </a:r>
            <a:pPr indent="0" marL="0">
              <a:buNone/>
            </a:pPr>
            <a:r>
              <a:rPr lang="en-US" sz="1700" dirty="0">
                <a:solidFill>
                  <a:srgbClr val="F4F8FC"/>
                </a:solidFill>
                <a:latin typeface="Aptos" pitchFamily="34" charset="0"/>
                <a:ea typeface="Aptos" pitchFamily="34" charset="-122"/>
                <a:cs typeface="Aptos" pitchFamily="34" charset="-120"/>
              </a:rPr>
              <a:t>.</a:t>
            </a:r>
            <a:endParaRPr lang="en-US" sz="1700" dirty="0"/>
          </a:p>
        </p:txBody>
      </p:sp>
      <p:sp>
        <p:nvSpPr>
          <p:cNvPr id="14" name="Text 12"/>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Scope: decision support for one disrupted itinerary · recommendation only; no ticket is booked automatically</a:t>
            </a:r>
            <a:endParaRPr lang="en-US" sz="1100" dirty="0"/>
          </a:p>
        </p:txBody>
      </p:sp>
      <p:sp>
        <p:nvSpPr>
          <p:cNvPr id="15" name="Text 13"/>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237744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2:00–3:00</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Why AI, and why now</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The three tests from class: real problem, right tool, feasible</a:t>
            </a:r>
            <a:endParaRPr lang="en-US" sz="2000" dirty="0"/>
          </a:p>
        </p:txBody>
      </p:sp>
      <p:sp>
        <p:nvSpPr>
          <p:cNvPr id="6" name="Shape 4"/>
          <p:cNvSpPr/>
          <p:nvPr/>
        </p:nvSpPr>
        <p:spPr>
          <a:xfrm>
            <a:off x="594360" y="2148840"/>
            <a:ext cx="3474720" cy="3429000"/>
          </a:xfrm>
          <a:prstGeom prst="roundRect">
            <a:avLst>
              <a:gd name="adj" fmla="val 2133"/>
            </a:avLst>
          </a:prstGeom>
          <a:solidFill>
            <a:srgbClr val="11263B"/>
          </a:solidFill>
          <a:ln w="12700">
            <a:solidFill>
              <a:srgbClr val="28536B"/>
            </a:solidFill>
            <a:prstDash val="solid"/>
          </a:ln>
        </p:spPr>
      </p:sp>
      <p:sp>
        <p:nvSpPr>
          <p:cNvPr id="7" name="Shape 5"/>
          <p:cNvSpPr/>
          <p:nvPr/>
        </p:nvSpPr>
        <p:spPr>
          <a:xfrm>
            <a:off x="868680" y="2377440"/>
            <a:ext cx="457200" cy="457200"/>
          </a:xfrm>
          <a:prstGeom prst="ellipse">
            <a:avLst/>
          </a:prstGeom>
          <a:solidFill>
            <a:srgbClr val="45D7E8"/>
          </a:solidFill>
          <a:ln w="12700">
            <a:solidFill>
              <a:srgbClr val="45D7E8"/>
            </a:solidFill>
            <a:prstDash val="solid"/>
          </a:ln>
        </p:spPr>
      </p:sp>
      <p:sp>
        <p:nvSpPr>
          <p:cNvPr id="8" name="Text 6"/>
          <p:cNvSpPr txBox="1"/>
          <p:nvPr/>
        </p:nvSpPr>
        <p:spPr>
          <a:xfrm>
            <a:off x="868680" y="2377440"/>
            <a:ext cx="457200" cy="457200"/>
          </a:xfrm>
          <a:prstGeom prst="rect">
            <a:avLst/>
          </a:prstGeom>
          <a:noFill/>
          <a:ln/>
        </p:spPr>
        <p:txBody>
          <a:bodyPr wrap="square" lIns="0" tIns="0" rIns="0" bIns="0" rtlCol="0" anchor="ctr"/>
          <a:lstStyle/>
          <a:p>
            <a:pPr algn="ctr" indent="0" marL="0">
              <a:buNone/>
            </a:pPr>
            <a:r>
              <a:rPr lang="en-US" sz="1500" b="1" dirty="0">
                <a:solidFill>
                  <a:srgbClr val="071627"/>
                </a:solidFill>
                <a:latin typeface="Aptos" pitchFamily="34" charset="0"/>
                <a:ea typeface="Aptos" pitchFamily="34" charset="-122"/>
                <a:cs typeface="Aptos" pitchFamily="34" charset="-120"/>
              </a:rPr>
              <a:t>C1</a:t>
            </a:r>
            <a:endParaRPr lang="en-US" sz="1500" dirty="0"/>
          </a:p>
        </p:txBody>
      </p:sp>
      <p:sp>
        <p:nvSpPr>
          <p:cNvPr id="9" name="Text 7"/>
          <p:cNvSpPr txBox="1"/>
          <p:nvPr/>
        </p:nvSpPr>
        <p:spPr>
          <a:xfrm>
            <a:off x="1417320" y="2395728"/>
            <a:ext cx="2560320" cy="457200"/>
          </a:xfrm>
          <a:prstGeom prst="rect">
            <a:avLst/>
          </a:prstGeom>
          <a:noFill/>
          <a:ln/>
        </p:spPr>
        <p:txBody>
          <a:bodyPr wrap="square" lIns="0" tIns="0" rIns="0" bIns="0" rtlCol="0" anchor="ctr"/>
          <a:lstStyle/>
          <a:p>
            <a:pPr indent="0" marL="0">
              <a:buNone/>
            </a:pPr>
            <a:r>
              <a:rPr lang="en-US" sz="1800" b="1" dirty="0">
                <a:solidFill>
                  <a:srgbClr val="F4F8FC"/>
                </a:solidFill>
                <a:latin typeface="Aptos" pitchFamily="34" charset="0"/>
                <a:ea typeface="Aptos" pitchFamily="34" charset="-122"/>
                <a:cs typeface="Aptos" pitchFamily="34" charset="-120"/>
              </a:rPr>
              <a:t>Real business problem</a:t>
            </a:r>
            <a:endParaRPr lang="en-US" sz="1800" dirty="0"/>
          </a:p>
        </p:txBody>
      </p:sp>
      <p:sp>
        <p:nvSpPr>
          <p:cNvPr id="10" name="Text 8"/>
          <p:cNvSpPr txBox="1"/>
          <p:nvPr/>
        </p:nvSpPr>
        <p:spPr>
          <a:xfrm>
            <a:off x="868680" y="3063240"/>
            <a:ext cx="3017520" cy="23774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Every delayed hub arrival creates misconnections</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Cost is concrete: seats, compensation, hotels, time</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The status quo rule, “next direct flight on our airline”, ignores risk</a:t>
            </a:r>
            <a:endParaRPr lang="en-US" sz="1500" dirty="0"/>
          </a:p>
        </p:txBody>
      </p:sp>
      <p:sp>
        <p:nvSpPr>
          <p:cNvPr id="11" name="Shape 9"/>
          <p:cNvSpPr/>
          <p:nvPr/>
        </p:nvSpPr>
        <p:spPr>
          <a:xfrm>
            <a:off x="4343400" y="2148840"/>
            <a:ext cx="3474720" cy="3429000"/>
          </a:xfrm>
          <a:prstGeom prst="roundRect">
            <a:avLst>
              <a:gd name="adj" fmla="val 2133"/>
            </a:avLst>
          </a:prstGeom>
          <a:solidFill>
            <a:srgbClr val="11263B"/>
          </a:solidFill>
          <a:ln w="12700">
            <a:solidFill>
              <a:srgbClr val="28536B"/>
            </a:solidFill>
            <a:prstDash val="solid"/>
          </a:ln>
        </p:spPr>
      </p:sp>
      <p:sp>
        <p:nvSpPr>
          <p:cNvPr id="12" name="Shape 10"/>
          <p:cNvSpPr/>
          <p:nvPr/>
        </p:nvSpPr>
        <p:spPr>
          <a:xfrm>
            <a:off x="4617720" y="2377440"/>
            <a:ext cx="457200" cy="457200"/>
          </a:xfrm>
          <a:prstGeom prst="ellipse">
            <a:avLst/>
          </a:prstGeom>
          <a:solidFill>
            <a:srgbClr val="F2B84B"/>
          </a:solidFill>
          <a:ln w="12700">
            <a:solidFill>
              <a:srgbClr val="F2B84B"/>
            </a:solidFill>
            <a:prstDash val="solid"/>
          </a:ln>
        </p:spPr>
      </p:sp>
      <p:sp>
        <p:nvSpPr>
          <p:cNvPr id="13" name="Text 11"/>
          <p:cNvSpPr txBox="1"/>
          <p:nvPr/>
        </p:nvSpPr>
        <p:spPr>
          <a:xfrm>
            <a:off x="4617720" y="2377440"/>
            <a:ext cx="457200" cy="457200"/>
          </a:xfrm>
          <a:prstGeom prst="rect">
            <a:avLst/>
          </a:prstGeom>
          <a:noFill/>
          <a:ln/>
        </p:spPr>
        <p:txBody>
          <a:bodyPr wrap="square" lIns="0" tIns="0" rIns="0" bIns="0" rtlCol="0" anchor="ctr"/>
          <a:lstStyle/>
          <a:p>
            <a:pPr algn="ctr" indent="0" marL="0">
              <a:buNone/>
            </a:pPr>
            <a:r>
              <a:rPr lang="en-US" sz="1500" b="1" dirty="0">
                <a:solidFill>
                  <a:srgbClr val="071627"/>
                </a:solidFill>
                <a:latin typeface="Aptos" pitchFamily="34" charset="0"/>
                <a:ea typeface="Aptos" pitchFamily="34" charset="-122"/>
                <a:cs typeface="Aptos" pitchFamily="34" charset="-120"/>
              </a:rPr>
              <a:t>C2</a:t>
            </a:r>
            <a:endParaRPr lang="en-US" sz="1500" dirty="0"/>
          </a:p>
        </p:txBody>
      </p:sp>
      <p:sp>
        <p:nvSpPr>
          <p:cNvPr id="14" name="Text 12"/>
          <p:cNvSpPr txBox="1"/>
          <p:nvPr/>
        </p:nvSpPr>
        <p:spPr>
          <a:xfrm>
            <a:off x="5166360" y="2395728"/>
            <a:ext cx="2560320" cy="457200"/>
          </a:xfrm>
          <a:prstGeom prst="rect">
            <a:avLst/>
          </a:prstGeom>
          <a:noFill/>
          <a:ln/>
        </p:spPr>
        <p:txBody>
          <a:bodyPr wrap="square" lIns="0" tIns="0" rIns="0" bIns="0" rtlCol="0" anchor="ctr"/>
          <a:lstStyle/>
          <a:p>
            <a:pPr indent="0" marL="0">
              <a:buNone/>
            </a:pPr>
            <a:r>
              <a:rPr lang="en-US" sz="1800" b="1" dirty="0">
                <a:solidFill>
                  <a:srgbClr val="F4F8FC"/>
                </a:solidFill>
                <a:latin typeface="Aptos" pitchFamily="34" charset="0"/>
                <a:ea typeface="Aptos" pitchFamily="34" charset="-122"/>
                <a:cs typeface="Aptos" pitchFamily="34" charset="-120"/>
              </a:rPr>
              <a:t>AI is the right tool</a:t>
            </a:r>
            <a:endParaRPr lang="en-US" sz="1800" dirty="0"/>
          </a:p>
        </p:txBody>
      </p:sp>
      <p:sp>
        <p:nvSpPr>
          <p:cNvPr id="15" name="Text 13"/>
          <p:cNvSpPr txBox="1"/>
          <p:nvPr/>
        </p:nvSpPr>
        <p:spPr>
          <a:xfrm>
            <a:off x="4617720" y="3063240"/>
            <a:ext cx="3017520" cy="23774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Uncertain: needs prediction of delays</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Combinatorial: needs search over routes</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Rule-bound: needs retrieval of policy text</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A fixed rule handles none of the three</a:t>
            </a:r>
            <a:endParaRPr lang="en-US" sz="1500" dirty="0"/>
          </a:p>
        </p:txBody>
      </p:sp>
      <p:sp>
        <p:nvSpPr>
          <p:cNvPr id="16" name="Shape 14"/>
          <p:cNvSpPr/>
          <p:nvPr/>
        </p:nvSpPr>
        <p:spPr>
          <a:xfrm>
            <a:off x="8092440" y="2148840"/>
            <a:ext cx="3474720" cy="3429000"/>
          </a:xfrm>
          <a:prstGeom prst="roundRect">
            <a:avLst>
              <a:gd name="adj" fmla="val 2133"/>
            </a:avLst>
          </a:prstGeom>
          <a:solidFill>
            <a:srgbClr val="11263B"/>
          </a:solidFill>
          <a:ln w="12700">
            <a:solidFill>
              <a:srgbClr val="28536B"/>
            </a:solidFill>
            <a:prstDash val="solid"/>
          </a:ln>
        </p:spPr>
      </p:sp>
      <p:sp>
        <p:nvSpPr>
          <p:cNvPr id="17" name="Shape 15"/>
          <p:cNvSpPr/>
          <p:nvPr/>
        </p:nvSpPr>
        <p:spPr>
          <a:xfrm>
            <a:off x="8366760" y="2377440"/>
            <a:ext cx="457200" cy="457200"/>
          </a:xfrm>
          <a:prstGeom prst="ellipse">
            <a:avLst/>
          </a:prstGeom>
          <a:solidFill>
            <a:srgbClr val="3CCB8F"/>
          </a:solidFill>
          <a:ln w="12700">
            <a:solidFill>
              <a:srgbClr val="3CCB8F"/>
            </a:solidFill>
            <a:prstDash val="solid"/>
          </a:ln>
        </p:spPr>
      </p:sp>
      <p:sp>
        <p:nvSpPr>
          <p:cNvPr id="18" name="Text 16"/>
          <p:cNvSpPr txBox="1"/>
          <p:nvPr/>
        </p:nvSpPr>
        <p:spPr>
          <a:xfrm>
            <a:off x="8366760" y="2377440"/>
            <a:ext cx="457200" cy="457200"/>
          </a:xfrm>
          <a:prstGeom prst="rect">
            <a:avLst/>
          </a:prstGeom>
          <a:noFill/>
          <a:ln/>
        </p:spPr>
        <p:txBody>
          <a:bodyPr wrap="square" lIns="0" tIns="0" rIns="0" bIns="0" rtlCol="0" anchor="ctr"/>
          <a:lstStyle/>
          <a:p>
            <a:pPr algn="ctr" indent="0" marL="0">
              <a:buNone/>
            </a:pPr>
            <a:r>
              <a:rPr lang="en-US" sz="1500" b="1" dirty="0">
                <a:solidFill>
                  <a:srgbClr val="071627"/>
                </a:solidFill>
                <a:latin typeface="Aptos" pitchFamily="34" charset="0"/>
                <a:ea typeface="Aptos" pitchFamily="34" charset="-122"/>
                <a:cs typeface="Aptos" pitchFamily="34" charset="-120"/>
              </a:rPr>
              <a:t>C3</a:t>
            </a:r>
            <a:endParaRPr lang="en-US" sz="1500" dirty="0"/>
          </a:p>
        </p:txBody>
      </p:sp>
      <p:sp>
        <p:nvSpPr>
          <p:cNvPr id="19" name="Text 17"/>
          <p:cNvSpPr txBox="1"/>
          <p:nvPr/>
        </p:nvSpPr>
        <p:spPr>
          <a:xfrm>
            <a:off x="8915400" y="2395728"/>
            <a:ext cx="2560320" cy="457200"/>
          </a:xfrm>
          <a:prstGeom prst="rect">
            <a:avLst/>
          </a:prstGeom>
          <a:noFill/>
          <a:ln/>
        </p:spPr>
        <p:txBody>
          <a:bodyPr wrap="square" lIns="0" tIns="0" rIns="0" bIns="0" rtlCol="0" anchor="ctr"/>
          <a:lstStyle/>
          <a:p>
            <a:pPr indent="0" marL="0">
              <a:buNone/>
            </a:pPr>
            <a:r>
              <a:rPr lang="en-US" sz="1800" b="1" dirty="0">
                <a:solidFill>
                  <a:srgbClr val="F4F8FC"/>
                </a:solidFill>
                <a:latin typeface="Aptos" pitchFamily="34" charset="0"/>
                <a:ea typeface="Aptos" pitchFamily="34" charset="-122"/>
                <a:cs typeface="Aptos" pitchFamily="34" charset="-120"/>
              </a:rPr>
              <a:t>Feasible this semester</a:t>
            </a:r>
            <a:endParaRPr lang="en-US" sz="1800" dirty="0"/>
          </a:p>
        </p:txBody>
      </p:sp>
      <p:sp>
        <p:nvSpPr>
          <p:cNvPr id="20" name="Text 18"/>
          <p:cNvSpPr txBox="1"/>
          <p:nvPr/>
        </p:nvSpPr>
        <p:spPr>
          <a:xfrm>
            <a:off x="8366760" y="3063240"/>
            <a:ext cx="3017520" cy="23774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Public U.S. BTS delay history, millions of flights</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Small search graph; LLM through an API</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A working prototype already runs end to end</a:t>
            </a:r>
            <a:endParaRPr lang="en-US" sz="1500" dirty="0"/>
          </a:p>
        </p:txBody>
      </p:sp>
      <p:sp>
        <p:nvSpPr>
          <p:cNvPr id="21" name="Text 19"/>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Criteria C1–C3: MIS520 Project Instructions, “What makes a good AI project?”</a:t>
            </a:r>
            <a:endParaRPr lang="en-US" sz="1100" dirty="0"/>
          </a:p>
        </p:txBody>
      </p:sp>
      <p:sp>
        <p:nvSpPr>
          <p:cNvPr id="22" name="Text 20"/>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237744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3:00–3:50</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From business question to technical problem</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Input → processing → output, with a human at the end</a:t>
            </a:r>
            <a:endParaRPr lang="en-US" sz="2000" dirty="0"/>
          </a:p>
        </p:txBody>
      </p:sp>
      <p:sp>
        <p:nvSpPr>
          <p:cNvPr id="6" name="Shape 4"/>
          <p:cNvSpPr/>
          <p:nvPr/>
        </p:nvSpPr>
        <p:spPr>
          <a:xfrm>
            <a:off x="594360" y="2103120"/>
            <a:ext cx="3017520" cy="2926080"/>
          </a:xfrm>
          <a:prstGeom prst="roundRect">
            <a:avLst>
              <a:gd name="adj" fmla="val 2500"/>
            </a:avLst>
          </a:prstGeom>
          <a:solidFill>
            <a:srgbClr val="11263B"/>
          </a:solidFill>
          <a:ln w="12700">
            <a:solidFill>
              <a:srgbClr val="28536B"/>
            </a:solidFill>
            <a:prstDash val="solid"/>
          </a:ln>
        </p:spPr>
      </p:sp>
      <p:sp>
        <p:nvSpPr>
          <p:cNvPr id="7" name="Text 5"/>
          <p:cNvSpPr txBox="1"/>
          <p:nvPr/>
        </p:nvSpPr>
        <p:spPr>
          <a:xfrm>
            <a:off x="868680" y="2240280"/>
            <a:ext cx="2468880" cy="320040"/>
          </a:xfrm>
          <a:prstGeom prst="rect">
            <a:avLst/>
          </a:prstGeom>
          <a:noFill/>
          <a:ln/>
        </p:spPr>
        <p:txBody>
          <a:bodyPr wrap="square" lIns="0" tIns="0" rIns="0" bIns="0" rtlCol="0" anchor="t"/>
          <a:lstStyle/>
          <a:p>
            <a:pPr indent="0" marL="0">
              <a:buNone/>
            </a:pPr>
            <a:r>
              <a:rPr lang="en-US" sz="1400" b="1" spc="200" kern="0" dirty="0">
                <a:solidFill>
                  <a:srgbClr val="45D7E8"/>
                </a:solidFill>
                <a:latin typeface="Aptos" pitchFamily="34" charset="0"/>
                <a:ea typeface="Aptos" pitchFamily="34" charset="-122"/>
                <a:cs typeface="Aptos" pitchFamily="34" charset="-120"/>
              </a:rPr>
              <a:t>INPUT</a:t>
            </a:r>
            <a:endParaRPr lang="en-US" sz="1400" dirty="0"/>
          </a:p>
        </p:txBody>
      </p:sp>
      <p:sp>
        <p:nvSpPr>
          <p:cNvPr id="8" name="Text 6"/>
          <p:cNvSpPr txBox="1"/>
          <p:nvPr/>
        </p:nvSpPr>
        <p:spPr>
          <a:xfrm>
            <a:off x="868680" y="2697480"/>
            <a:ext cx="2560320" cy="22860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BTS on-time history</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Timetable, connection times, seats left</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Traveller's priority: cost vs. time</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Policy text: EU261, carrier rules</a:t>
            </a:r>
            <a:endParaRPr lang="en-US" sz="1500" dirty="0"/>
          </a:p>
        </p:txBody>
      </p:sp>
      <p:sp>
        <p:nvSpPr>
          <p:cNvPr id="9" name="Shape 7"/>
          <p:cNvSpPr/>
          <p:nvPr/>
        </p:nvSpPr>
        <p:spPr>
          <a:xfrm>
            <a:off x="4069080" y="2103120"/>
            <a:ext cx="4023360" cy="2926080"/>
          </a:xfrm>
          <a:prstGeom prst="roundRect">
            <a:avLst>
              <a:gd name="adj" fmla="val 2500"/>
            </a:avLst>
          </a:prstGeom>
          <a:solidFill>
            <a:srgbClr val="11263B"/>
          </a:solidFill>
          <a:ln w="12700">
            <a:solidFill>
              <a:srgbClr val="28536B"/>
            </a:solidFill>
            <a:prstDash val="solid"/>
          </a:ln>
        </p:spPr>
      </p:sp>
      <p:sp>
        <p:nvSpPr>
          <p:cNvPr id="10" name="Text 8"/>
          <p:cNvSpPr txBox="1"/>
          <p:nvPr/>
        </p:nvSpPr>
        <p:spPr>
          <a:xfrm>
            <a:off x="4343400" y="2240280"/>
            <a:ext cx="3474720" cy="320040"/>
          </a:xfrm>
          <a:prstGeom prst="rect">
            <a:avLst/>
          </a:prstGeom>
          <a:noFill/>
          <a:ln/>
        </p:spPr>
        <p:txBody>
          <a:bodyPr wrap="square" lIns="0" tIns="0" rIns="0" bIns="0" rtlCol="0" anchor="t"/>
          <a:lstStyle/>
          <a:p>
            <a:pPr indent="0" marL="0">
              <a:buNone/>
            </a:pPr>
            <a:r>
              <a:rPr lang="en-US" sz="1400" b="1" spc="200" kern="0" dirty="0">
                <a:solidFill>
                  <a:srgbClr val="45D7E8"/>
                </a:solidFill>
                <a:latin typeface="Aptos" pitchFamily="34" charset="0"/>
                <a:ea typeface="Aptos" pitchFamily="34" charset="-122"/>
                <a:cs typeface="Aptos" pitchFamily="34" charset="-120"/>
              </a:rPr>
              <a:t>PROCESSING</a:t>
            </a:r>
            <a:endParaRPr lang="en-US" sz="1400" dirty="0"/>
          </a:p>
        </p:txBody>
      </p:sp>
      <p:sp>
        <p:nvSpPr>
          <p:cNvPr id="11" name="Text 9"/>
          <p:cNvSpPr txBox="1"/>
          <p:nvPr/>
        </p:nvSpPr>
        <p:spPr>
          <a:xfrm>
            <a:off x="4343400" y="2697480"/>
            <a:ext cx="3566160" cy="22860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① Delay model → chance each connection works</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② Flight graph + Dijkstra / A* → feasible routes</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③ Expected-cost optimizer → ranking</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④ Retrieval + LLM → cited explanation</a:t>
            </a:r>
            <a:endParaRPr lang="en-US" sz="1500" dirty="0"/>
          </a:p>
        </p:txBody>
      </p:sp>
      <p:sp>
        <p:nvSpPr>
          <p:cNvPr id="12" name="Shape 10"/>
          <p:cNvSpPr/>
          <p:nvPr/>
        </p:nvSpPr>
        <p:spPr>
          <a:xfrm>
            <a:off x="8549640" y="2103120"/>
            <a:ext cx="3017520" cy="2926080"/>
          </a:xfrm>
          <a:prstGeom prst="roundRect">
            <a:avLst>
              <a:gd name="adj" fmla="val 2500"/>
            </a:avLst>
          </a:prstGeom>
          <a:solidFill>
            <a:srgbClr val="11263B"/>
          </a:solidFill>
          <a:ln w="12700">
            <a:solidFill>
              <a:srgbClr val="28536B"/>
            </a:solidFill>
            <a:prstDash val="solid"/>
          </a:ln>
        </p:spPr>
      </p:sp>
      <p:sp>
        <p:nvSpPr>
          <p:cNvPr id="13" name="Text 11"/>
          <p:cNvSpPr txBox="1"/>
          <p:nvPr/>
        </p:nvSpPr>
        <p:spPr>
          <a:xfrm>
            <a:off x="8823960" y="2240280"/>
            <a:ext cx="2468880" cy="320040"/>
          </a:xfrm>
          <a:prstGeom prst="rect">
            <a:avLst/>
          </a:prstGeom>
          <a:noFill/>
          <a:ln/>
        </p:spPr>
        <p:txBody>
          <a:bodyPr wrap="square" lIns="0" tIns="0" rIns="0" bIns="0" rtlCol="0" anchor="t"/>
          <a:lstStyle/>
          <a:p>
            <a:pPr indent="0" marL="0">
              <a:buNone/>
            </a:pPr>
            <a:r>
              <a:rPr lang="en-US" sz="1400" b="1" spc="200" kern="0" dirty="0">
                <a:solidFill>
                  <a:srgbClr val="45D7E8"/>
                </a:solidFill>
                <a:latin typeface="Aptos" pitchFamily="34" charset="0"/>
                <a:ea typeface="Aptos" pitchFamily="34" charset="-122"/>
                <a:cs typeface="Aptos" pitchFamily="34" charset="-120"/>
              </a:rPr>
              <a:t>OUTPUT</a:t>
            </a:r>
            <a:endParaRPr lang="en-US" sz="1400" dirty="0"/>
          </a:p>
        </p:txBody>
      </p:sp>
      <p:sp>
        <p:nvSpPr>
          <p:cNvPr id="14" name="Text 12"/>
          <p:cNvSpPr txBox="1"/>
          <p:nvPr/>
        </p:nvSpPr>
        <p:spPr>
          <a:xfrm>
            <a:off x="8823960" y="2697480"/>
            <a:ext cx="2560320" cy="22860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Ranked recovery options</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Chance each plan works</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Expected arrival and cost</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Plain-language explanation</a:t>
            </a:r>
            <a:endParaRPr lang="en-US" sz="1500" dirty="0"/>
          </a:p>
        </p:txBody>
      </p:sp>
      <p:sp>
        <p:nvSpPr>
          <p:cNvPr id="15" name="Shape 13"/>
          <p:cNvSpPr/>
          <p:nvPr/>
        </p:nvSpPr>
        <p:spPr>
          <a:xfrm>
            <a:off x="3657600" y="3566160"/>
            <a:ext cx="365760" cy="0"/>
          </a:xfrm>
          <a:prstGeom prst="line">
            <a:avLst/>
          </a:prstGeom>
          <a:noFill/>
          <a:ln w="25400">
            <a:solidFill>
              <a:srgbClr val="45D7E8"/>
            </a:solidFill>
            <a:prstDash val="solid"/>
            <a:tailEnd type="triangle"/>
          </a:ln>
        </p:spPr>
      </p:sp>
      <p:sp>
        <p:nvSpPr>
          <p:cNvPr id="16" name="Shape 14"/>
          <p:cNvSpPr/>
          <p:nvPr/>
        </p:nvSpPr>
        <p:spPr>
          <a:xfrm>
            <a:off x="8138160" y="3566160"/>
            <a:ext cx="365760" cy="0"/>
          </a:xfrm>
          <a:prstGeom prst="line">
            <a:avLst/>
          </a:prstGeom>
          <a:noFill/>
          <a:ln w="25400">
            <a:solidFill>
              <a:srgbClr val="45D7E8"/>
            </a:solidFill>
            <a:prstDash val="solid"/>
            <a:tailEnd type="triangle"/>
          </a:ln>
        </p:spPr>
      </p:sp>
      <p:sp>
        <p:nvSpPr>
          <p:cNvPr id="17" name="Shape 15"/>
          <p:cNvSpPr/>
          <p:nvPr/>
        </p:nvSpPr>
        <p:spPr>
          <a:xfrm>
            <a:off x="594360" y="5257800"/>
            <a:ext cx="10972800" cy="731520"/>
          </a:xfrm>
          <a:prstGeom prst="roundRect">
            <a:avLst>
              <a:gd name="adj" fmla="val 10000"/>
            </a:avLst>
          </a:prstGeom>
          <a:solidFill>
            <a:srgbClr val="0D3345"/>
          </a:solidFill>
          <a:ln w="12700">
            <a:solidFill>
              <a:srgbClr val="28536B"/>
            </a:solidFill>
            <a:prstDash val="solid"/>
          </a:ln>
        </p:spPr>
      </p:sp>
      <p:sp>
        <p:nvSpPr>
          <p:cNvPr id="18" name="Text 16"/>
          <p:cNvSpPr txBox="1"/>
          <p:nvPr/>
        </p:nvSpPr>
        <p:spPr>
          <a:xfrm>
            <a:off x="868680" y="5257800"/>
            <a:ext cx="10424160" cy="731520"/>
          </a:xfrm>
          <a:prstGeom prst="rect">
            <a:avLst/>
          </a:prstGeom>
          <a:noFill/>
          <a:ln/>
        </p:spPr>
        <p:txBody>
          <a:bodyPr wrap="square" lIns="0" tIns="0" rIns="0" bIns="0" rtlCol="0" anchor="ctr"/>
          <a:lstStyle/>
          <a:p>
            <a:pPr indent="0" marL="0">
              <a:buNone/>
            </a:pPr>
            <a:r>
              <a:rPr lang="en-US" sz="1600" b="1" dirty="0">
                <a:solidFill>
                  <a:srgbClr val="F4F8FC"/>
                </a:solidFill>
                <a:latin typeface="Aptos" pitchFamily="34" charset="0"/>
                <a:ea typeface="Aptos" pitchFamily="34" charset="-122"/>
                <a:cs typeface="Aptos" pitchFamily="34" charset="-120"/>
              </a:rPr>
              <a:t>Agent approves or overrides → reason is logged → overrides reviewed weekly to recalibrate costs</a:t>
            </a:r>
            <a:endParaRPr lang="en-US" sz="1600" dirty="0"/>
          </a:p>
        </p:txBody>
      </p:sp>
      <p:sp>
        <p:nvSpPr>
          <p:cNvPr id="19" name="Text 17"/>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Architecture follows the class pattern: rule / policy gate → model → validation → human approval (Class 2)</a:t>
            </a:r>
            <a:endParaRPr lang="en-US" sz="1100" dirty="0"/>
          </a:p>
        </p:txBody>
      </p:sp>
      <p:sp>
        <p:nvSpPr>
          <p:cNvPr id="20" name="Text 18"/>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237744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3:50–4:40</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Decision model: one score, in dollars</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Different priorities produce different optimal routes</a:t>
            </a:r>
            <a:endParaRPr lang="en-US" sz="2000" dirty="0"/>
          </a:p>
        </p:txBody>
      </p:sp>
      <p:sp>
        <p:nvSpPr>
          <p:cNvPr id="6" name="Shape 4"/>
          <p:cNvSpPr/>
          <p:nvPr/>
        </p:nvSpPr>
        <p:spPr>
          <a:xfrm>
            <a:off x="594360" y="2103120"/>
            <a:ext cx="6492240" cy="3840480"/>
          </a:xfrm>
          <a:prstGeom prst="roundRect">
            <a:avLst>
              <a:gd name="adj" fmla="val 1905"/>
            </a:avLst>
          </a:prstGeom>
          <a:solidFill>
            <a:srgbClr val="11263B"/>
          </a:solidFill>
          <a:ln w="12700">
            <a:solidFill>
              <a:srgbClr val="28536B"/>
            </a:solidFill>
            <a:prstDash val="solid"/>
          </a:ln>
        </p:spPr>
      </p:sp>
      <p:sp>
        <p:nvSpPr>
          <p:cNvPr id="7" name="Text 5"/>
          <p:cNvSpPr txBox="1"/>
          <p:nvPr/>
        </p:nvSpPr>
        <p:spPr>
          <a:xfrm>
            <a:off x="868680" y="2286000"/>
            <a:ext cx="6035040" cy="365760"/>
          </a:xfrm>
          <a:prstGeom prst="rect">
            <a:avLst/>
          </a:prstGeom>
          <a:noFill/>
          <a:ln/>
        </p:spPr>
        <p:txBody>
          <a:bodyPr wrap="square" lIns="0" tIns="0" rIns="0" bIns="0" rtlCol="0" anchor="t"/>
          <a:lstStyle/>
          <a:p>
            <a:pPr indent="0" marL="0">
              <a:buNone/>
            </a:pPr>
            <a:r>
              <a:rPr lang="en-US" sz="1700" b="1" dirty="0">
                <a:solidFill>
                  <a:srgbClr val="45D7E8"/>
                </a:solidFill>
                <a:latin typeface="Aptos" pitchFamily="34" charset="0"/>
                <a:ea typeface="Aptos" pitchFamily="34" charset="-122"/>
                <a:cs typeface="Aptos" pitchFamily="34" charset="-120"/>
              </a:rPr>
              <a:t>Expected cost of a recovery route =</a:t>
            </a:r>
            <a:endParaRPr lang="en-US" sz="1700" dirty="0"/>
          </a:p>
        </p:txBody>
      </p:sp>
      <p:sp>
        <p:nvSpPr>
          <p:cNvPr id="8" name="Text 6"/>
          <p:cNvSpPr txBox="1"/>
          <p:nvPr/>
        </p:nvSpPr>
        <p:spPr>
          <a:xfrm>
            <a:off x="868680" y="2788920"/>
            <a:ext cx="6035040" cy="210312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F4F8FC"/>
                </a:solidFill>
                <a:latin typeface="Aptos" pitchFamily="34" charset="0"/>
                <a:ea typeface="Aptos" pitchFamily="34" charset="-122"/>
                <a:cs typeface="Aptos" pitchFamily="34" charset="-120"/>
              </a:rPr>
              <a:t>cash cost (fares, seats on other airlines)</a:t>
            </a:r>
            <a:endParaRPr lang="en-US" sz="1500" dirty="0"/>
          </a:p>
          <a:p>
            <a:pPr marL="203200" indent="-203200">
              <a:spcAft>
                <a:spcPts val="600"/>
              </a:spcAft>
              <a:buSzPct val="100000"/>
              <a:buChar char="•"/>
            </a:pPr>
            <a:r>
              <a:rPr lang="en-US" sz="1600" dirty="0">
                <a:solidFill>
                  <a:srgbClr val="F4F8FC"/>
                </a:solidFill>
                <a:latin typeface="Aptos" pitchFamily="34" charset="0"/>
                <a:ea typeface="Aptos" pitchFamily="34" charset="-122"/>
                <a:cs typeface="Aptos" pitchFamily="34" charset="-120"/>
              </a:rPr>
              <a:t>+ value of time × expected delay</a:t>
            </a:r>
            <a:endParaRPr lang="en-US" sz="1500" dirty="0"/>
          </a:p>
          <a:p>
            <a:pPr marL="203200" indent="-203200">
              <a:spcAft>
                <a:spcPts val="600"/>
              </a:spcAft>
              <a:buSzPct val="100000"/>
              <a:buChar char="•"/>
            </a:pPr>
            <a:r>
              <a:rPr lang="en-US" sz="1600" dirty="0">
                <a:solidFill>
                  <a:srgbClr val="F4F8FC"/>
                </a:solidFill>
                <a:latin typeface="Aptos" pitchFamily="34" charset="0"/>
                <a:ea typeface="Aptos" pitchFamily="34" charset="-122"/>
                <a:cs typeface="Aptos" pitchFamily="34" charset="-120"/>
              </a:rPr>
              <a:t>+ Σ P(plan fails at leg i) × cost of the fallback</a:t>
            </a:r>
            <a:endParaRPr lang="en-US" sz="1500" dirty="0"/>
          </a:p>
          <a:p>
            <a:pPr marL="203200" indent="-203200">
              <a:spcAft>
                <a:spcPts val="600"/>
              </a:spcAft>
              <a:buSzPct val="100000"/>
              <a:buChar char="•"/>
            </a:pPr>
            <a:r>
              <a:rPr lang="en-US" sz="1600" dirty="0">
                <a:solidFill>
                  <a:srgbClr val="F4F8FC"/>
                </a:solidFill>
                <a:latin typeface="Aptos" pitchFamily="34" charset="0"/>
                <a:ea typeface="Aptos" pitchFamily="34" charset="-122"/>
                <a:cs typeface="Aptos" pitchFamily="34" charset="-120"/>
              </a:rPr>
              <a:t>+ inconvenience per extra connection</a:t>
            </a:r>
            <a:endParaRPr lang="en-US" sz="1500" dirty="0"/>
          </a:p>
          <a:p>
            <a:pPr marL="203200" indent="-203200">
              <a:spcAft>
                <a:spcPts val="600"/>
              </a:spcAft>
              <a:buSzPct val="100000"/>
              <a:buChar char="•"/>
            </a:pPr>
            <a:r>
              <a:rPr lang="en-US" sz="1600" dirty="0">
                <a:solidFill>
                  <a:srgbClr val="F4F8FC"/>
                </a:solidFill>
                <a:latin typeface="Aptos" pitchFamily="34" charset="0"/>
                <a:ea typeface="Aptos" pitchFamily="34" charset="-122"/>
                <a:cs typeface="Aptos" pitchFamily="34" charset="-120"/>
              </a:rPr>
              <a:t>airline view adds: expected EU261 + meals / hotel</a:t>
            </a:r>
            <a:endParaRPr lang="en-US" sz="1500" dirty="0"/>
          </a:p>
        </p:txBody>
      </p:sp>
      <p:sp>
        <p:nvSpPr>
          <p:cNvPr id="9" name="Text 7"/>
          <p:cNvSpPr txBox="1"/>
          <p:nvPr/>
        </p:nvSpPr>
        <p:spPr>
          <a:xfrm>
            <a:off x="868680" y="4983480"/>
            <a:ext cx="6035040" cy="82296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The priority slider sets the value of time; the traveller / airline switch sets whose costs count.</a:t>
            </a:r>
            <a:endParaRPr lang="en-US" sz="1400" dirty="0"/>
          </a:p>
        </p:txBody>
      </p:sp>
      <p:sp>
        <p:nvSpPr>
          <p:cNvPr id="10" name="Text 8"/>
          <p:cNvSpPr txBox="1"/>
          <p:nvPr/>
        </p:nvSpPr>
        <p:spPr>
          <a:xfrm>
            <a:off x="7406640" y="2103120"/>
            <a:ext cx="4206240" cy="365760"/>
          </a:xfrm>
          <a:prstGeom prst="rect">
            <a:avLst/>
          </a:prstGeom>
          <a:noFill/>
          <a:ln/>
        </p:spPr>
        <p:txBody>
          <a:bodyPr wrap="square" lIns="0" tIns="0" rIns="0" bIns="0" rtlCol="0" anchor="t"/>
          <a:lstStyle/>
          <a:p>
            <a:pPr indent="0" marL="0">
              <a:buNone/>
            </a:pPr>
            <a:r>
              <a:rPr lang="en-US" sz="1700" b="1" dirty="0">
                <a:solidFill>
                  <a:srgbClr val="F4F8FC"/>
                </a:solidFill>
                <a:latin typeface="Aptos" pitchFamily="34" charset="0"/>
                <a:ea typeface="Aptos" pitchFamily="34" charset="-122"/>
                <a:cs typeface="Aptos" pitchFamily="34" charset="-120"/>
              </a:rPr>
              <a:t>EU261 is a step, not a slope</a:t>
            </a:r>
            <a:endParaRPr lang="en-US" sz="1700" dirty="0"/>
          </a:p>
        </p:txBody>
      </p:sp>
      <p:sp>
        <p:nvSpPr>
          <p:cNvPr id="11" name="Shape 9"/>
          <p:cNvSpPr/>
          <p:nvPr/>
        </p:nvSpPr>
        <p:spPr>
          <a:xfrm>
            <a:off x="7406640" y="2606040"/>
            <a:ext cx="4160520" cy="777240"/>
          </a:xfrm>
          <a:prstGeom prst="roundRect">
            <a:avLst>
              <a:gd name="adj" fmla="val 9412"/>
            </a:avLst>
          </a:prstGeom>
          <a:solidFill>
            <a:srgbClr val="11263B"/>
          </a:solidFill>
          <a:ln w="12700">
            <a:solidFill>
              <a:srgbClr val="28536B"/>
            </a:solidFill>
            <a:prstDash val="solid"/>
          </a:ln>
        </p:spPr>
      </p:sp>
      <p:sp>
        <p:nvSpPr>
          <p:cNvPr id="12" name="Text 10"/>
          <p:cNvSpPr txBox="1"/>
          <p:nvPr/>
        </p:nvSpPr>
        <p:spPr>
          <a:xfrm>
            <a:off x="7680960" y="2606040"/>
            <a:ext cx="2011680" cy="777240"/>
          </a:xfrm>
          <a:prstGeom prst="rect">
            <a:avLst/>
          </a:prstGeom>
          <a:noFill/>
          <a:ln/>
        </p:spPr>
        <p:txBody>
          <a:bodyPr wrap="square" lIns="0" tIns="0" rIns="0" bIns="0" rtlCol="0" anchor="ctr"/>
          <a:lstStyle/>
          <a:p>
            <a:pPr indent="0" marL="0">
              <a:buNone/>
            </a:pPr>
            <a:r>
              <a:rPr lang="en-US" sz="1600" dirty="0">
                <a:solidFill>
                  <a:srgbClr val="F4F8FC"/>
                </a:solidFill>
                <a:latin typeface="Aptos" pitchFamily="34" charset="0"/>
                <a:ea typeface="Aptos" pitchFamily="34" charset="-122"/>
                <a:cs typeface="Aptos" pitchFamily="34" charset="-120"/>
              </a:rPr>
              <a:t>&lt; 3 h late</a:t>
            </a:r>
            <a:endParaRPr lang="en-US" sz="1600" dirty="0"/>
          </a:p>
        </p:txBody>
      </p:sp>
      <p:sp>
        <p:nvSpPr>
          <p:cNvPr id="13" name="Text 11"/>
          <p:cNvSpPr txBox="1"/>
          <p:nvPr/>
        </p:nvSpPr>
        <p:spPr>
          <a:xfrm>
            <a:off x="9692640" y="2606040"/>
            <a:ext cx="1645920" cy="777240"/>
          </a:xfrm>
          <a:prstGeom prst="rect">
            <a:avLst/>
          </a:prstGeom>
          <a:noFill/>
          <a:ln/>
        </p:spPr>
        <p:txBody>
          <a:bodyPr wrap="square" lIns="0" tIns="0" rIns="0" bIns="0" rtlCol="0" anchor="ctr"/>
          <a:lstStyle/>
          <a:p>
            <a:pPr algn="r" indent="0" marL="0">
              <a:buNone/>
            </a:pPr>
            <a:r>
              <a:rPr lang="en-US" sz="2600" b="1" dirty="0">
                <a:solidFill>
                  <a:srgbClr val="3CCB8F"/>
                </a:solidFill>
                <a:latin typeface="Aptos" pitchFamily="34" charset="0"/>
                <a:ea typeface="Aptos" pitchFamily="34" charset="-122"/>
                <a:cs typeface="Aptos" pitchFamily="34" charset="-120"/>
              </a:rPr>
              <a:t>€0</a:t>
            </a:r>
            <a:endParaRPr lang="en-US" sz="2600" dirty="0"/>
          </a:p>
        </p:txBody>
      </p:sp>
      <p:sp>
        <p:nvSpPr>
          <p:cNvPr id="14" name="Shape 12"/>
          <p:cNvSpPr/>
          <p:nvPr/>
        </p:nvSpPr>
        <p:spPr>
          <a:xfrm>
            <a:off x="7406640" y="3538728"/>
            <a:ext cx="4160520" cy="777240"/>
          </a:xfrm>
          <a:prstGeom prst="roundRect">
            <a:avLst>
              <a:gd name="adj" fmla="val 9412"/>
            </a:avLst>
          </a:prstGeom>
          <a:solidFill>
            <a:srgbClr val="11263B"/>
          </a:solidFill>
          <a:ln w="12700">
            <a:solidFill>
              <a:srgbClr val="28536B"/>
            </a:solidFill>
            <a:prstDash val="solid"/>
          </a:ln>
        </p:spPr>
      </p:sp>
      <p:sp>
        <p:nvSpPr>
          <p:cNvPr id="15" name="Text 13"/>
          <p:cNvSpPr txBox="1"/>
          <p:nvPr/>
        </p:nvSpPr>
        <p:spPr>
          <a:xfrm>
            <a:off x="7680960" y="3538728"/>
            <a:ext cx="2011680" cy="777240"/>
          </a:xfrm>
          <a:prstGeom prst="rect">
            <a:avLst/>
          </a:prstGeom>
          <a:noFill/>
          <a:ln/>
        </p:spPr>
        <p:txBody>
          <a:bodyPr wrap="square" lIns="0" tIns="0" rIns="0" bIns="0" rtlCol="0" anchor="ctr"/>
          <a:lstStyle/>
          <a:p>
            <a:pPr indent="0" marL="0">
              <a:buNone/>
            </a:pPr>
            <a:r>
              <a:rPr lang="en-US" sz="1600" dirty="0">
                <a:solidFill>
                  <a:srgbClr val="F4F8FC"/>
                </a:solidFill>
                <a:latin typeface="Aptos" pitchFamily="34" charset="0"/>
                <a:ea typeface="Aptos" pitchFamily="34" charset="-122"/>
                <a:cs typeface="Aptos" pitchFamily="34" charset="-120"/>
              </a:rPr>
              <a:t>3–4 h late</a:t>
            </a:r>
            <a:endParaRPr lang="en-US" sz="1600" dirty="0"/>
          </a:p>
        </p:txBody>
      </p:sp>
      <p:sp>
        <p:nvSpPr>
          <p:cNvPr id="16" name="Text 14"/>
          <p:cNvSpPr txBox="1"/>
          <p:nvPr/>
        </p:nvSpPr>
        <p:spPr>
          <a:xfrm>
            <a:off x="9692640" y="3538728"/>
            <a:ext cx="1645920" cy="777240"/>
          </a:xfrm>
          <a:prstGeom prst="rect">
            <a:avLst/>
          </a:prstGeom>
          <a:noFill/>
          <a:ln/>
        </p:spPr>
        <p:txBody>
          <a:bodyPr wrap="square" lIns="0" tIns="0" rIns="0" bIns="0" rtlCol="0" anchor="ctr"/>
          <a:lstStyle/>
          <a:p>
            <a:pPr algn="r" indent="0" marL="0">
              <a:buNone/>
            </a:pPr>
            <a:r>
              <a:rPr lang="en-US" sz="2600" b="1" dirty="0">
                <a:solidFill>
                  <a:srgbClr val="F2B84B"/>
                </a:solidFill>
                <a:latin typeface="Aptos" pitchFamily="34" charset="0"/>
                <a:ea typeface="Aptos" pitchFamily="34" charset="-122"/>
                <a:cs typeface="Aptos" pitchFamily="34" charset="-120"/>
              </a:rPr>
              <a:t>€300</a:t>
            </a:r>
            <a:endParaRPr lang="en-US" sz="2600" dirty="0"/>
          </a:p>
        </p:txBody>
      </p:sp>
      <p:sp>
        <p:nvSpPr>
          <p:cNvPr id="17" name="Shape 15"/>
          <p:cNvSpPr/>
          <p:nvPr/>
        </p:nvSpPr>
        <p:spPr>
          <a:xfrm>
            <a:off x="7406640" y="4471416"/>
            <a:ext cx="4160520" cy="777240"/>
          </a:xfrm>
          <a:prstGeom prst="roundRect">
            <a:avLst>
              <a:gd name="adj" fmla="val 9412"/>
            </a:avLst>
          </a:prstGeom>
          <a:solidFill>
            <a:srgbClr val="11263B"/>
          </a:solidFill>
          <a:ln w="12700">
            <a:solidFill>
              <a:srgbClr val="28536B"/>
            </a:solidFill>
            <a:prstDash val="solid"/>
          </a:ln>
        </p:spPr>
      </p:sp>
      <p:sp>
        <p:nvSpPr>
          <p:cNvPr id="18" name="Text 16"/>
          <p:cNvSpPr txBox="1"/>
          <p:nvPr/>
        </p:nvSpPr>
        <p:spPr>
          <a:xfrm>
            <a:off x="7680960" y="4471416"/>
            <a:ext cx="2011680" cy="777240"/>
          </a:xfrm>
          <a:prstGeom prst="rect">
            <a:avLst/>
          </a:prstGeom>
          <a:noFill/>
          <a:ln/>
        </p:spPr>
        <p:txBody>
          <a:bodyPr wrap="square" lIns="0" tIns="0" rIns="0" bIns="0" rtlCol="0" anchor="ctr"/>
          <a:lstStyle/>
          <a:p>
            <a:pPr indent="0" marL="0">
              <a:buNone/>
            </a:pPr>
            <a:r>
              <a:rPr lang="en-US" sz="1600" dirty="0">
                <a:solidFill>
                  <a:srgbClr val="F4F8FC"/>
                </a:solidFill>
                <a:latin typeface="Aptos" pitchFamily="34" charset="0"/>
                <a:ea typeface="Aptos" pitchFamily="34" charset="-122"/>
                <a:cs typeface="Aptos" pitchFamily="34" charset="-120"/>
              </a:rPr>
              <a:t>4 h+ late</a:t>
            </a:r>
            <a:endParaRPr lang="en-US" sz="1600" dirty="0"/>
          </a:p>
        </p:txBody>
      </p:sp>
      <p:sp>
        <p:nvSpPr>
          <p:cNvPr id="19" name="Text 17"/>
          <p:cNvSpPr txBox="1"/>
          <p:nvPr/>
        </p:nvSpPr>
        <p:spPr>
          <a:xfrm>
            <a:off x="9692640" y="4471416"/>
            <a:ext cx="1645920" cy="777240"/>
          </a:xfrm>
          <a:prstGeom prst="rect">
            <a:avLst/>
          </a:prstGeom>
          <a:noFill/>
          <a:ln/>
        </p:spPr>
        <p:txBody>
          <a:bodyPr wrap="square" lIns="0" tIns="0" rIns="0" bIns="0" rtlCol="0" anchor="ctr"/>
          <a:lstStyle/>
          <a:p>
            <a:pPr algn="r" indent="0" marL="0">
              <a:buNone/>
            </a:pPr>
            <a:r>
              <a:rPr lang="en-US" sz="2600" b="1" dirty="0">
                <a:solidFill>
                  <a:srgbClr val="E0485F"/>
                </a:solidFill>
                <a:latin typeface="Aptos" pitchFamily="34" charset="0"/>
                <a:ea typeface="Aptos" pitchFamily="34" charset="-122"/>
                <a:cs typeface="Aptos" pitchFamily="34" charset="-120"/>
              </a:rPr>
              <a:t>€600</a:t>
            </a:r>
            <a:endParaRPr lang="en-US" sz="2600" dirty="0"/>
          </a:p>
        </p:txBody>
      </p:sp>
      <p:sp>
        <p:nvSpPr>
          <p:cNvPr id="20" name="Text 18"/>
          <p:cNvSpPr txBox="1"/>
          <p:nvPr/>
        </p:nvSpPr>
        <p:spPr>
          <a:xfrm>
            <a:off x="7406640" y="5440680"/>
            <a:ext cx="4160520" cy="54864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Like the VectorDash late-delivery penalty: a few minutes can flip the cost.</a:t>
            </a:r>
            <a:endParaRPr lang="en-US" sz="1400" dirty="0"/>
          </a:p>
        </p:txBody>
      </p:sp>
      <p:sp>
        <p:nvSpPr>
          <p:cNvPr id="21" name="Text 19"/>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Compensation for a Boston–Warsaw journey (&gt; 3,500 km), halved when re-routing keeps the delay under 4 h · simplified, to be verified</a:t>
            </a:r>
            <a:endParaRPr lang="en-US" sz="1100" dirty="0"/>
          </a:p>
        </p:txBody>
      </p:sp>
      <p:sp>
        <p:nvSpPr>
          <p:cNvPr id="22" name="Text 20"/>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237744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4:40–5:30</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Prediction feeds the search</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Machine learning estimates risk; graph search finds the routes</a:t>
            </a:r>
            <a:endParaRPr lang="en-US" sz="2000" dirty="0"/>
          </a:p>
        </p:txBody>
      </p:sp>
      <p:sp>
        <p:nvSpPr>
          <p:cNvPr id="6" name="Shape 4"/>
          <p:cNvSpPr/>
          <p:nvPr/>
        </p:nvSpPr>
        <p:spPr>
          <a:xfrm>
            <a:off x="594360" y="2103120"/>
            <a:ext cx="5394960" cy="3840480"/>
          </a:xfrm>
          <a:prstGeom prst="roundRect">
            <a:avLst>
              <a:gd name="adj" fmla="val 1905"/>
            </a:avLst>
          </a:prstGeom>
          <a:solidFill>
            <a:srgbClr val="11263B"/>
          </a:solidFill>
          <a:ln w="12700">
            <a:solidFill>
              <a:srgbClr val="28536B"/>
            </a:solidFill>
            <a:prstDash val="solid"/>
          </a:ln>
        </p:spPr>
      </p:sp>
      <p:sp>
        <p:nvSpPr>
          <p:cNvPr id="7" name="Text 5"/>
          <p:cNvSpPr txBox="1"/>
          <p:nvPr/>
        </p:nvSpPr>
        <p:spPr>
          <a:xfrm>
            <a:off x="868680" y="2240280"/>
            <a:ext cx="4937760" cy="365760"/>
          </a:xfrm>
          <a:prstGeom prst="rect">
            <a:avLst/>
          </a:prstGeom>
          <a:noFill/>
          <a:ln/>
        </p:spPr>
        <p:txBody>
          <a:bodyPr wrap="square" lIns="0" tIns="0" rIns="0" bIns="0" rtlCol="0" anchor="t"/>
          <a:lstStyle/>
          <a:p>
            <a:pPr indent="0" marL="0">
              <a:buNone/>
            </a:pPr>
            <a:r>
              <a:rPr lang="en-US" sz="1800" b="1" dirty="0">
                <a:solidFill>
                  <a:srgbClr val="45D7E8"/>
                </a:solidFill>
                <a:latin typeface="Aptos" pitchFamily="34" charset="0"/>
                <a:ea typeface="Aptos" pitchFamily="34" charset="-122"/>
                <a:cs typeface="Aptos" pitchFamily="34" charset="-120"/>
              </a:rPr>
              <a:t>Delay model (supervised learning)</a:t>
            </a:r>
            <a:endParaRPr lang="en-US" sz="1800" dirty="0"/>
          </a:p>
        </p:txBody>
      </p:sp>
      <p:sp>
        <p:nvSpPr>
          <p:cNvPr id="8" name="Text 6"/>
          <p:cNvSpPr txBox="1"/>
          <p:nvPr/>
        </p:nvSpPr>
        <p:spPr>
          <a:xfrm>
            <a:off x="868680" y="2743200"/>
            <a:ext cx="4937760" cy="31089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Gradient boosting predicts the whole delay distribution: 10 delay bands + cancelled</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Features transfer across airports: hour, month, weekday, distance, airport busyness</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P(connection works) = P(inbound delay ≤ slack after minimum connection time)</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Tested on held-out months, with calibration checks</a:t>
            </a:r>
            <a:endParaRPr lang="en-US" sz="1500" dirty="0"/>
          </a:p>
        </p:txBody>
      </p:sp>
      <p:sp>
        <p:nvSpPr>
          <p:cNvPr id="9" name="Shape 7"/>
          <p:cNvSpPr/>
          <p:nvPr/>
        </p:nvSpPr>
        <p:spPr>
          <a:xfrm>
            <a:off x="6263640" y="2103120"/>
            <a:ext cx="5303520" cy="3840480"/>
          </a:xfrm>
          <a:prstGeom prst="roundRect">
            <a:avLst>
              <a:gd name="adj" fmla="val 1905"/>
            </a:avLst>
          </a:prstGeom>
          <a:solidFill>
            <a:srgbClr val="11263B"/>
          </a:solidFill>
          <a:ln w="12700">
            <a:solidFill>
              <a:srgbClr val="28536B"/>
            </a:solidFill>
            <a:prstDash val="solid"/>
          </a:ln>
        </p:spPr>
      </p:sp>
      <p:sp>
        <p:nvSpPr>
          <p:cNvPr id="10" name="Text 8"/>
          <p:cNvSpPr txBox="1"/>
          <p:nvPr/>
        </p:nvSpPr>
        <p:spPr>
          <a:xfrm>
            <a:off x="6537960" y="2240280"/>
            <a:ext cx="4846320" cy="365760"/>
          </a:xfrm>
          <a:prstGeom prst="rect">
            <a:avLst/>
          </a:prstGeom>
          <a:noFill/>
          <a:ln/>
        </p:spPr>
        <p:txBody>
          <a:bodyPr wrap="square" lIns="0" tIns="0" rIns="0" bIns="0" rtlCol="0" anchor="t"/>
          <a:lstStyle/>
          <a:p>
            <a:pPr indent="0" marL="0">
              <a:buNone/>
            </a:pPr>
            <a:r>
              <a:rPr lang="en-US" sz="1800" b="1" dirty="0">
                <a:solidFill>
                  <a:srgbClr val="45D7E8"/>
                </a:solidFill>
                <a:latin typeface="Aptos" pitchFamily="34" charset="0"/>
                <a:ea typeface="Aptos" pitchFamily="34" charset="-122"/>
                <a:cs typeface="Aptos" pitchFamily="34" charset="-120"/>
              </a:rPr>
              <a:t>Route search (Dijkstra and A*)</a:t>
            </a:r>
            <a:endParaRPr lang="en-US" sz="1800" dirty="0"/>
          </a:p>
        </p:txBody>
      </p:sp>
      <p:sp>
        <p:nvSpPr>
          <p:cNvPr id="11" name="Text 9"/>
          <p:cNvSpPr txBox="1"/>
          <p:nvPr/>
        </p:nvSpPr>
        <p:spPr>
          <a:xfrm>
            <a:off x="6537960" y="2743200"/>
            <a:ext cx="4846320" cy="20116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Node = “landed at airport X at time t”; edge = a flight you can still make</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Too-tight connections and full flights get no edge: infinite cost</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Weight = time + cash + λ·(−ln P): probabilities add, so search stays exact</a:t>
            </a:r>
            <a:endParaRPr lang="en-US" sz="1500" dirty="0"/>
          </a:p>
        </p:txBody>
      </p:sp>
      <p:sp>
        <p:nvSpPr>
          <p:cNvPr id="12" name="Text 10"/>
          <p:cNvSpPr txBox="1"/>
          <p:nvPr/>
        </p:nvSpPr>
        <p:spPr>
          <a:xfrm>
            <a:off x="6537960" y="5074920"/>
            <a:ext cx="4846320" cy="548640"/>
          </a:xfrm>
          <a:prstGeom prst="rect">
            <a:avLst/>
          </a:prstGeom>
          <a:noFill/>
          <a:ln/>
        </p:spPr>
        <p:txBody>
          <a:bodyPr wrap="square" lIns="0" tIns="0" rIns="0" bIns="0" rtlCol="0" anchor="ctr"/>
          <a:lstStyle/>
          <a:p>
            <a:pPr indent="0" marL="0">
              <a:buNone/>
            </a:pPr>
            <a:r>
              <a:rPr lang="en-US" sz="1800" b="1" dirty="0">
                <a:solidFill>
                  <a:srgbClr val="45D7E8"/>
                </a:solidFill>
                <a:latin typeface="Aptos" pitchFamily="34" charset="0"/>
                <a:ea typeface="Aptos" pitchFamily="34" charset="-122"/>
                <a:cs typeface="Aptos" pitchFamily="34" charset="-120"/>
              </a:rPr>
              <a:t>A*: 4 nodes</a:t>
            </a:r>
            <a:pPr indent="0" marL="0">
              <a:buNone/>
            </a:pPr>
            <a:r>
              <a:rPr lang="en-US" sz="1800" dirty="0">
                <a:solidFill>
                  <a:srgbClr val="F4F8FC"/>
                </a:solidFill>
                <a:latin typeface="Aptos" pitchFamily="34" charset="0"/>
                <a:ea typeface="Aptos" pitchFamily="34" charset="-122"/>
                <a:cs typeface="Aptos" pitchFamily="34" charset="-120"/>
              </a:rPr>
              <a:t>   vs.   Dijkstra: 8 nodes · same route</a:t>
            </a:r>
            <a:endParaRPr lang="en-US" sz="1800" dirty="0"/>
          </a:p>
        </p:txBody>
      </p:sp>
      <p:sp>
        <p:nvSpPr>
          <p:cNvPr id="13" name="Text 11"/>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Prototype measurements · A* heuristic: fastest remaining flight time (never overestimates)</a:t>
            </a:r>
            <a:endParaRPr lang="en-US" sz="1100" dirty="0"/>
          </a:p>
        </p:txBody>
      </p:sp>
      <p:sp>
        <p:nvSpPr>
          <p:cNvPr id="14" name="Text 12"/>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237744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5:30–6:20</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Prior work, and what is new here</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We build on operations research and delay prediction</a:t>
            </a:r>
            <a:endParaRPr lang="en-US" sz="2000" dirty="0"/>
          </a:p>
        </p:txBody>
      </p:sp>
      <p:sp>
        <p:nvSpPr>
          <p:cNvPr id="6" name="Shape 4"/>
          <p:cNvSpPr/>
          <p:nvPr/>
        </p:nvSpPr>
        <p:spPr>
          <a:xfrm>
            <a:off x="594360" y="2103120"/>
            <a:ext cx="5486400" cy="1097280"/>
          </a:xfrm>
          <a:prstGeom prst="roundRect">
            <a:avLst>
              <a:gd name="adj" fmla="val 6667"/>
            </a:avLst>
          </a:prstGeom>
          <a:solidFill>
            <a:srgbClr val="11263B"/>
          </a:solidFill>
          <a:ln w="12700">
            <a:solidFill>
              <a:srgbClr val="28536B"/>
            </a:solidFill>
            <a:prstDash val="solid"/>
          </a:ln>
        </p:spPr>
      </p:sp>
      <p:sp>
        <p:nvSpPr>
          <p:cNvPr id="7" name="Text 5"/>
          <p:cNvSpPr txBox="1"/>
          <p:nvPr/>
        </p:nvSpPr>
        <p:spPr>
          <a:xfrm>
            <a:off x="868680" y="2212848"/>
            <a:ext cx="5029200" cy="320040"/>
          </a:xfrm>
          <a:prstGeom prst="rect">
            <a:avLst/>
          </a:prstGeom>
          <a:noFill/>
          <a:ln/>
        </p:spPr>
        <p:txBody>
          <a:bodyPr wrap="square" lIns="0" tIns="0" rIns="0" bIns="0" rtlCol="0" anchor="t"/>
          <a:lstStyle/>
          <a:p>
            <a:pPr indent="0" marL="0">
              <a:buNone/>
            </a:pPr>
            <a:r>
              <a:rPr lang="en-US" sz="1600" b="1" dirty="0">
                <a:solidFill>
                  <a:srgbClr val="45D7E8"/>
                </a:solidFill>
                <a:latin typeface="Aptos" pitchFamily="34" charset="0"/>
                <a:ea typeface="Aptos" pitchFamily="34" charset="-122"/>
                <a:cs typeface="Aptos" pitchFamily="34" charset="-120"/>
              </a:rPr>
              <a:t>Operations research</a:t>
            </a:r>
            <a:endParaRPr lang="en-US" sz="1600" dirty="0"/>
          </a:p>
        </p:txBody>
      </p:sp>
      <p:sp>
        <p:nvSpPr>
          <p:cNvPr id="8" name="Text 6"/>
          <p:cNvSpPr txBox="1"/>
          <p:nvPr/>
        </p:nvSpPr>
        <p:spPr>
          <a:xfrm>
            <a:off x="868680" y="2560320"/>
            <a:ext cx="5029200" cy="59436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Airline disruption management and passenger recovery models (e.g. Clausen et al., 2010; Bratu &amp; Barnhart, 2006)</a:t>
            </a:r>
            <a:endParaRPr lang="en-US" sz="1400" dirty="0"/>
          </a:p>
        </p:txBody>
      </p:sp>
      <p:sp>
        <p:nvSpPr>
          <p:cNvPr id="9" name="Shape 7"/>
          <p:cNvSpPr/>
          <p:nvPr/>
        </p:nvSpPr>
        <p:spPr>
          <a:xfrm>
            <a:off x="594360" y="3383280"/>
            <a:ext cx="5486400" cy="1097280"/>
          </a:xfrm>
          <a:prstGeom prst="roundRect">
            <a:avLst>
              <a:gd name="adj" fmla="val 6667"/>
            </a:avLst>
          </a:prstGeom>
          <a:solidFill>
            <a:srgbClr val="11263B"/>
          </a:solidFill>
          <a:ln w="12700">
            <a:solidFill>
              <a:srgbClr val="28536B"/>
            </a:solidFill>
            <a:prstDash val="solid"/>
          </a:ln>
        </p:spPr>
      </p:sp>
      <p:sp>
        <p:nvSpPr>
          <p:cNvPr id="10" name="Text 8"/>
          <p:cNvSpPr txBox="1"/>
          <p:nvPr/>
        </p:nvSpPr>
        <p:spPr>
          <a:xfrm>
            <a:off x="868680" y="3493008"/>
            <a:ext cx="5029200" cy="320040"/>
          </a:xfrm>
          <a:prstGeom prst="rect">
            <a:avLst/>
          </a:prstGeom>
          <a:noFill/>
          <a:ln/>
        </p:spPr>
        <p:txBody>
          <a:bodyPr wrap="square" lIns="0" tIns="0" rIns="0" bIns="0" rtlCol="0" anchor="t"/>
          <a:lstStyle/>
          <a:p>
            <a:pPr indent="0" marL="0">
              <a:buNone/>
            </a:pPr>
            <a:r>
              <a:rPr lang="en-US" sz="1600" b="1" dirty="0">
                <a:solidFill>
                  <a:srgbClr val="45D7E8"/>
                </a:solidFill>
                <a:latin typeface="Aptos" pitchFamily="34" charset="0"/>
                <a:ea typeface="Aptos" pitchFamily="34" charset="-122"/>
                <a:cs typeface="Aptos" pitchFamily="34" charset="-120"/>
              </a:rPr>
              <a:t>Delay prediction</a:t>
            </a:r>
            <a:endParaRPr lang="en-US" sz="1600" dirty="0"/>
          </a:p>
        </p:txBody>
      </p:sp>
      <p:sp>
        <p:nvSpPr>
          <p:cNvPr id="11" name="Text 9"/>
          <p:cNvSpPr txBox="1"/>
          <p:nvPr/>
        </p:nvSpPr>
        <p:spPr>
          <a:xfrm>
            <a:off x="868680" y="3840480"/>
            <a:ext cx="5029200" cy="59436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Predicting flight delays from U.S. BTS data is a widely studied ML benchmark</a:t>
            </a:r>
            <a:endParaRPr lang="en-US" sz="1400" dirty="0"/>
          </a:p>
        </p:txBody>
      </p:sp>
      <p:sp>
        <p:nvSpPr>
          <p:cNvPr id="12" name="Shape 10"/>
          <p:cNvSpPr/>
          <p:nvPr/>
        </p:nvSpPr>
        <p:spPr>
          <a:xfrm>
            <a:off x="594360" y="4663440"/>
            <a:ext cx="5486400" cy="1097280"/>
          </a:xfrm>
          <a:prstGeom prst="roundRect">
            <a:avLst>
              <a:gd name="adj" fmla="val 6667"/>
            </a:avLst>
          </a:prstGeom>
          <a:solidFill>
            <a:srgbClr val="11263B"/>
          </a:solidFill>
          <a:ln w="12700">
            <a:solidFill>
              <a:srgbClr val="28536B"/>
            </a:solidFill>
            <a:prstDash val="solid"/>
          </a:ln>
        </p:spPr>
      </p:sp>
      <p:sp>
        <p:nvSpPr>
          <p:cNvPr id="13" name="Text 11"/>
          <p:cNvSpPr txBox="1"/>
          <p:nvPr/>
        </p:nvSpPr>
        <p:spPr>
          <a:xfrm>
            <a:off x="868680" y="4773168"/>
            <a:ext cx="5029200" cy="320040"/>
          </a:xfrm>
          <a:prstGeom prst="rect">
            <a:avLst/>
          </a:prstGeom>
          <a:noFill/>
          <a:ln/>
        </p:spPr>
        <p:txBody>
          <a:bodyPr wrap="square" lIns="0" tIns="0" rIns="0" bIns="0" rtlCol="0" anchor="t"/>
          <a:lstStyle/>
          <a:p>
            <a:pPr indent="0" marL="0">
              <a:buNone/>
            </a:pPr>
            <a:r>
              <a:rPr lang="en-US" sz="1600" b="1" dirty="0">
                <a:solidFill>
                  <a:srgbClr val="45D7E8"/>
                </a:solidFill>
                <a:latin typeface="Aptos" pitchFamily="34" charset="0"/>
                <a:ea typeface="Aptos" pitchFamily="34" charset="-122"/>
                <a:cs typeface="Aptos" pitchFamily="34" charset="-120"/>
              </a:rPr>
              <a:t>Industry tools</a:t>
            </a:r>
            <a:endParaRPr lang="en-US" sz="1600" dirty="0"/>
          </a:p>
        </p:txBody>
      </p:sp>
      <p:sp>
        <p:nvSpPr>
          <p:cNvPr id="14" name="Text 12"/>
          <p:cNvSpPr txBox="1"/>
          <p:nvPr/>
        </p:nvSpPr>
        <p:spPr>
          <a:xfrm>
            <a:off x="868680" y="5120640"/>
            <a:ext cx="5029200" cy="59436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Airline apps that auto-rebook; airline disruption-management systems; delay forecasts in travel search</a:t>
            </a:r>
            <a:endParaRPr lang="en-US" sz="1400" dirty="0"/>
          </a:p>
        </p:txBody>
      </p:sp>
      <p:sp>
        <p:nvSpPr>
          <p:cNvPr id="15" name="Shape 13"/>
          <p:cNvSpPr/>
          <p:nvPr/>
        </p:nvSpPr>
        <p:spPr>
          <a:xfrm>
            <a:off x="6355080" y="2103120"/>
            <a:ext cx="5212080" cy="3657600"/>
          </a:xfrm>
          <a:prstGeom prst="roundRect">
            <a:avLst>
              <a:gd name="adj" fmla="val 2000"/>
            </a:avLst>
          </a:prstGeom>
          <a:solidFill>
            <a:srgbClr val="0D3345"/>
          </a:solidFill>
          <a:ln w="12700">
            <a:solidFill>
              <a:srgbClr val="28536B"/>
            </a:solidFill>
            <a:prstDash val="solid"/>
          </a:ln>
        </p:spPr>
      </p:sp>
      <p:sp>
        <p:nvSpPr>
          <p:cNvPr id="16" name="Text 14"/>
          <p:cNvSpPr txBox="1"/>
          <p:nvPr/>
        </p:nvSpPr>
        <p:spPr>
          <a:xfrm>
            <a:off x="6629400" y="2240280"/>
            <a:ext cx="4663440" cy="365760"/>
          </a:xfrm>
          <a:prstGeom prst="rect">
            <a:avLst/>
          </a:prstGeom>
          <a:noFill/>
          <a:ln/>
        </p:spPr>
        <p:txBody>
          <a:bodyPr wrap="square" lIns="0" tIns="0" rIns="0" bIns="0" rtlCol="0" anchor="t"/>
          <a:lstStyle/>
          <a:p>
            <a:pPr indent="0" marL="0">
              <a:buNone/>
            </a:pPr>
            <a:r>
              <a:rPr lang="en-US" sz="1800" b="1" dirty="0">
                <a:solidFill>
                  <a:srgbClr val="F2B84B"/>
                </a:solidFill>
                <a:latin typeface="Aptos" pitchFamily="34" charset="0"/>
                <a:ea typeface="Aptos" pitchFamily="34" charset="-122"/>
                <a:cs typeface="Aptos" pitchFamily="34" charset="-120"/>
              </a:rPr>
              <a:t>Our edge</a:t>
            </a:r>
            <a:endParaRPr lang="en-US" sz="1800" dirty="0"/>
          </a:p>
        </p:txBody>
      </p:sp>
      <p:sp>
        <p:nvSpPr>
          <p:cNvPr id="17" name="Text 15"/>
          <p:cNvSpPr txBox="1"/>
          <p:nvPr/>
        </p:nvSpPr>
        <p:spPr>
          <a:xfrm>
            <a:off x="6629400" y="2743200"/>
            <a:ext cx="466344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F4F8FC"/>
                </a:solidFill>
                <a:latin typeface="Aptos" pitchFamily="34" charset="0"/>
                <a:ea typeface="Aptos" pitchFamily="34" charset="-122"/>
                <a:cs typeface="Aptos" pitchFamily="34" charset="-120"/>
              </a:rPr>
              <a:t>Scores the chance each connection works, not just the timetable</a:t>
            </a:r>
            <a:endParaRPr lang="en-US" sz="1500" dirty="0"/>
          </a:p>
          <a:p>
            <a:pPr marL="342900" indent="-342900">
              <a:spcAft>
                <a:spcPts val="800"/>
              </a:spcAft>
              <a:buSzPct val="100000"/>
              <a:buFont typeface="+mj-lt"/>
              <a:buAutoNum type="arabicPeriod" startAt="1"/>
            </a:pPr>
            <a:r>
              <a:rPr lang="en-US" sz="1500" dirty="0">
                <a:solidFill>
                  <a:srgbClr val="F4F8FC"/>
                </a:solidFill>
                <a:latin typeface="Aptos" pitchFamily="34" charset="0"/>
                <a:ea typeface="Aptos" pitchFamily="34" charset="-122"/>
                <a:cs typeface="Aptos" pitchFamily="34" charset="-120"/>
              </a:rPr>
              <a:t>Prices rule-based step costs such as EU261</a:t>
            </a:r>
            <a:endParaRPr lang="en-US" sz="1500" dirty="0"/>
          </a:p>
          <a:p>
            <a:pPr marL="342900" indent="-342900">
              <a:spcAft>
                <a:spcPts val="800"/>
              </a:spcAft>
              <a:buSzPct val="100000"/>
              <a:buFont typeface="+mj-lt"/>
              <a:buAutoNum type="arabicPeriod" startAt="1"/>
            </a:pPr>
            <a:r>
              <a:rPr lang="en-US" sz="1500" dirty="0">
                <a:solidFill>
                  <a:srgbClr val="F4F8FC"/>
                </a:solidFill>
                <a:latin typeface="Aptos" pitchFamily="34" charset="0"/>
                <a:ea typeface="Aptos" pitchFamily="34" charset="-122"/>
                <a:cs typeface="Aptos" pitchFamily="34" charset="-120"/>
              </a:rPr>
              <a:t>Lets the user set the time-versus-cost priority</a:t>
            </a:r>
            <a:endParaRPr lang="en-US" sz="1500" dirty="0"/>
          </a:p>
          <a:p>
            <a:pPr marL="342900" indent="-342900">
              <a:spcAft>
                <a:spcPts val="800"/>
              </a:spcAft>
              <a:buSzPct val="100000"/>
              <a:buFont typeface="+mj-lt"/>
              <a:buAutoNum type="arabicPeriod" startAt="1"/>
            </a:pPr>
            <a:r>
              <a:rPr lang="en-US" sz="1500" dirty="0">
                <a:solidFill>
                  <a:srgbClr val="F4F8FC"/>
                </a:solidFill>
                <a:latin typeface="Aptos" pitchFamily="34" charset="0"/>
                <a:ea typeface="Aptos" pitchFamily="34" charset="-122"/>
                <a:cs typeface="Aptos" pitchFamily="34" charset="-120"/>
              </a:rPr>
              <a:t>Explains with cited policy text</a:t>
            </a:r>
            <a:endParaRPr lang="en-US" sz="1500" dirty="0"/>
          </a:p>
          <a:p>
            <a:pPr marL="342900" indent="-342900">
              <a:spcAft>
                <a:spcPts val="800"/>
              </a:spcAft>
              <a:buSzPct val="100000"/>
              <a:buFont typeface="+mj-lt"/>
              <a:buAutoNum type="arabicPeriod" startAt="1"/>
            </a:pPr>
            <a:r>
              <a:rPr lang="en-US" sz="1500" dirty="0">
                <a:solidFill>
                  <a:srgbClr val="F4F8FC"/>
                </a:solidFill>
                <a:latin typeface="Aptos" pitchFamily="34" charset="0"/>
                <a:ea typeface="Aptos" pitchFamily="34" charset="-122"/>
                <a:cs typeface="Aptos" pitchFamily="34" charset="-120"/>
              </a:rPr>
              <a:t>Always ends with human approval</a:t>
            </a:r>
            <a:endParaRPr lang="en-US" sz="1500" dirty="0"/>
          </a:p>
        </p:txBody>
      </p:sp>
      <p:sp>
        <p:nvSpPr>
          <p:cNvPr id="18" name="Text 16"/>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Clausen, Larsen, Larsen &amp; Rezanova (2010), Computers &amp; Operations Research · Bratu &amp; Barnhart (2006), Journal of Scheduling · verify before presenting</a:t>
            </a:r>
            <a:endParaRPr lang="en-US" sz="1100" dirty="0"/>
          </a:p>
        </p:txBody>
      </p:sp>
      <p:sp>
        <p:nvSpPr>
          <p:cNvPr id="19" name="Text 17"/>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237744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6:20–7:00</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Data and feasibility</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Real history where it exists; clearly labelled scenarios where it does not</a:t>
            </a:r>
            <a:endParaRPr lang="en-US" sz="2000" dirty="0"/>
          </a:p>
        </p:txBody>
      </p:sp>
      <p:sp>
        <p:nvSpPr>
          <p:cNvPr id="6" name="Shape 4"/>
          <p:cNvSpPr/>
          <p:nvPr/>
        </p:nvSpPr>
        <p:spPr>
          <a:xfrm>
            <a:off x="594360" y="2103120"/>
            <a:ext cx="3474720" cy="2331720"/>
          </a:xfrm>
          <a:prstGeom prst="roundRect">
            <a:avLst>
              <a:gd name="adj" fmla="val 3137"/>
            </a:avLst>
          </a:prstGeom>
          <a:solidFill>
            <a:srgbClr val="11263B"/>
          </a:solidFill>
          <a:ln w="12700">
            <a:solidFill>
              <a:srgbClr val="28536B"/>
            </a:solidFill>
            <a:prstDash val="solid"/>
          </a:ln>
        </p:spPr>
      </p:sp>
      <p:sp>
        <p:nvSpPr>
          <p:cNvPr id="7" name="Text 5"/>
          <p:cNvSpPr txBox="1"/>
          <p:nvPr/>
        </p:nvSpPr>
        <p:spPr>
          <a:xfrm>
            <a:off x="868680" y="2240280"/>
            <a:ext cx="2926080" cy="365760"/>
          </a:xfrm>
          <a:prstGeom prst="rect">
            <a:avLst/>
          </a:prstGeom>
          <a:noFill/>
          <a:ln/>
        </p:spPr>
        <p:txBody>
          <a:bodyPr wrap="square" lIns="0" tIns="0" rIns="0" bIns="0" rtlCol="0" anchor="t"/>
          <a:lstStyle/>
          <a:p>
            <a:pPr indent="0" marL="0">
              <a:buNone/>
            </a:pPr>
            <a:r>
              <a:rPr lang="en-US" sz="1800" b="1" dirty="0">
                <a:solidFill>
                  <a:srgbClr val="45D7E8"/>
                </a:solidFill>
                <a:latin typeface="Aptos" pitchFamily="34" charset="0"/>
                <a:ea typeface="Aptos" pitchFamily="34" charset="-122"/>
                <a:cs typeface="Aptos" pitchFamily="34" charset="-120"/>
              </a:rPr>
              <a:t>Real history</a:t>
            </a:r>
            <a:endParaRPr lang="en-US" sz="1800" dirty="0"/>
          </a:p>
        </p:txBody>
      </p:sp>
      <p:sp>
        <p:nvSpPr>
          <p:cNvPr id="8" name="Text 6"/>
          <p:cNvSpPr txBox="1"/>
          <p:nvPr/>
        </p:nvSpPr>
        <p:spPr>
          <a:xfrm>
            <a:off x="868680" y="2743200"/>
            <a:ext cx="3017520" cy="1828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U.S. BTS on-time performance: train on Jan–Sep, test on Oct–Dec</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Loader for the monthly BTS files is built</a:t>
            </a:r>
            <a:endParaRPr lang="en-US" sz="1500" dirty="0"/>
          </a:p>
        </p:txBody>
      </p:sp>
      <p:sp>
        <p:nvSpPr>
          <p:cNvPr id="9" name="Shape 7"/>
          <p:cNvSpPr/>
          <p:nvPr/>
        </p:nvSpPr>
        <p:spPr>
          <a:xfrm>
            <a:off x="4343400" y="2103120"/>
            <a:ext cx="3474720" cy="2331720"/>
          </a:xfrm>
          <a:prstGeom prst="roundRect">
            <a:avLst>
              <a:gd name="adj" fmla="val 3137"/>
            </a:avLst>
          </a:prstGeom>
          <a:solidFill>
            <a:srgbClr val="11263B"/>
          </a:solidFill>
          <a:ln w="12700">
            <a:solidFill>
              <a:srgbClr val="28536B"/>
            </a:solidFill>
            <a:prstDash val="solid"/>
          </a:ln>
        </p:spPr>
      </p:sp>
      <p:sp>
        <p:nvSpPr>
          <p:cNvPr id="10" name="Text 8"/>
          <p:cNvSpPr txBox="1"/>
          <p:nvPr/>
        </p:nvSpPr>
        <p:spPr>
          <a:xfrm>
            <a:off x="4617720" y="2240280"/>
            <a:ext cx="2926080" cy="365760"/>
          </a:xfrm>
          <a:prstGeom prst="rect">
            <a:avLst/>
          </a:prstGeom>
          <a:noFill/>
          <a:ln/>
        </p:spPr>
        <p:txBody>
          <a:bodyPr wrap="square" lIns="0" tIns="0" rIns="0" bIns="0" rtlCol="0" anchor="t"/>
          <a:lstStyle/>
          <a:p>
            <a:pPr indent="0" marL="0">
              <a:buNone/>
            </a:pPr>
            <a:r>
              <a:rPr lang="en-US" sz="1800" b="1" dirty="0">
                <a:solidFill>
                  <a:srgbClr val="3CCB8F"/>
                </a:solidFill>
                <a:latin typeface="Aptos" pitchFamily="34" charset="0"/>
                <a:ea typeface="Aptos" pitchFamily="34" charset="-122"/>
                <a:cs typeface="Aptos" pitchFamily="34" charset="-120"/>
              </a:rPr>
              <a:t>Backtest scenario</a:t>
            </a:r>
            <a:endParaRPr lang="en-US" sz="1800" dirty="0"/>
          </a:p>
        </p:txBody>
      </p:sp>
      <p:sp>
        <p:nvSpPr>
          <p:cNvPr id="11" name="Text 9"/>
          <p:cNvSpPr txBox="1"/>
          <p:nvPr/>
        </p:nvSpPr>
        <p:spPr>
          <a:xfrm>
            <a:off x="4617720" y="2743200"/>
            <a:ext cx="3017520" cy="1828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An all-U.S. connection (e.g. BOS→ORD→MSP)</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Replay real 2024 delays to test decisions on actual outcomes</a:t>
            </a:r>
            <a:endParaRPr lang="en-US" sz="1500" dirty="0"/>
          </a:p>
        </p:txBody>
      </p:sp>
      <p:sp>
        <p:nvSpPr>
          <p:cNvPr id="12" name="Shape 10"/>
          <p:cNvSpPr/>
          <p:nvPr/>
        </p:nvSpPr>
        <p:spPr>
          <a:xfrm>
            <a:off x="8092440" y="2103120"/>
            <a:ext cx="3474720" cy="2331720"/>
          </a:xfrm>
          <a:prstGeom prst="roundRect">
            <a:avLst>
              <a:gd name="adj" fmla="val 3137"/>
            </a:avLst>
          </a:prstGeom>
          <a:solidFill>
            <a:srgbClr val="11263B"/>
          </a:solidFill>
          <a:ln w="12700">
            <a:solidFill>
              <a:srgbClr val="28536B"/>
            </a:solidFill>
            <a:prstDash val="solid"/>
          </a:ln>
        </p:spPr>
      </p:sp>
      <p:sp>
        <p:nvSpPr>
          <p:cNvPr id="13" name="Text 11"/>
          <p:cNvSpPr txBox="1"/>
          <p:nvPr/>
        </p:nvSpPr>
        <p:spPr>
          <a:xfrm>
            <a:off x="8366760" y="2240280"/>
            <a:ext cx="2926080" cy="365760"/>
          </a:xfrm>
          <a:prstGeom prst="rect">
            <a:avLst/>
          </a:prstGeom>
          <a:noFill/>
          <a:ln/>
        </p:spPr>
        <p:txBody>
          <a:bodyPr wrap="square" lIns="0" tIns="0" rIns="0" bIns="0" rtlCol="0" anchor="t"/>
          <a:lstStyle/>
          <a:p>
            <a:pPr indent="0" marL="0">
              <a:buNone/>
            </a:pPr>
            <a:r>
              <a:rPr lang="en-US" sz="1800" b="1" dirty="0">
                <a:solidFill>
                  <a:srgbClr val="F2B84B"/>
                </a:solidFill>
                <a:latin typeface="Aptos" pitchFamily="34" charset="0"/>
                <a:ea typeface="Aptos" pitchFamily="34" charset="-122"/>
                <a:cs typeface="Aptos" pitchFamily="34" charset="-120"/>
              </a:rPr>
              <a:t>Motivating scenario</a:t>
            </a:r>
            <a:endParaRPr lang="en-US" sz="1800" dirty="0"/>
          </a:p>
        </p:txBody>
      </p:sp>
      <p:sp>
        <p:nvSpPr>
          <p:cNvPr id="14" name="Text 12"/>
          <p:cNvSpPr txBox="1"/>
          <p:nvPr/>
        </p:nvSpPr>
        <p:spPr>
          <a:xfrm>
            <a:off x="8366760" y="2743200"/>
            <a:ext cx="3017520" cy="1828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Zürich case uses a documented timetable</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Fares, seats and connection times labelled as illustrative</a:t>
            </a:r>
            <a:endParaRPr lang="en-US" sz="1500" dirty="0"/>
          </a:p>
        </p:txBody>
      </p:sp>
      <p:sp>
        <p:nvSpPr>
          <p:cNvPr id="15" name="Shape 13"/>
          <p:cNvSpPr/>
          <p:nvPr/>
        </p:nvSpPr>
        <p:spPr>
          <a:xfrm>
            <a:off x="594360" y="4709160"/>
            <a:ext cx="10972800" cy="1097280"/>
          </a:xfrm>
          <a:prstGeom prst="roundRect">
            <a:avLst>
              <a:gd name="adj" fmla="val 6667"/>
            </a:avLst>
          </a:prstGeom>
          <a:solidFill>
            <a:srgbClr val="3A1623"/>
          </a:solidFill>
          <a:ln w="12700">
            <a:solidFill>
              <a:srgbClr val="28536B"/>
            </a:solidFill>
            <a:prstDash val="solid"/>
          </a:ln>
        </p:spPr>
      </p:sp>
      <p:sp>
        <p:nvSpPr>
          <p:cNvPr id="16" name="Text 14"/>
          <p:cNvSpPr txBox="1"/>
          <p:nvPr/>
        </p:nvSpPr>
        <p:spPr>
          <a:xfrm>
            <a:off x="868680" y="4709160"/>
            <a:ext cx="10424160" cy="1097280"/>
          </a:xfrm>
          <a:prstGeom prst="rect">
            <a:avLst/>
          </a:prstGeom>
          <a:noFill/>
          <a:ln/>
        </p:spPr>
        <p:txBody>
          <a:bodyPr wrap="square" lIns="0" tIns="0" rIns="0" bIns="0" rtlCol="0" anchor="ctr"/>
          <a:lstStyle/>
          <a:p>
            <a:pPr indent="0" marL="0">
              <a:buNone/>
            </a:pPr>
            <a:r>
              <a:rPr lang="en-US" sz="1700" b="1" dirty="0">
                <a:solidFill>
                  <a:srgbClr val="E0485F"/>
                </a:solidFill>
                <a:latin typeface="Aptos" pitchFamily="34" charset="0"/>
                <a:ea typeface="Aptos" pitchFamily="34" charset="-122"/>
                <a:cs typeface="Aptos" pitchFamily="34" charset="-120"/>
              </a:rPr>
              <a:t>We do not claim: </a:t>
            </a:r>
            <a:pPr indent="0" marL="0">
              <a:buNone/>
            </a:pPr>
            <a:r>
              <a:rPr lang="en-US" sz="1700" dirty="0">
                <a:solidFill>
                  <a:srgbClr val="F4F8FC"/>
                </a:solidFill>
                <a:latin typeface="Aptos" pitchFamily="34" charset="0"/>
                <a:ea typeface="Aptos" pitchFamily="34" charset="-122"/>
                <a:cs typeface="Aptos" pitchFamily="34" charset="-120"/>
              </a:rPr>
              <a:t>live seat inventory, interline ticketing rights, or delay calibration for European airports.</a:t>
            </a:r>
            <a:endParaRPr lang="en-US" sz="1700" dirty="0"/>
          </a:p>
        </p:txBody>
      </p:sp>
      <p:sp>
        <p:nvSpPr>
          <p:cNvPr id="17" name="Text 15"/>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Data source: U.S. Bureau of Transportation Statistics, TranStats “Reporting Carrier On-Time Performance (1987–present)”</a:t>
            </a:r>
            <a:endParaRPr lang="en-US" sz="1100" dirty="0"/>
          </a:p>
        </p:txBody>
      </p:sp>
      <p:sp>
        <p:nvSpPr>
          <p:cNvPr id="18" name="Text 16"/>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237744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7:00–8:00</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Live demo: the priority changes the answer</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Same disruption, same flights; only the objective moves</a:t>
            </a:r>
            <a:endParaRPr lang="en-US" sz="2000" dirty="0"/>
          </a:p>
        </p:txBody>
      </p:sp>
      <p:pic>
        <p:nvPicPr>
          <p:cNvPr id="6" name="Image 0" descr="/tmp/claude-0/-home-user-bsarfo-github-io/380a44b5-d2ae-5c84-8627-eefe537043e3/scratchpad/deck/demo_shot.png">    </p:cNvPr>
          <p:cNvPicPr>
            <a:picLocks noChangeAspect="1"/>
          </p:cNvPicPr>
          <p:nvPr/>
        </p:nvPicPr>
        <p:blipFill>
          <a:blip r:embed="rId1"/>
          <a:stretch>
            <a:fillRect/>
          </a:stretch>
        </p:blipFill>
        <p:spPr>
          <a:xfrm>
            <a:off x="594360" y="2057400"/>
            <a:ext cx="5852160" cy="2670048"/>
          </a:xfrm>
          <a:prstGeom prst="rect">
            <a:avLst/>
          </a:prstGeom>
        </p:spPr>
      </p:pic>
      <p:sp>
        <p:nvSpPr>
          <p:cNvPr id="7" name="Shape 4"/>
          <p:cNvSpPr/>
          <p:nvPr/>
        </p:nvSpPr>
        <p:spPr>
          <a:xfrm>
            <a:off x="594360" y="2057400"/>
            <a:ext cx="5852160" cy="2670048"/>
          </a:xfrm>
          <a:prstGeom prst="rect">
            <a:avLst/>
          </a:prstGeom>
          <a:ln w="12700">
            <a:solidFill>
              <a:srgbClr val="28536B"/>
            </a:solidFill>
            <a:prstDash val="solid"/>
          </a:ln>
        </p:spPr>
      </p:sp>
      <p:sp>
        <p:nvSpPr>
          <p:cNvPr id="8" name="Text 5"/>
          <p:cNvSpPr txBox="1"/>
          <p:nvPr/>
        </p:nvSpPr>
        <p:spPr>
          <a:xfrm>
            <a:off x="594360" y="4846320"/>
            <a:ext cx="5852160" cy="640080"/>
          </a:xfrm>
          <a:prstGeom prst="rect">
            <a:avLst/>
          </a:prstGeom>
          <a:noFill/>
          <a:ln/>
        </p:spPr>
        <p:txBody>
          <a:bodyPr wrap="square" lIns="0" tIns="0" rIns="0" bIns="0" rtlCol="0" anchor="t"/>
          <a:lstStyle/>
          <a:p>
            <a:pPr indent="0" marL="0">
              <a:buNone/>
            </a:pPr>
            <a:r>
              <a:rPr lang="en-US" sz="1300" dirty="0">
                <a:solidFill>
                  <a:srgbClr val="AFC6D7"/>
                </a:solidFill>
                <a:latin typeface="Aptos" pitchFamily="34" charset="0"/>
                <a:ea typeface="Aptos" pitchFamily="34" charset="-122"/>
                <a:cs typeface="Aptos" pitchFamily="34" charset="-120"/>
              </a:rPr>
              <a:t>Streamlit dashboard: ranked options, chance each plan works, cost breakdown, cited explanation, agent approval log</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720840" y="2057400"/>
          <a:ext cx="4846320" cy="914400"/>
        </p:xfrm>
        <a:graphic>
          <a:graphicData uri="http://schemas.openxmlformats.org/drawingml/2006/table">
            <a:tbl>
              <a:tblPr/>
              <a:tblGrid>
                <a:gridCol w="2148840"/>
                <a:gridCol w="2697480"/>
              </a:tblGrid>
              <a:tr h="475488">
                <a:tc>
                  <a:txBody>
                    <a:bodyPr/>
                    <a:lstStyle/>
                    <a:p>
                      <a:pPr indent="0" marL="0">
                        <a:buNone/>
                      </a:pPr>
                      <a:r>
                        <a:rPr lang="en-US" sz="1400" b="1" dirty="0">
                          <a:solidFill>
                            <a:srgbClr val="45D7E8"/>
                          </a:solidFill>
                          <a:latin typeface="Aptos" pitchFamily="34" charset="0"/>
                          <a:ea typeface="Aptos" pitchFamily="34" charset="-122"/>
                          <a:cs typeface="Aptos" pitchFamily="34" charset="-120"/>
                        </a:rPr>
                        <a:t>Who is deciding</a:t>
                      </a:r>
                      <a:endParaRPr lang="en-US" sz="14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0D3345"/>
                    </a:solidFill>
                  </a:tcPr>
                </a:tc>
                <a:tc>
                  <a:txBody>
                    <a:bodyPr/>
                    <a:lstStyle/>
                    <a:p>
                      <a:pPr indent="0" marL="0">
                        <a:buNone/>
                      </a:pPr>
                      <a:r>
                        <a:rPr lang="en-US" sz="1400" b="1" dirty="0">
                          <a:solidFill>
                            <a:srgbClr val="45D7E8"/>
                          </a:solidFill>
                          <a:latin typeface="Aptos" pitchFamily="34" charset="0"/>
                          <a:ea typeface="Aptos" pitchFamily="34" charset="-122"/>
                          <a:cs typeface="Aptos" pitchFamily="34" charset="-120"/>
                        </a:rPr>
                        <a:t>Recommended route</a:t>
                      </a:r>
                      <a:endParaRPr lang="en-US" sz="14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0D3345"/>
                    </a:solidFill>
                  </a:tcPr>
                </a:tc>
              </a:tr>
              <a:tr h="475488">
                <a:tc>
                  <a:txBody>
                    <a:bodyPr/>
                    <a:lstStyle/>
                    <a:p>
                      <a:pPr indent="0" marL="0">
                        <a:buNone/>
                      </a:pPr>
                      <a:r>
                        <a:rPr lang="en-US" sz="1300" dirty="0">
                          <a:solidFill>
                            <a:srgbClr val="F4F8FC"/>
                          </a:solidFill>
                          <a:latin typeface="Aptos" pitchFamily="34" charset="0"/>
                          <a:ea typeface="Aptos" pitchFamily="34" charset="-122"/>
                          <a:cs typeface="Aptos" pitchFamily="34" charset="-120"/>
                        </a:rPr>
                        <a:t>Student ($0–10/h)</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Next direct, 14:20 · free, 96% sure</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75488">
                <a:tc>
                  <a:txBody>
                    <a:bodyPr/>
                    <a:lstStyle/>
                    <a:p>
                      <a:pPr indent="0" marL="0">
                        <a:buNone/>
                      </a:pPr>
                      <a:r>
                        <a:rPr lang="en-US" sz="1300" dirty="0">
                          <a:solidFill>
                            <a:srgbClr val="F4F8FC"/>
                          </a:solidFill>
                          <a:latin typeface="Aptos" pitchFamily="34" charset="0"/>
                          <a:ea typeface="Aptos" pitchFamily="34" charset="-122"/>
                          <a:cs typeface="Aptos" pitchFamily="34" charset="-120"/>
                        </a:rPr>
                        <a:t>Leisure ($25–100/h)</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Via Vienna · free, earliest, 65% sure</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75488">
                <a:tc>
                  <a:txBody>
                    <a:bodyPr/>
                    <a:lstStyle/>
                    <a:p>
                      <a:pPr indent="0" marL="0">
                        <a:buNone/>
                      </a:pPr>
                      <a:r>
                        <a:rPr lang="en-US" sz="1300" dirty="0">
                          <a:solidFill>
                            <a:srgbClr val="F4F8FC"/>
                          </a:solidFill>
                          <a:latin typeface="Aptos" pitchFamily="34" charset="0"/>
                          <a:ea typeface="Aptos" pitchFamily="34" charset="-122"/>
                          <a:cs typeface="Aptos" pitchFamily="34" charset="-120"/>
                        </a:rPr>
                        <a:t>Business / urgent</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Paid nonstop, 11:15 · $260, 97% sure</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75488">
                <a:tc>
                  <a:txBody>
                    <a:bodyPr/>
                    <a:lstStyle/>
                    <a:p>
                      <a:pPr indent="0" marL="0">
                        <a:buNone/>
                      </a:pPr>
                      <a:r>
                        <a:rPr lang="en-US" sz="1300" dirty="0">
                          <a:solidFill>
                            <a:srgbClr val="F4F8FC"/>
                          </a:solidFill>
                          <a:latin typeface="Aptos" pitchFamily="34" charset="0"/>
                          <a:ea typeface="Aptos" pitchFamily="34" charset="-122"/>
                          <a:cs typeface="Aptos" pitchFamily="34" charset="-120"/>
                        </a:rPr>
                        <a:t>Airline, EU261 applies</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Buy that $260 seat: cheaper than €600</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75488">
                <a:tc>
                  <a:txBody>
                    <a:bodyPr/>
                    <a:lstStyle/>
                    <a:p>
                      <a:pPr indent="0" marL="0">
                        <a:buNone/>
                      </a:pPr>
                      <a:r>
                        <a:rPr lang="en-US" sz="1300" dirty="0">
                          <a:solidFill>
                            <a:srgbClr val="F4F8FC"/>
                          </a:solidFill>
                          <a:latin typeface="Aptos" pitchFamily="34" charset="0"/>
                          <a:ea typeface="Aptos" pitchFamily="34" charset="-122"/>
                          <a:cs typeface="Aptos" pitchFamily="34" charset="-120"/>
                        </a:rPr>
                        <a:t>Airline, weather delay</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Late-evening flight · no compensation due</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bl>
          </a:graphicData>
        </a:graphic>
      </p:graphicFrame>
      <p:sp>
        <p:nvSpPr>
          <p:cNvPr id="10" name="Text 6"/>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Illustrative timetable, fares and seats · “AlpenJet” is a fictional airline · delay model on synthetic BTS-format data until real data is loaded</a:t>
            </a:r>
            <a:endParaRPr lang="en-US" sz="1100" dirty="0"/>
          </a:p>
        </p:txBody>
      </p:sp>
      <p:sp>
        <p:nvSpPr>
          <p:cNvPr id="11" name="Text 7"/>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237744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8:00–10:00</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Build plan and responsibilities</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Four workstreams, tied to the course modules</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 y="2057400"/>
          <a:ext cx="7040880" cy="914400"/>
        </p:xfrm>
        <a:graphic>
          <a:graphicData uri="http://schemas.openxmlformats.org/drawingml/2006/table">
            <a:tbl>
              <a:tblPr/>
              <a:tblGrid>
                <a:gridCol w="1234440"/>
                <a:gridCol w="2057400"/>
                <a:gridCol w="3749040"/>
              </a:tblGrid>
              <a:tr h="457200">
                <a:tc>
                  <a:txBody>
                    <a:bodyPr/>
                    <a:lstStyle/>
                    <a:p>
                      <a:pPr indent="0" marL="0">
                        <a:buNone/>
                      </a:pPr>
                      <a:r>
                        <a:rPr lang="en-US" sz="1300" b="1" dirty="0">
                          <a:solidFill>
                            <a:srgbClr val="45D7E8"/>
                          </a:solidFill>
                          <a:latin typeface="Aptos" pitchFamily="34" charset="0"/>
                          <a:ea typeface="Aptos" pitchFamily="34" charset="-122"/>
                          <a:cs typeface="Aptos" pitchFamily="34" charset="-120"/>
                        </a:rPr>
                        <a:t>When</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0D3345"/>
                    </a:solidFill>
                  </a:tcPr>
                </a:tc>
                <a:tc>
                  <a:txBody>
                    <a:bodyPr/>
                    <a:lstStyle/>
                    <a:p>
                      <a:pPr indent="0" marL="0">
                        <a:buNone/>
                      </a:pPr>
                      <a:r>
                        <a:rPr lang="en-US" sz="1300" b="1" dirty="0">
                          <a:solidFill>
                            <a:srgbClr val="45D7E8"/>
                          </a:solidFill>
                          <a:latin typeface="Aptos" pitchFamily="34" charset="0"/>
                          <a:ea typeface="Aptos" pitchFamily="34" charset="-122"/>
                          <a:cs typeface="Aptos" pitchFamily="34" charset="-120"/>
                        </a:rPr>
                        <a:t>Course module</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0D3345"/>
                    </a:solidFill>
                  </a:tcPr>
                </a:tc>
                <a:tc>
                  <a:txBody>
                    <a:bodyPr/>
                    <a:lstStyle/>
                    <a:p>
                      <a:pPr indent="0" marL="0">
                        <a:buNone/>
                      </a:pPr>
                      <a:r>
                        <a:rPr lang="en-US" sz="1300" b="1" dirty="0">
                          <a:solidFill>
                            <a:srgbClr val="45D7E8"/>
                          </a:solidFill>
                          <a:latin typeface="Aptos" pitchFamily="34" charset="0"/>
                          <a:ea typeface="Aptos" pitchFamily="34" charset="-122"/>
                          <a:cs typeface="Aptos" pitchFamily="34" charset="-120"/>
                        </a:rPr>
                        <a:t>Milestone</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0D3345"/>
                    </a:solidFill>
                  </a:tcPr>
                </a:tc>
              </a:tr>
              <a:tr h="457200">
                <a:tc>
                  <a:txBody>
                    <a:bodyPr/>
                    <a:lstStyle/>
                    <a:p>
                      <a:pPr indent="0" marL="0">
                        <a:buNone/>
                      </a:pPr>
                      <a:r>
                        <a:rPr lang="en-US" sz="1300" dirty="0">
                          <a:solidFill>
                            <a:srgbClr val="F4F8FC"/>
                          </a:solidFill>
                          <a:latin typeface="Aptos" pitchFamily="34" charset="0"/>
                          <a:ea typeface="Aptos" pitchFamily="34" charset="-122"/>
                          <a:cs typeface="Aptos" pitchFamily="34" charset="-120"/>
                        </a:rPr>
                        <a:t>By proposal</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Unsupervised learning</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Real BTS 2024 loaded; backup demo video</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57200">
                <a:tc>
                  <a:txBody>
                    <a:bodyPr/>
                    <a:lstStyle/>
                    <a:p>
                      <a:pPr indent="0" marL="0">
                        <a:buNone/>
                      </a:pPr>
                      <a:r>
                        <a:rPr lang="en-US" sz="1300" dirty="0">
                          <a:solidFill>
                            <a:srgbClr val="F4F8FC"/>
                          </a:solidFill>
                          <a:latin typeface="Aptos" pitchFamily="34" charset="0"/>
                          <a:ea typeface="Aptos" pitchFamily="34" charset="-122"/>
                          <a:cs typeface="Aptos" pitchFamily="34" charset="-120"/>
                        </a:rPr>
                        <a:t>Oct 14</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LLMs &amp; prompting</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Delay model on real data; calibration report</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57200">
                <a:tc>
                  <a:txBody>
                    <a:bodyPr/>
                    <a:lstStyle/>
                    <a:p>
                      <a:pPr indent="0" marL="0">
                        <a:buNone/>
                      </a:pPr>
                      <a:r>
                        <a:rPr lang="en-US" sz="1300" dirty="0">
                          <a:solidFill>
                            <a:srgbClr val="F4F8FC"/>
                          </a:solidFill>
                          <a:latin typeface="Aptos" pitchFamily="34" charset="0"/>
                          <a:ea typeface="Aptos" pitchFamily="34" charset="-122"/>
                          <a:cs typeface="Aptos" pitchFamily="34" charset="-120"/>
                        </a:rPr>
                        <a:t>Oct 21</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RAG</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Real policy texts indexed; retrieval ≥ 90% top-3</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57200">
                <a:tc>
                  <a:txBody>
                    <a:bodyPr/>
                    <a:lstStyle/>
                    <a:p>
                      <a:pPr indent="0" marL="0">
                        <a:buNone/>
                      </a:pPr>
                      <a:r>
                        <a:rPr lang="en-US" sz="1300" dirty="0">
                          <a:solidFill>
                            <a:srgbClr val="F4F8FC"/>
                          </a:solidFill>
                          <a:latin typeface="Aptos" pitchFamily="34" charset="0"/>
                          <a:ea typeface="Aptos" pitchFamily="34" charset="-122"/>
                          <a:cs typeface="Aptos" pitchFamily="34" charset="-120"/>
                        </a:rPr>
                        <a:t>Oct 28</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Agentic AI &amp; MCP</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Agent workflow; U.S. backtest scenario</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57200">
                <a:tc>
                  <a:txBody>
                    <a:bodyPr/>
                    <a:lstStyle/>
                    <a:p>
                      <a:pPr indent="0" marL="0">
                        <a:buNone/>
                      </a:pPr>
                      <a:r>
                        <a:rPr lang="en-US" sz="1300" dirty="0">
                          <a:solidFill>
                            <a:srgbClr val="F4F8FC"/>
                          </a:solidFill>
                          <a:latin typeface="Aptos" pitchFamily="34" charset="0"/>
                          <a:ea typeface="Aptos" pitchFamily="34" charset="-122"/>
                          <a:cs typeface="Aptos" pitchFamily="34" charset="-120"/>
                        </a:rPr>
                        <a:t>Nov 4</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Multimodal AI</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Documented Zürich timetable; sensitivity analysis</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57200">
                <a:tc>
                  <a:txBody>
                    <a:bodyPr/>
                    <a:lstStyle/>
                    <a:p>
                      <a:pPr indent="0" marL="0">
                        <a:buNone/>
                      </a:pPr>
                      <a:r>
                        <a:rPr lang="en-US" sz="1300" dirty="0">
                          <a:solidFill>
                            <a:srgbClr val="F4F8FC"/>
                          </a:solidFill>
                          <a:latin typeface="Aptos" pitchFamily="34" charset="0"/>
                          <a:ea typeface="Aptos" pitchFamily="34" charset="-122"/>
                          <a:cs typeface="Aptos" pitchFamily="34" charset="-120"/>
                        </a:rPr>
                        <a:t>Nov 11</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Ethics</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Ethics review; 5-person user test</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57200">
                <a:tc>
                  <a:txBody>
                    <a:bodyPr/>
                    <a:lstStyle/>
                    <a:p>
                      <a:pPr indent="0" marL="0">
                        <a:buNone/>
                      </a:pPr>
                      <a:r>
                        <a:rPr lang="en-US" sz="1300" dirty="0">
                          <a:solidFill>
                            <a:srgbClr val="F4F8FC"/>
                          </a:solidFill>
                          <a:latin typeface="Aptos" pitchFamily="34" charset="0"/>
                          <a:ea typeface="Aptos" pitchFamily="34" charset="-122"/>
                          <a:cs typeface="Aptos" pitchFamily="34" charset="-120"/>
                        </a:rPr>
                        <a:t>Nov 18–25</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Review</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Feature freeze; rehearse; final slides</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bl>
          </a:graphicData>
        </a:graphic>
      </p:graphicFrame>
      <p:sp>
        <p:nvSpPr>
          <p:cNvPr id="7" name="Shape 4"/>
          <p:cNvSpPr/>
          <p:nvPr/>
        </p:nvSpPr>
        <p:spPr>
          <a:xfrm>
            <a:off x="7909560" y="2057400"/>
            <a:ext cx="3657600" cy="731520"/>
          </a:xfrm>
          <a:prstGeom prst="roundRect">
            <a:avLst>
              <a:gd name="adj" fmla="val 10000"/>
            </a:avLst>
          </a:prstGeom>
          <a:solidFill>
            <a:srgbClr val="11263B"/>
          </a:solidFill>
          <a:ln w="12700">
            <a:solidFill>
              <a:srgbClr val="28536B"/>
            </a:solidFill>
            <a:prstDash val="solid"/>
          </a:ln>
        </p:spPr>
      </p:sp>
      <p:sp>
        <p:nvSpPr>
          <p:cNvPr id="8" name="Text 5"/>
          <p:cNvSpPr txBox="1"/>
          <p:nvPr/>
        </p:nvSpPr>
        <p:spPr>
          <a:xfrm>
            <a:off x="8138160" y="2130552"/>
            <a:ext cx="3291840" cy="292608"/>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Data lead</a:t>
            </a:r>
            <a:endParaRPr lang="en-US" sz="1500" dirty="0"/>
          </a:p>
        </p:txBody>
      </p:sp>
      <p:sp>
        <p:nvSpPr>
          <p:cNvPr id="9" name="Text 6"/>
          <p:cNvSpPr txBox="1"/>
          <p:nvPr/>
        </p:nvSpPr>
        <p:spPr>
          <a:xfrm>
            <a:off x="8138160" y="2441448"/>
            <a:ext cx="3291840" cy="292608"/>
          </a:xfrm>
          <a:prstGeom prst="rect">
            <a:avLst/>
          </a:prstGeom>
          <a:noFill/>
          <a:ln/>
        </p:spPr>
        <p:txBody>
          <a:bodyPr wrap="square" lIns="0" tIns="0" rIns="0" bIns="0" rtlCol="0" anchor="t"/>
          <a:lstStyle/>
          <a:p>
            <a:pPr indent="0" marL="0">
              <a:buNone/>
            </a:pPr>
            <a:r>
              <a:rPr lang="en-US" sz="1300" dirty="0">
                <a:solidFill>
                  <a:srgbClr val="AFC6D7"/>
                </a:solidFill>
                <a:latin typeface="Aptos" pitchFamily="34" charset="0"/>
                <a:ea typeface="Aptos" pitchFamily="34" charset="-122"/>
                <a:cs typeface="Aptos" pitchFamily="34" charset="-120"/>
              </a:rPr>
              <a:t>BTS data, timetable, assumptions</a:t>
            </a:r>
            <a:endParaRPr lang="en-US" sz="1300" dirty="0"/>
          </a:p>
        </p:txBody>
      </p:sp>
      <p:sp>
        <p:nvSpPr>
          <p:cNvPr id="10" name="Shape 7"/>
          <p:cNvSpPr/>
          <p:nvPr/>
        </p:nvSpPr>
        <p:spPr>
          <a:xfrm>
            <a:off x="7909560" y="2907792"/>
            <a:ext cx="3657600" cy="731520"/>
          </a:xfrm>
          <a:prstGeom prst="roundRect">
            <a:avLst>
              <a:gd name="adj" fmla="val 10000"/>
            </a:avLst>
          </a:prstGeom>
          <a:solidFill>
            <a:srgbClr val="11263B"/>
          </a:solidFill>
          <a:ln w="12700">
            <a:solidFill>
              <a:srgbClr val="28536B"/>
            </a:solidFill>
            <a:prstDash val="solid"/>
          </a:ln>
        </p:spPr>
      </p:sp>
      <p:sp>
        <p:nvSpPr>
          <p:cNvPr id="11" name="Text 8"/>
          <p:cNvSpPr txBox="1"/>
          <p:nvPr/>
        </p:nvSpPr>
        <p:spPr>
          <a:xfrm>
            <a:off x="8138160" y="2980944"/>
            <a:ext cx="3291840" cy="292608"/>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Model lead</a:t>
            </a:r>
            <a:endParaRPr lang="en-US" sz="1500" dirty="0"/>
          </a:p>
        </p:txBody>
      </p:sp>
      <p:sp>
        <p:nvSpPr>
          <p:cNvPr id="12" name="Text 9"/>
          <p:cNvSpPr txBox="1"/>
          <p:nvPr/>
        </p:nvSpPr>
        <p:spPr>
          <a:xfrm>
            <a:off x="8138160" y="3291840"/>
            <a:ext cx="3291840" cy="292608"/>
          </a:xfrm>
          <a:prstGeom prst="rect">
            <a:avLst/>
          </a:prstGeom>
          <a:noFill/>
          <a:ln/>
        </p:spPr>
        <p:txBody>
          <a:bodyPr wrap="square" lIns="0" tIns="0" rIns="0" bIns="0" rtlCol="0" anchor="t"/>
          <a:lstStyle/>
          <a:p>
            <a:pPr indent="0" marL="0">
              <a:buNone/>
            </a:pPr>
            <a:r>
              <a:rPr lang="en-US" sz="1300" dirty="0">
                <a:solidFill>
                  <a:srgbClr val="AFC6D7"/>
                </a:solidFill>
                <a:latin typeface="Aptos" pitchFamily="34" charset="0"/>
                <a:ea typeface="Aptos" pitchFamily="34" charset="-122"/>
                <a:cs typeface="Aptos" pitchFamily="34" charset="-120"/>
              </a:rPr>
              <a:t>Delay model, calibration, baselines</a:t>
            </a:r>
            <a:endParaRPr lang="en-US" sz="1300" dirty="0"/>
          </a:p>
        </p:txBody>
      </p:sp>
      <p:sp>
        <p:nvSpPr>
          <p:cNvPr id="13" name="Shape 10"/>
          <p:cNvSpPr/>
          <p:nvPr/>
        </p:nvSpPr>
        <p:spPr>
          <a:xfrm>
            <a:off x="7909560" y="3758184"/>
            <a:ext cx="3657600" cy="731520"/>
          </a:xfrm>
          <a:prstGeom prst="roundRect">
            <a:avLst>
              <a:gd name="adj" fmla="val 10000"/>
            </a:avLst>
          </a:prstGeom>
          <a:solidFill>
            <a:srgbClr val="11263B"/>
          </a:solidFill>
          <a:ln w="12700">
            <a:solidFill>
              <a:srgbClr val="28536B"/>
            </a:solidFill>
            <a:prstDash val="solid"/>
          </a:ln>
        </p:spPr>
      </p:sp>
      <p:sp>
        <p:nvSpPr>
          <p:cNvPr id="14" name="Text 11"/>
          <p:cNvSpPr txBox="1"/>
          <p:nvPr/>
        </p:nvSpPr>
        <p:spPr>
          <a:xfrm>
            <a:off x="8138160" y="3831336"/>
            <a:ext cx="3291840" cy="292608"/>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Optimization lead</a:t>
            </a:r>
            <a:endParaRPr lang="en-US" sz="1500" dirty="0"/>
          </a:p>
        </p:txBody>
      </p:sp>
      <p:sp>
        <p:nvSpPr>
          <p:cNvPr id="15" name="Text 12"/>
          <p:cNvSpPr txBox="1"/>
          <p:nvPr/>
        </p:nvSpPr>
        <p:spPr>
          <a:xfrm>
            <a:off x="8138160" y="4142232"/>
            <a:ext cx="3291840" cy="292608"/>
          </a:xfrm>
          <a:prstGeom prst="rect">
            <a:avLst/>
          </a:prstGeom>
          <a:noFill/>
          <a:ln/>
        </p:spPr>
        <p:txBody>
          <a:bodyPr wrap="square" lIns="0" tIns="0" rIns="0" bIns="0" rtlCol="0" anchor="t"/>
          <a:lstStyle/>
          <a:p>
            <a:pPr indent="0" marL="0">
              <a:buNone/>
            </a:pPr>
            <a:r>
              <a:rPr lang="en-US" sz="1300" dirty="0">
                <a:solidFill>
                  <a:srgbClr val="AFC6D7"/>
                </a:solidFill>
                <a:latin typeface="Aptos" pitchFamily="34" charset="0"/>
                <a:ea typeface="Aptos" pitchFamily="34" charset="-122"/>
                <a:cs typeface="Aptos" pitchFamily="34" charset="-120"/>
              </a:rPr>
              <a:t>Graph, search, expected cost</a:t>
            </a:r>
            <a:endParaRPr lang="en-US" sz="1300" dirty="0"/>
          </a:p>
        </p:txBody>
      </p:sp>
      <p:sp>
        <p:nvSpPr>
          <p:cNvPr id="16" name="Shape 13"/>
          <p:cNvSpPr/>
          <p:nvPr/>
        </p:nvSpPr>
        <p:spPr>
          <a:xfrm>
            <a:off x="7909560" y="4608576"/>
            <a:ext cx="3657600" cy="731520"/>
          </a:xfrm>
          <a:prstGeom prst="roundRect">
            <a:avLst>
              <a:gd name="adj" fmla="val 10000"/>
            </a:avLst>
          </a:prstGeom>
          <a:solidFill>
            <a:srgbClr val="11263B"/>
          </a:solidFill>
          <a:ln w="12700">
            <a:solidFill>
              <a:srgbClr val="28536B"/>
            </a:solidFill>
            <a:prstDash val="solid"/>
          </a:ln>
        </p:spPr>
      </p:sp>
      <p:sp>
        <p:nvSpPr>
          <p:cNvPr id="17" name="Text 14"/>
          <p:cNvSpPr txBox="1"/>
          <p:nvPr/>
        </p:nvSpPr>
        <p:spPr>
          <a:xfrm>
            <a:off x="8138160" y="4681728"/>
            <a:ext cx="3291840" cy="292608"/>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Product lead</a:t>
            </a:r>
            <a:endParaRPr lang="en-US" sz="1500" dirty="0"/>
          </a:p>
        </p:txBody>
      </p:sp>
      <p:sp>
        <p:nvSpPr>
          <p:cNvPr id="18" name="Text 15"/>
          <p:cNvSpPr txBox="1"/>
          <p:nvPr/>
        </p:nvSpPr>
        <p:spPr>
          <a:xfrm>
            <a:off x="8138160" y="4992624"/>
            <a:ext cx="3291840" cy="292608"/>
          </a:xfrm>
          <a:prstGeom prst="rect">
            <a:avLst/>
          </a:prstGeom>
          <a:noFill/>
          <a:ln/>
        </p:spPr>
        <p:txBody>
          <a:bodyPr wrap="square" lIns="0" tIns="0" rIns="0" bIns="0" rtlCol="0" anchor="t"/>
          <a:lstStyle/>
          <a:p>
            <a:pPr indent="0" marL="0">
              <a:buNone/>
            </a:pPr>
            <a:r>
              <a:rPr lang="en-US" sz="1300" dirty="0">
                <a:solidFill>
                  <a:srgbClr val="AFC6D7"/>
                </a:solidFill>
                <a:latin typeface="Aptos" pitchFamily="34" charset="0"/>
                <a:ea typeface="Aptos" pitchFamily="34" charset="-122"/>
                <a:cs typeface="Aptos" pitchFamily="34" charset="-120"/>
              </a:rPr>
              <a:t>App, evaluation, ethics, demo</a:t>
            </a:r>
            <a:endParaRPr lang="en-US" sz="1300" dirty="0"/>
          </a:p>
        </p:txBody>
      </p:sp>
      <p:sp>
        <p:nvSpPr>
          <p:cNvPr id="19" name="Text 16"/>
          <p:cNvSpPr txBox="1"/>
          <p:nvPr/>
        </p:nvSpPr>
        <p:spPr>
          <a:xfrm>
            <a:off x="7909560" y="5532120"/>
            <a:ext cx="3657600" cy="548640"/>
          </a:xfrm>
          <a:prstGeom prst="rect">
            <a:avLst/>
          </a:prstGeom>
          <a:noFill/>
          <a:ln/>
        </p:spPr>
        <p:txBody>
          <a:bodyPr wrap="square" lIns="0" tIns="0" rIns="0" bIns="0" rtlCol="0" anchor="t"/>
          <a:lstStyle/>
          <a:p>
            <a:pPr indent="0" marL="0">
              <a:buNone/>
            </a:pPr>
            <a:r>
              <a:rPr lang="en-US" sz="1300" dirty="0">
                <a:solidFill>
                  <a:srgbClr val="AFC6D7"/>
                </a:solidFill>
                <a:latin typeface="Aptos" pitchFamily="34" charset="0"/>
                <a:ea typeface="Aptos" pitchFamily="34" charset="-122"/>
                <a:cs typeface="Aptos" pitchFamily="34" charset="-120"/>
              </a:rPr>
              <a:t>Shared GitHub repo · weekly check-in · pull requests reviewed by a second teammate</a:t>
            </a:r>
            <a:endParaRPr lang="en-US" sz="1300" dirty="0"/>
          </a:p>
        </p:txBody>
      </p:sp>
      <p:sp>
        <p:nvSpPr>
          <p:cNvPr id="20" name="Text 17"/>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Final presentation: Dec 2 or Dec 9 (confirm with instructor) · final slides due three days later</a:t>
            </a:r>
            <a:endParaRPr lang="en-US" sz="1100" dirty="0"/>
          </a:p>
        </p:txBody>
      </p:sp>
      <p:sp>
        <p:nvSpPr>
          <p:cNvPr id="21" name="Text 18"/>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237744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10:00–11:00</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How we will prove it works</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Baselines: earliest arrival · lowest fare · next direct on the same airline</a:t>
            </a:r>
            <a:endParaRPr lang="en-US" sz="2000" dirty="0"/>
          </a:p>
        </p:txBody>
      </p:sp>
      <p:sp>
        <p:nvSpPr>
          <p:cNvPr id="6" name="Shape 4"/>
          <p:cNvSpPr/>
          <p:nvPr/>
        </p:nvSpPr>
        <p:spPr>
          <a:xfrm>
            <a:off x="594360" y="2057400"/>
            <a:ext cx="5486400" cy="1261872"/>
          </a:xfrm>
          <a:prstGeom prst="roundRect">
            <a:avLst>
              <a:gd name="adj" fmla="val 5797"/>
            </a:avLst>
          </a:prstGeom>
          <a:solidFill>
            <a:srgbClr val="11263B"/>
          </a:solidFill>
          <a:ln w="12700">
            <a:solidFill>
              <a:srgbClr val="28536B"/>
            </a:solidFill>
            <a:prstDash val="solid"/>
          </a:ln>
        </p:spPr>
      </p:sp>
      <p:sp>
        <p:nvSpPr>
          <p:cNvPr id="7" name="Text 5"/>
          <p:cNvSpPr txBox="1"/>
          <p:nvPr/>
        </p:nvSpPr>
        <p:spPr>
          <a:xfrm>
            <a:off x="868680" y="2148840"/>
            <a:ext cx="5029200" cy="27432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Technical</a:t>
            </a:r>
            <a:endParaRPr lang="en-US" sz="1500" dirty="0"/>
          </a:p>
        </p:txBody>
      </p:sp>
      <p:sp>
        <p:nvSpPr>
          <p:cNvPr id="8" name="Text 6"/>
          <p:cNvSpPr txBox="1"/>
          <p:nvPr/>
        </p:nvSpPr>
        <p:spPr>
          <a:xfrm>
            <a:off x="868680" y="2441448"/>
            <a:ext cx="5029200" cy="877824"/>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PR-AUC and calibration on held-out months</a:t>
            </a:r>
            <a:endParaRPr lang="en-US" sz="1500" dirty="0"/>
          </a:p>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Response time: under 1 second (prototype ≈ 0.2 s)</a:t>
            </a:r>
            <a:endParaRPr lang="en-US" sz="1500" dirty="0"/>
          </a:p>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Policy retrieval: right section in top 3</a:t>
            </a:r>
            <a:endParaRPr lang="en-US" sz="1500" dirty="0"/>
          </a:p>
        </p:txBody>
      </p:sp>
      <p:sp>
        <p:nvSpPr>
          <p:cNvPr id="9" name="Shape 7"/>
          <p:cNvSpPr/>
          <p:nvPr/>
        </p:nvSpPr>
        <p:spPr>
          <a:xfrm>
            <a:off x="594360" y="3456432"/>
            <a:ext cx="5486400" cy="1261872"/>
          </a:xfrm>
          <a:prstGeom prst="roundRect">
            <a:avLst>
              <a:gd name="adj" fmla="val 5797"/>
            </a:avLst>
          </a:prstGeom>
          <a:solidFill>
            <a:srgbClr val="11263B"/>
          </a:solidFill>
          <a:ln w="12700">
            <a:solidFill>
              <a:srgbClr val="28536B"/>
            </a:solidFill>
            <a:prstDash val="solid"/>
          </a:ln>
        </p:spPr>
      </p:sp>
      <p:sp>
        <p:nvSpPr>
          <p:cNvPr id="10" name="Text 8"/>
          <p:cNvSpPr txBox="1"/>
          <p:nvPr/>
        </p:nvSpPr>
        <p:spPr>
          <a:xfrm>
            <a:off x="868680" y="3547872"/>
            <a:ext cx="5029200" cy="27432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Business</a:t>
            </a:r>
            <a:endParaRPr lang="en-US" sz="1500" dirty="0"/>
          </a:p>
        </p:txBody>
      </p:sp>
      <p:sp>
        <p:nvSpPr>
          <p:cNvPr id="11" name="Text 9"/>
          <p:cNvSpPr txBox="1"/>
          <p:nvPr/>
        </p:nvSpPr>
        <p:spPr>
          <a:xfrm>
            <a:off x="868680" y="3840480"/>
            <a:ext cx="5029200" cy="877824"/>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Realised cost per disruption vs. baselines</a:t>
            </a:r>
            <a:endParaRPr lang="en-US" sz="1500" dirty="0"/>
          </a:p>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Share arriving within 3 hours</a:t>
            </a:r>
            <a:endParaRPr lang="en-US" sz="1500" dirty="0"/>
          </a:p>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ROI = savings × volume − running cost</a:t>
            </a:r>
            <a:endParaRPr lang="en-US" sz="1500" dirty="0"/>
          </a:p>
        </p:txBody>
      </p:sp>
      <p:sp>
        <p:nvSpPr>
          <p:cNvPr id="12" name="Shape 10"/>
          <p:cNvSpPr/>
          <p:nvPr/>
        </p:nvSpPr>
        <p:spPr>
          <a:xfrm>
            <a:off x="594360" y="4855464"/>
            <a:ext cx="5486400" cy="969264"/>
          </a:xfrm>
          <a:prstGeom prst="roundRect">
            <a:avLst>
              <a:gd name="adj" fmla="val 7547"/>
            </a:avLst>
          </a:prstGeom>
          <a:solidFill>
            <a:srgbClr val="11263B"/>
          </a:solidFill>
          <a:ln w="12700">
            <a:solidFill>
              <a:srgbClr val="28536B"/>
            </a:solidFill>
            <a:prstDash val="solid"/>
          </a:ln>
        </p:spPr>
      </p:sp>
      <p:sp>
        <p:nvSpPr>
          <p:cNvPr id="13" name="Text 11"/>
          <p:cNvSpPr txBox="1"/>
          <p:nvPr/>
        </p:nvSpPr>
        <p:spPr>
          <a:xfrm>
            <a:off x="868680" y="4946904"/>
            <a:ext cx="5029200" cy="27432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User experience</a:t>
            </a:r>
            <a:endParaRPr lang="en-US" sz="1500" dirty="0"/>
          </a:p>
        </p:txBody>
      </p:sp>
      <p:sp>
        <p:nvSpPr>
          <p:cNvPr id="14" name="Text 12"/>
          <p:cNvSpPr txBox="1"/>
          <p:nvPr/>
        </p:nvSpPr>
        <p:spPr>
          <a:xfrm>
            <a:off x="868680" y="5239512"/>
            <a:ext cx="5029200" cy="585216"/>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5 agents or travellers try realistic cases</a:t>
            </a:r>
            <a:endParaRPr lang="en-US" sz="1500" dirty="0"/>
          </a:p>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Task time and agreement with expert choice</a:t>
            </a:r>
            <a:endParaRPr lang="en-US" sz="1500" dirty="0"/>
          </a:p>
        </p:txBody>
      </p:sp>
      <p:graphicFrame>
        <p:nvGraphicFramePr>
          <p:cNvPr id="15" name="Chart 0" descr=""/>
          <p:cNvGraphicFramePr/>
          <p:nvPr/>
        </p:nvGraphicFramePr>
        <p:xfrm>
          <a:off x="6355080" y="2057400"/>
          <a:ext cx="5212080" cy="393192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Prototype simulation, ≈120 traveller cases × 30 delay draws each, synthetic BTS-format data · to be re-run on real BTS 2024 data</a:t>
            </a:r>
            <a:endParaRPr lang="en-US" sz="1100" dirty="0"/>
          </a:p>
        </p:txBody>
      </p:sp>
      <p:sp>
        <p:nvSpPr>
          <p:cNvPr id="17" name="Text 14"/>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237744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11:00–12:00</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Ethics, risks and safeguards</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What could go wrong, and what we build in</a:t>
            </a:r>
            <a:endParaRPr lang="en-US" sz="2000" dirty="0"/>
          </a:p>
        </p:txBody>
      </p:sp>
      <p:sp>
        <p:nvSpPr>
          <p:cNvPr id="6" name="Shape 4"/>
          <p:cNvSpPr/>
          <p:nvPr/>
        </p:nvSpPr>
        <p:spPr>
          <a:xfrm>
            <a:off x="594360" y="2057400"/>
            <a:ext cx="3474720" cy="1828800"/>
          </a:xfrm>
          <a:prstGeom prst="roundRect">
            <a:avLst>
              <a:gd name="adj" fmla="val 4000"/>
            </a:avLst>
          </a:prstGeom>
          <a:solidFill>
            <a:srgbClr val="11263B"/>
          </a:solidFill>
          <a:ln w="12700">
            <a:solidFill>
              <a:srgbClr val="28536B"/>
            </a:solidFill>
            <a:prstDash val="solid"/>
          </a:ln>
        </p:spPr>
      </p:sp>
      <p:sp>
        <p:nvSpPr>
          <p:cNvPr id="7" name="Text 5"/>
          <p:cNvSpPr txBox="1"/>
          <p:nvPr/>
        </p:nvSpPr>
        <p:spPr>
          <a:xfrm>
            <a:off x="822960" y="2167128"/>
            <a:ext cx="3017520" cy="32004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Value-of-time bias</a:t>
            </a:r>
            <a:endParaRPr lang="en-US" sz="1500" dirty="0"/>
          </a:p>
        </p:txBody>
      </p:sp>
      <p:sp>
        <p:nvSpPr>
          <p:cNvPr id="8" name="Text 6"/>
          <p:cNvSpPr txBox="1"/>
          <p:nvPr/>
        </p:nvSpPr>
        <p:spPr>
          <a:xfrm>
            <a:off x="822960" y="2532888"/>
            <a:ext cx="3017520" cy="502920"/>
          </a:xfrm>
          <a:prstGeom prst="rect">
            <a:avLst/>
          </a:prstGeom>
          <a:noFill/>
          <a:ln/>
        </p:spPr>
        <p:txBody>
          <a:bodyPr wrap="square" lIns="0" tIns="0" rIns="0" bIns="0" rtlCol="0" anchor="t"/>
          <a:lstStyle/>
          <a:p>
            <a:pPr indent="0" marL="0">
              <a:buNone/>
            </a:pPr>
            <a:r>
              <a:rPr lang="en-US" sz="1300" dirty="0">
                <a:solidFill>
                  <a:srgbClr val="F2B84B"/>
                </a:solidFill>
                <a:latin typeface="Aptos" pitchFamily="34" charset="0"/>
                <a:ea typeface="Aptos" pitchFamily="34" charset="-122"/>
                <a:cs typeface="Aptos" pitchFamily="34" charset="-120"/>
              </a:rPr>
              <a:t>Low-fare travellers always get the slow option</a:t>
            </a:r>
            <a:endParaRPr lang="en-US" sz="1300" dirty="0"/>
          </a:p>
        </p:txBody>
      </p:sp>
      <p:sp>
        <p:nvSpPr>
          <p:cNvPr id="9" name="Text 7"/>
          <p:cNvSpPr txBox="1"/>
          <p:nvPr/>
        </p:nvSpPr>
        <p:spPr>
          <a:xfrm>
            <a:off x="822960" y="3063240"/>
            <a:ext cx="3017520" cy="731520"/>
          </a:xfrm>
          <a:prstGeom prst="rect">
            <a:avLst/>
          </a:prstGeom>
          <a:noFill/>
          <a:ln/>
        </p:spPr>
        <p:txBody>
          <a:bodyPr wrap="square" lIns="0" tIns="0" rIns="0" bIns="0" rtlCol="0" anchor="t"/>
          <a:lstStyle/>
          <a:p>
            <a:pPr indent="0" marL="0">
              <a:buNone/>
            </a:pPr>
            <a:r>
              <a:rPr lang="en-US" sz="1300" dirty="0">
                <a:solidFill>
                  <a:srgbClr val="F4F8FC"/>
                </a:solidFill>
                <a:latin typeface="Aptos" pitchFamily="34" charset="0"/>
                <a:ea typeface="Aptos" pitchFamily="34" charset="-122"/>
                <a:cs typeface="Aptos" pitchFamily="34" charset="-120"/>
              </a:rPr>
              <a:t>Priority rules first (minors, reduced mobility, medical); use stated, not inferred, priority</a:t>
            </a:r>
            <a:endParaRPr lang="en-US" sz="1300" dirty="0"/>
          </a:p>
        </p:txBody>
      </p:sp>
      <p:sp>
        <p:nvSpPr>
          <p:cNvPr id="10" name="Shape 8"/>
          <p:cNvSpPr/>
          <p:nvPr/>
        </p:nvSpPr>
        <p:spPr>
          <a:xfrm>
            <a:off x="4343400" y="2057400"/>
            <a:ext cx="3474720" cy="1828800"/>
          </a:xfrm>
          <a:prstGeom prst="roundRect">
            <a:avLst>
              <a:gd name="adj" fmla="val 4000"/>
            </a:avLst>
          </a:prstGeom>
          <a:solidFill>
            <a:srgbClr val="11263B"/>
          </a:solidFill>
          <a:ln w="12700">
            <a:solidFill>
              <a:srgbClr val="28536B"/>
            </a:solidFill>
            <a:prstDash val="solid"/>
          </a:ln>
        </p:spPr>
      </p:sp>
      <p:sp>
        <p:nvSpPr>
          <p:cNvPr id="11" name="Text 9"/>
          <p:cNvSpPr txBox="1"/>
          <p:nvPr/>
        </p:nvSpPr>
        <p:spPr>
          <a:xfrm>
            <a:off x="4572000" y="2167128"/>
            <a:ext cx="3017520" cy="32004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Automation bias</a:t>
            </a:r>
            <a:endParaRPr lang="en-US" sz="1500" dirty="0"/>
          </a:p>
        </p:txBody>
      </p:sp>
      <p:sp>
        <p:nvSpPr>
          <p:cNvPr id="12" name="Text 10"/>
          <p:cNvSpPr txBox="1"/>
          <p:nvPr/>
        </p:nvSpPr>
        <p:spPr>
          <a:xfrm>
            <a:off x="4572000" y="2532888"/>
            <a:ext cx="3017520" cy="502920"/>
          </a:xfrm>
          <a:prstGeom prst="rect">
            <a:avLst/>
          </a:prstGeom>
          <a:noFill/>
          <a:ln/>
        </p:spPr>
        <p:txBody>
          <a:bodyPr wrap="square" lIns="0" tIns="0" rIns="0" bIns="0" rtlCol="0" anchor="t"/>
          <a:lstStyle/>
          <a:p>
            <a:pPr indent="0" marL="0">
              <a:buNone/>
            </a:pPr>
            <a:r>
              <a:rPr lang="en-US" sz="1300" dirty="0">
                <a:solidFill>
                  <a:srgbClr val="F2B84B"/>
                </a:solidFill>
                <a:latin typeface="Aptos" pitchFamily="34" charset="0"/>
                <a:ea typeface="Aptos" pitchFamily="34" charset="-122"/>
                <a:cs typeface="Aptos" pitchFamily="34" charset="-120"/>
              </a:rPr>
              <a:t>Agents rubber-stamp the top option</a:t>
            </a:r>
            <a:endParaRPr lang="en-US" sz="1300" dirty="0"/>
          </a:p>
        </p:txBody>
      </p:sp>
      <p:sp>
        <p:nvSpPr>
          <p:cNvPr id="13" name="Text 11"/>
          <p:cNvSpPr txBox="1"/>
          <p:nvPr/>
        </p:nvSpPr>
        <p:spPr>
          <a:xfrm>
            <a:off x="4572000" y="3063240"/>
            <a:ext cx="3017520" cy="731520"/>
          </a:xfrm>
          <a:prstGeom prst="rect">
            <a:avLst/>
          </a:prstGeom>
          <a:noFill/>
          <a:ln/>
        </p:spPr>
        <p:txBody>
          <a:bodyPr wrap="square" lIns="0" tIns="0" rIns="0" bIns="0" rtlCol="0" anchor="t"/>
          <a:lstStyle/>
          <a:p>
            <a:pPr indent="0" marL="0">
              <a:buNone/>
            </a:pPr>
            <a:r>
              <a:rPr lang="en-US" sz="1300" dirty="0">
                <a:solidFill>
                  <a:srgbClr val="F4F8FC"/>
                </a:solidFill>
                <a:latin typeface="Aptos" pitchFamily="34" charset="0"/>
                <a:ea typeface="Aptos" pitchFamily="34" charset="-122"/>
                <a:cs typeface="Aptos" pitchFamily="34" charset="-120"/>
              </a:rPr>
              <a:t>Named approver; written reason to override; weekly review</a:t>
            </a:r>
            <a:endParaRPr lang="en-US" sz="1300" dirty="0"/>
          </a:p>
        </p:txBody>
      </p:sp>
      <p:sp>
        <p:nvSpPr>
          <p:cNvPr id="14" name="Shape 12"/>
          <p:cNvSpPr/>
          <p:nvPr/>
        </p:nvSpPr>
        <p:spPr>
          <a:xfrm>
            <a:off x="8092440" y="2057400"/>
            <a:ext cx="3474720" cy="1828800"/>
          </a:xfrm>
          <a:prstGeom prst="roundRect">
            <a:avLst>
              <a:gd name="adj" fmla="val 4000"/>
            </a:avLst>
          </a:prstGeom>
          <a:solidFill>
            <a:srgbClr val="11263B"/>
          </a:solidFill>
          <a:ln w="12700">
            <a:solidFill>
              <a:srgbClr val="28536B"/>
            </a:solidFill>
            <a:prstDash val="solid"/>
          </a:ln>
        </p:spPr>
      </p:sp>
      <p:sp>
        <p:nvSpPr>
          <p:cNvPr id="15" name="Text 13"/>
          <p:cNvSpPr txBox="1"/>
          <p:nvPr/>
        </p:nvSpPr>
        <p:spPr>
          <a:xfrm>
            <a:off x="8321040" y="2167128"/>
            <a:ext cx="3017520" cy="32004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LLM errors on legal rights</a:t>
            </a:r>
            <a:endParaRPr lang="en-US" sz="1500" dirty="0"/>
          </a:p>
        </p:txBody>
      </p:sp>
      <p:sp>
        <p:nvSpPr>
          <p:cNvPr id="16" name="Text 14"/>
          <p:cNvSpPr txBox="1"/>
          <p:nvPr/>
        </p:nvSpPr>
        <p:spPr>
          <a:xfrm>
            <a:off x="8321040" y="2532888"/>
            <a:ext cx="3017520" cy="502920"/>
          </a:xfrm>
          <a:prstGeom prst="rect">
            <a:avLst/>
          </a:prstGeom>
          <a:noFill/>
          <a:ln/>
        </p:spPr>
        <p:txBody>
          <a:bodyPr wrap="square" lIns="0" tIns="0" rIns="0" bIns="0" rtlCol="0" anchor="t"/>
          <a:lstStyle/>
          <a:p>
            <a:pPr indent="0" marL="0">
              <a:buNone/>
            </a:pPr>
            <a:r>
              <a:rPr lang="en-US" sz="1300" dirty="0">
                <a:solidFill>
                  <a:srgbClr val="F2B84B"/>
                </a:solidFill>
                <a:latin typeface="Aptos" pitchFamily="34" charset="0"/>
                <a:ea typeface="Aptos" pitchFamily="34" charset="-122"/>
                <a:cs typeface="Aptos" pitchFamily="34" charset="-120"/>
              </a:rPr>
              <a:t>Confident but wrong claims about compensation</a:t>
            </a:r>
            <a:endParaRPr lang="en-US" sz="1300" dirty="0"/>
          </a:p>
        </p:txBody>
      </p:sp>
      <p:sp>
        <p:nvSpPr>
          <p:cNvPr id="17" name="Text 15"/>
          <p:cNvSpPr txBox="1"/>
          <p:nvPr/>
        </p:nvSpPr>
        <p:spPr>
          <a:xfrm>
            <a:off x="8321040" y="3063240"/>
            <a:ext cx="3017520" cy="731520"/>
          </a:xfrm>
          <a:prstGeom prst="rect">
            <a:avLst/>
          </a:prstGeom>
          <a:noFill/>
          <a:ln/>
        </p:spPr>
        <p:txBody>
          <a:bodyPr wrap="square" lIns="0" tIns="0" rIns="0" bIns="0" rtlCol="0" anchor="t"/>
          <a:lstStyle/>
          <a:p>
            <a:pPr indent="0" marL="0">
              <a:buNone/>
            </a:pPr>
            <a:r>
              <a:rPr lang="en-US" sz="1300" dirty="0">
                <a:solidFill>
                  <a:srgbClr val="F4F8FC"/>
                </a:solidFill>
                <a:latin typeface="Aptos" pitchFamily="34" charset="0"/>
                <a:ea typeface="Aptos" pitchFamily="34" charset="-122"/>
                <a:cs typeface="Aptos" pitchFamily="34" charset="-120"/>
              </a:rPr>
              <a:t>LLM may only use retrieved text and our numbers, with citations</a:t>
            </a:r>
            <a:endParaRPr lang="en-US" sz="1300" dirty="0"/>
          </a:p>
        </p:txBody>
      </p:sp>
      <p:sp>
        <p:nvSpPr>
          <p:cNvPr id="18" name="Shape 16"/>
          <p:cNvSpPr/>
          <p:nvPr/>
        </p:nvSpPr>
        <p:spPr>
          <a:xfrm>
            <a:off x="594360" y="4069080"/>
            <a:ext cx="3474720" cy="1828800"/>
          </a:xfrm>
          <a:prstGeom prst="roundRect">
            <a:avLst>
              <a:gd name="adj" fmla="val 4000"/>
            </a:avLst>
          </a:prstGeom>
          <a:solidFill>
            <a:srgbClr val="11263B"/>
          </a:solidFill>
          <a:ln w="12700">
            <a:solidFill>
              <a:srgbClr val="28536B"/>
            </a:solidFill>
            <a:prstDash val="solid"/>
          </a:ln>
        </p:spPr>
      </p:sp>
      <p:sp>
        <p:nvSpPr>
          <p:cNvPr id="19" name="Text 17"/>
          <p:cNvSpPr txBox="1"/>
          <p:nvPr/>
        </p:nvSpPr>
        <p:spPr>
          <a:xfrm>
            <a:off x="822960" y="4178808"/>
            <a:ext cx="3017520" cy="32004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Privacy</a:t>
            </a:r>
            <a:endParaRPr lang="en-US" sz="1500" dirty="0"/>
          </a:p>
        </p:txBody>
      </p:sp>
      <p:sp>
        <p:nvSpPr>
          <p:cNvPr id="20" name="Text 18"/>
          <p:cNvSpPr txBox="1"/>
          <p:nvPr/>
        </p:nvSpPr>
        <p:spPr>
          <a:xfrm>
            <a:off x="822960" y="4544568"/>
            <a:ext cx="3017520" cy="502920"/>
          </a:xfrm>
          <a:prstGeom prst="rect">
            <a:avLst/>
          </a:prstGeom>
          <a:noFill/>
          <a:ln/>
        </p:spPr>
        <p:txBody>
          <a:bodyPr wrap="square" lIns="0" tIns="0" rIns="0" bIns="0" rtlCol="0" anchor="t"/>
          <a:lstStyle/>
          <a:p>
            <a:pPr indent="0" marL="0">
              <a:buNone/>
            </a:pPr>
            <a:r>
              <a:rPr lang="en-US" sz="1300" dirty="0">
                <a:solidFill>
                  <a:srgbClr val="F2B84B"/>
                </a:solidFill>
                <a:latin typeface="Aptos" pitchFamily="34" charset="0"/>
                <a:ea typeface="Aptos" pitchFamily="34" charset="-122"/>
                <a:cs typeface="Aptos" pitchFamily="34" charset="-120"/>
              </a:rPr>
              <a:t>Itineraries are personal data</a:t>
            </a:r>
            <a:endParaRPr lang="en-US" sz="1300" dirty="0"/>
          </a:p>
        </p:txBody>
      </p:sp>
      <p:sp>
        <p:nvSpPr>
          <p:cNvPr id="21" name="Text 19"/>
          <p:cNvSpPr txBox="1"/>
          <p:nvPr/>
        </p:nvSpPr>
        <p:spPr>
          <a:xfrm>
            <a:off x="822960" y="5074920"/>
            <a:ext cx="3017520" cy="731520"/>
          </a:xfrm>
          <a:prstGeom prst="rect">
            <a:avLst/>
          </a:prstGeom>
          <a:noFill/>
          <a:ln/>
        </p:spPr>
        <p:txBody>
          <a:bodyPr wrap="square" lIns="0" tIns="0" rIns="0" bIns="0" rtlCol="0" anchor="t"/>
          <a:lstStyle/>
          <a:p>
            <a:pPr indent="0" marL="0">
              <a:buNone/>
            </a:pPr>
            <a:r>
              <a:rPr lang="en-US" sz="1300" dirty="0">
                <a:solidFill>
                  <a:srgbClr val="F4F8FC"/>
                </a:solidFill>
                <a:latin typeface="Aptos" pitchFamily="34" charset="0"/>
                <a:ea typeface="Aptos" pitchFamily="34" charset="-122"/>
                <a:cs typeface="Aptos" pitchFamily="34" charset="-120"/>
              </a:rPr>
              <a:t>Itinerary only: no names, no payment data; minimal retention</a:t>
            </a:r>
            <a:endParaRPr lang="en-US" sz="1300" dirty="0"/>
          </a:p>
        </p:txBody>
      </p:sp>
      <p:sp>
        <p:nvSpPr>
          <p:cNvPr id="22" name="Shape 20"/>
          <p:cNvSpPr/>
          <p:nvPr/>
        </p:nvSpPr>
        <p:spPr>
          <a:xfrm>
            <a:off x="4343400" y="4069080"/>
            <a:ext cx="3474720" cy="1828800"/>
          </a:xfrm>
          <a:prstGeom prst="roundRect">
            <a:avLst>
              <a:gd name="adj" fmla="val 4000"/>
            </a:avLst>
          </a:prstGeom>
          <a:solidFill>
            <a:srgbClr val="11263B"/>
          </a:solidFill>
          <a:ln w="12700">
            <a:solidFill>
              <a:srgbClr val="28536B"/>
            </a:solidFill>
            <a:prstDash val="solid"/>
          </a:ln>
        </p:spPr>
      </p:sp>
      <p:sp>
        <p:nvSpPr>
          <p:cNvPr id="23" name="Text 21"/>
          <p:cNvSpPr txBox="1"/>
          <p:nvPr/>
        </p:nvSpPr>
        <p:spPr>
          <a:xfrm>
            <a:off x="4572000" y="4178808"/>
            <a:ext cx="3017520" cy="32004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Hidden risk shifting</a:t>
            </a:r>
            <a:endParaRPr lang="en-US" sz="1500" dirty="0"/>
          </a:p>
        </p:txBody>
      </p:sp>
      <p:sp>
        <p:nvSpPr>
          <p:cNvPr id="24" name="Text 22"/>
          <p:cNvSpPr txBox="1"/>
          <p:nvPr/>
        </p:nvSpPr>
        <p:spPr>
          <a:xfrm>
            <a:off x="4572000" y="4544568"/>
            <a:ext cx="3017520" cy="502920"/>
          </a:xfrm>
          <a:prstGeom prst="rect">
            <a:avLst/>
          </a:prstGeom>
          <a:noFill/>
          <a:ln/>
        </p:spPr>
        <p:txBody>
          <a:bodyPr wrap="square" lIns="0" tIns="0" rIns="0" bIns="0" rtlCol="0" anchor="t"/>
          <a:lstStyle/>
          <a:p>
            <a:pPr indent="0" marL="0">
              <a:buNone/>
            </a:pPr>
            <a:r>
              <a:rPr lang="en-US" sz="1300" dirty="0">
                <a:solidFill>
                  <a:srgbClr val="F2B84B"/>
                </a:solidFill>
                <a:latin typeface="Aptos" pitchFamily="34" charset="0"/>
                <a:ea typeface="Aptos" pitchFamily="34" charset="-122"/>
                <a:cs typeface="Aptos" pitchFamily="34" charset="-120"/>
              </a:rPr>
              <a:t>Separate tickets leave the traveller unprotected</a:t>
            </a:r>
            <a:endParaRPr lang="en-US" sz="1300" dirty="0"/>
          </a:p>
        </p:txBody>
      </p:sp>
      <p:sp>
        <p:nvSpPr>
          <p:cNvPr id="25" name="Text 23"/>
          <p:cNvSpPr txBox="1"/>
          <p:nvPr/>
        </p:nvSpPr>
        <p:spPr>
          <a:xfrm>
            <a:off x="4572000" y="5074920"/>
            <a:ext cx="3017520" cy="731520"/>
          </a:xfrm>
          <a:prstGeom prst="rect">
            <a:avLst/>
          </a:prstGeom>
          <a:noFill/>
          <a:ln/>
        </p:spPr>
        <p:txBody>
          <a:bodyPr wrap="square" lIns="0" tIns="0" rIns="0" bIns="0" rtlCol="0" anchor="t"/>
          <a:lstStyle/>
          <a:p>
            <a:pPr indent="0" marL="0">
              <a:buNone/>
            </a:pPr>
            <a:r>
              <a:rPr lang="en-US" sz="1300" dirty="0">
                <a:solidFill>
                  <a:srgbClr val="F4F8FC"/>
                </a:solidFill>
                <a:latin typeface="Aptos" pitchFamily="34" charset="0"/>
                <a:ea typeface="Aptos" pitchFamily="34" charset="-122"/>
                <a:cs typeface="Aptos" pitchFamily="34" charset="-120"/>
              </a:rPr>
              <a:t>Such options are labelled; bag re-check time added</a:t>
            </a:r>
            <a:endParaRPr lang="en-US" sz="1300" dirty="0"/>
          </a:p>
        </p:txBody>
      </p:sp>
      <p:sp>
        <p:nvSpPr>
          <p:cNvPr id="26" name="Shape 24"/>
          <p:cNvSpPr/>
          <p:nvPr/>
        </p:nvSpPr>
        <p:spPr>
          <a:xfrm>
            <a:off x="8092440" y="4069080"/>
            <a:ext cx="3474720" cy="1828800"/>
          </a:xfrm>
          <a:prstGeom prst="roundRect">
            <a:avLst>
              <a:gd name="adj" fmla="val 4000"/>
            </a:avLst>
          </a:prstGeom>
          <a:solidFill>
            <a:srgbClr val="11263B"/>
          </a:solidFill>
          <a:ln w="12700">
            <a:solidFill>
              <a:srgbClr val="28536B"/>
            </a:solidFill>
            <a:prstDash val="solid"/>
          </a:ln>
        </p:spPr>
      </p:sp>
      <p:sp>
        <p:nvSpPr>
          <p:cNvPr id="27" name="Text 25"/>
          <p:cNvSpPr txBox="1"/>
          <p:nvPr/>
        </p:nvSpPr>
        <p:spPr>
          <a:xfrm>
            <a:off x="8321040" y="4178808"/>
            <a:ext cx="3017520" cy="32004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Model limits</a:t>
            </a:r>
            <a:endParaRPr lang="en-US" sz="1500" dirty="0"/>
          </a:p>
        </p:txBody>
      </p:sp>
      <p:sp>
        <p:nvSpPr>
          <p:cNvPr id="28" name="Text 26"/>
          <p:cNvSpPr txBox="1"/>
          <p:nvPr/>
        </p:nvSpPr>
        <p:spPr>
          <a:xfrm>
            <a:off x="8321040" y="4544568"/>
            <a:ext cx="3017520" cy="502920"/>
          </a:xfrm>
          <a:prstGeom prst="rect">
            <a:avLst/>
          </a:prstGeom>
          <a:noFill/>
          <a:ln/>
        </p:spPr>
        <p:txBody>
          <a:bodyPr wrap="square" lIns="0" tIns="0" rIns="0" bIns="0" rtlCol="0" anchor="t"/>
          <a:lstStyle/>
          <a:p>
            <a:pPr indent="0" marL="0">
              <a:buNone/>
            </a:pPr>
            <a:r>
              <a:rPr lang="en-US" sz="1300" dirty="0">
                <a:solidFill>
                  <a:srgbClr val="F2B84B"/>
                </a:solidFill>
                <a:latin typeface="Aptos" pitchFamily="34" charset="0"/>
                <a:ea typeface="Aptos" pitchFamily="34" charset="-122"/>
                <a:cs typeface="Aptos" pitchFamily="34" charset="-120"/>
              </a:rPr>
              <a:t>U.S.-trained model used in Europe</a:t>
            </a:r>
            <a:endParaRPr lang="en-US" sz="1300" dirty="0"/>
          </a:p>
        </p:txBody>
      </p:sp>
      <p:sp>
        <p:nvSpPr>
          <p:cNvPr id="29" name="Text 27"/>
          <p:cNvSpPr txBox="1"/>
          <p:nvPr/>
        </p:nvSpPr>
        <p:spPr>
          <a:xfrm>
            <a:off x="8321040" y="5074920"/>
            <a:ext cx="3017520" cy="731520"/>
          </a:xfrm>
          <a:prstGeom prst="rect">
            <a:avLst/>
          </a:prstGeom>
          <a:noFill/>
          <a:ln/>
        </p:spPr>
        <p:txBody>
          <a:bodyPr wrap="square" lIns="0" tIns="0" rIns="0" bIns="0" rtlCol="0" anchor="t"/>
          <a:lstStyle/>
          <a:p>
            <a:pPr indent="0" marL="0">
              <a:buNone/>
            </a:pPr>
            <a:r>
              <a:rPr lang="en-US" sz="1300" dirty="0">
                <a:solidFill>
                  <a:srgbClr val="F4F8FC"/>
                </a:solidFill>
                <a:latin typeface="Aptos" pitchFamily="34" charset="0"/>
                <a:ea typeface="Aptos" pitchFamily="34" charset="-122"/>
                <a:cs typeface="Aptos" pitchFamily="34" charset="-120"/>
              </a:rPr>
              <a:t>Stated domain shift; U.S. backtest; show uncertainty, not one number</a:t>
            </a:r>
            <a:endParaRPr lang="en-US" sz="1300" dirty="0"/>
          </a:p>
        </p:txBody>
      </p:sp>
      <p:sp>
        <p:nvSpPr>
          <p:cNvPr id="30" name="Text 28"/>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Q&amp;A: 3 minutes  •  Main uncertainty: timetable data and booking rights</a:t>
            </a:r>
            <a:endParaRPr lang="en-US" sz="1100" dirty="0"/>
          </a:p>
        </p:txBody>
      </p:sp>
      <p:sp>
        <p:nvSpPr>
          <p:cNvPr id="31" name="Text 29"/>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13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ReRouteAI - project proposal</dc:title>
  <dc:subject>PptxGenJS Presentation</dc:subject>
  <dc:creator>PptxGenJS</dc:creator>
  <cp:lastModifiedBy>PptxGenJS</cp:lastModifiedBy>
  <cp:revision>1</cp:revision>
  <dcterms:created xsi:type="dcterms:W3CDTF">2026-09-26T09:38:45Z</dcterms:created>
  <dcterms:modified xsi:type="dcterms:W3CDTF">2026-09-26T09:38:45Z</dcterms:modified>
</cp:coreProperties>
</file>